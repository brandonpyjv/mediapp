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0"/>
  </p:notesMasterIdLst>
  <p:sldIdLst>
    <p:sldId id="293" r:id="rId2"/>
    <p:sldId id="269" r:id="rId3"/>
    <p:sldId id="259" r:id="rId4"/>
    <p:sldId id="298" r:id="rId5"/>
    <p:sldId id="299" r:id="rId6"/>
    <p:sldId id="289" r:id="rId7"/>
    <p:sldId id="312" r:id="rId8"/>
    <p:sldId id="313" r:id="rId9"/>
    <p:sldId id="314" r:id="rId10"/>
    <p:sldId id="315" r:id="rId11"/>
    <p:sldId id="294" r:id="rId12"/>
    <p:sldId id="316" r:id="rId13"/>
    <p:sldId id="317" r:id="rId14"/>
    <p:sldId id="318" r:id="rId15"/>
    <p:sldId id="322" r:id="rId16"/>
    <p:sldId id="323" r:id="rId17"/>
    <p:sldId id="324" r:id="rId18"/>
    <p:sldId id="325" r:id="rId19"/>
    <p:sldId id="326" r:id="rId20"/>
    <p:sldId id="295" r:id="rId21"/>
    <p:sldId id="306" r:id="rId22"/>
    <p:sldId id="307" r:id="rId23"/>
    <p:sldId id="331" r:id="rId24"/>
    <p:sldId id="337" r:id="rId25"/>
    <p:sldId id="332" r:id="rId26"/>
    <p:sldId id="327" r:id="rId27"/>
    <p:sldId id="328" r:id="rId28"/>
    <p:sldId id="300" r:id="rId29"/>
    <p:sldId id="296" r:id="rId30"/>
    <p:sldId id="311" r:id="rId31"/>
    <p:sldId id="308" r:id="rId32"/>
    <p:sldId id="297" r:id="rId33"/>
    <p:sldId id="329" r:id="rId34"/>
    <p:sldId id="330" r:id="rId35"/>
    <p:sldId id="333" r:id="rId36"/>
    <p:sldId id="334" r:id="rId37"/>
    <p:sldId id="335" r:id="rId38"/>
    <p:sldId id="287" r:id="rId39"/>
  </p:sldIdLst>
  <p:sldSz cx="12192000" cy="6858000"/>
  <p:notesSz cx="6858000" cy="9144000"/>
  <p:embeddedFontLst>
    <p:embeddedFont>
      <p:font typeface="Calibri" panose="020F0502020204030204" pitchFamily="34" charset="0"/>
      <p:regular r:id="rId41"/>
      <p:bold r:id="rId42"/>
      <p:italic r:id="rId43"/>
      <p:boldItalic r:id="rId44"/>
    </p:embeddedFont>
    <p:embeddedFont>
      <p:font typeface="Inter" panose="020B0604020202020204" charset="0"/>
      <p:regular r:id="rId45"/>
      <p:bold r:id="rId46"/>
      <p:italic r:id="rId47"/>
      <p:boldItalic r:id="rId48"/>
    </p:embeddedFont>
    <p:embeddedFont>
      <p:font typeface="Plus Jakarta Sans" panose="020B0604020202020204" charset="0"/>
      <p:regular r:id="rId49"/>
      <p:bold r:id="rId50"/>
      <p:italic r:id="rId51"/>
      <p:boldItalic r:id="rId52"/>
    </p:embeddedFont>
    <p:embeddedFont>
      <p:font typeface="Plus Jakarta Sans ExtraBold" panose="020B0604020202020204" charset="0"/>
      <p:bold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95">
          <p15:clr>
            <a:srgbClr val="A4A3A4"/>
          </p15:clr>
        </p15:guide>
        <p15:guide id="2" pos="3840">
          <p15:clr>
            <a:srgbClr val="A4A3A4"/>
          </p15:clr>
        </p15:guide>
        <p15:guide id="3" orient="horz" pos="187">
          <p15:clr>
            <a:srgbClr val="A4A3A4"/>
          </p15:clr>
        </p15:guide>
        <p15:guide id="4" pos="438">
          <p15:clr>
            <a:srgbClr val="A4A3A4"/>
          </p15:clr>
        </p15:guide>
        <p15:guide id="5" orient="horz" pos="2387">
          <p15:clr>
            <a:srgbClr val="A4A3A4"/>
          </p15:clr>
        </p15:guide>
        <p15:guide id="6" orient="horz" pos="2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iuq0NguNk5LHHA5FwT6FGEpdEK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57BCAD3-15E7-4015-9B5F-DF1D467188F8}">
  <a:tblStyle styleId="{457BCAD3-15E7-4015-9B5F-DF1D467188F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E7"/>
          </a:solidFill>
        </a:fill>
      </a:tcStyle>
    </a:wholeTbl>
    <a:band1H>
      <a:tcTxStyle/>
      <a:tcStyle>
        <a:tcBdr/>
        <a:fill>
          <a:solidFill>
            <a:srgbClr val="CAD5CC"/>
          </a:solidFill>
        </a:fill>
      </a:tcStyle>
    </a:band1H>
    <a:band2H>
      <a:tcTxStyle/>
      <a:tcStyle>
        <a:tcBdr/>
      </a:tcStyle>
    </a:band2H>
    <a:band1V>
      <a:tcTxStyle/>
      <a:tcStyle>
        <a:tcBdr/>
        <a:fill>
          <a:solidFill>
            <a:srgbClr val="CAD5CC"/>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09" autoAdjust="0"/>
    <p:restoredTop sz="94660"/>
  </p:normalViewPr>
  <p:slideViewPr>
    <p:cSldViewPr snapToGrid="0">
      <p:cViewPr varScale="1">
        <p:scale>
          <a:sx n="56" d="100"/>
          <a:sy n="56" d="100"/>
        </p:scale>
        <p:origin x="72" y="1194"/>
      </p:cViewPr>
      <p:guideLst>
        <p:guide orient="horz" pos="595"/>
        <p:guide pos="3840"/>
        <p:guide orient="horz" pos="187"/>
        <p:guide pos="438"/>
        <p:guide orient="horz" pos="2387"/>
        <p:guide orient="horz" pos="2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font" Target="fonts/font1.fntdata"/><Relationship Id="rId42" Type="http://schemas.openxmlformats.org/officeDocument/2006/relationships/font" Target="fonts/font2.fntdata"/><Relationship Id="rId43" Type="http://schemas.openxmlformats.org/officeDocument/2006/relationships/font" Target="fonts/font3.fntdata"/><Relationship Id="rId44" Type="http://schemas.openxmlformats.org/officeDocument/2006/relationships/font" Target="fonts/font4.fntdata"/><Relationship Id="rId45" Type="http://schemas.openxmlformats.org/officeDocument/2006/relationships/font" Target="fonts/font5.fntdata"/><Relationship Id="rId46" Type="http://schemas.openxmlformats.org/officeDocument/2006/relationships/font" Target="fonts/font6.fntdata"/><Relationship Id="rId47" Type="http://schemas.openxmlformats.org/officeDocument/2006/relationships/font" Target="fonts/font7.fntdata"/><Relationship Id="rId48" Type="http://schemas.openxmlformats.org/officeDocument/2006/relationships/font" Target="fonts/font8.fntdata"/><Relationship Id="rId49" Type="http://schemas.openxmlformats.org/officeDocument/2006/relationships/font" Target="fonts/font9.fntdata"/><Relationship Id="rId50" Type="http://schemas.openxmlformats.org/officeDocument/2006/relationships/font" Target="fonts/font10.fntdata"/><Relationship Id="rId51" Type="http://schemas.openxmlformats.org/officeDocument/2006/relationships/font" Target="fonts/font11.fntdata"/><Relationship Id="rId52" Type="http://schemas.openxmlformats.org/officeDocument/2006/relationships/font" Target="fonts/font12.fntdata"/><Relationship Id="rId53" Type="http://schemas.openxmlformats.org/officeDocument/2006/relationships/font" Target="fonts/font13.fntdata"/><Relationship Id="rId54" Type="http://schemas.openxmlformats.org/officeDocument/2006/relationships/font" Target="fonts/font14.fntdata"/><Relationship Id="rId58" Type="http://customschemas.google.com/relationships/presentationmetadata" Target="metadata"/><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CO"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5599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8869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5867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5435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8933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1473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7023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375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0814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4534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5723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2259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0330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8708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1608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1390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4402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97136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16358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26276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8054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6273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07743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69908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19948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93372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93096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8006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71580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77444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36108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54433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3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7"/>
        <p:cNvGrpSpPr/>
        <p:nvPr/>
      </p:nvGrpSpPr>
      <p:grpSpPr>
        <a:xfrm>
          <a:off x="0" y="0"/>
          <a:ext cx="0" cy="0"/>
          <a:chOff x="0" y="0"/>
          <a:chExt cx="0" cy="0"/>
        </a:xfrm>
      </p:grpSpPr>
      <p:sp>
        <p:nvSpPr>
          <p:cNvPr id="28" name="Google Shape;28;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5"/>
        <p:cNvGrpSpPr/>
        <p:nvPr/>
      </p:nvGrpSpPr>
      <p:grpSpPr>
        <a:xfrm>
          <a:off x="0" y="0"/>
          <a:ext cx="0" cy="0"/>
          <a:chOff x="0" y="0"/>
          <a:chExt cx="0" cy="0"/>
        </a:xfrm>
      </p:grpSpPr>
      <p:sp>
        <p:nvSpPr>
          <p:cNvPr id="46" name="Google Shape;46;p3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EC388"/>
              </a:buClr>
              <a:buSzPts val="2400"/>
              <a:buNone/>
              <a:defRPr sz="2400">
                <a:solidFill>
                  <a:srgbClr val="8EC388"/>
                </a:solidFill>
              </a:defRPr>
            </a:lvl1pPr>
            <a:lvl2pPr marL="914400" lvl="1" indent="-228600" algn="l">
              <a:lnSpc>
                <a:spcPct val="90000"/>
              </a:lnSpc>
              <a:spcBef>
                <a:spcPts val="500"/>
              </a:spcBef>
              <a:spcAft>
                <a:spcPts val="0"/>
              </a:spcAft>
              <a:buClr>
                <a:srgbClr val="8EC388"/>
              </a:buClr>
              <a:buSzPts val="2000"/>
              <a:buNone/>
              <a:defRPr sz="2000">
                <a:solidFill>
                  <a:srgbClr val="8EC388"/>
                </a:solidFill>
              </a:defRPr>
            </a:lvl2pPr>
            <a:lvl3pPr marL="1371600" lvl="2" indent="-228600" algn="l">
              <a:lnSpc>
                <a:spcPct val="90000"/>
              </a:lnSpc>
              <a:spcBef>
                <a:spcPts val="500"/>
              </a:spcBef>
              <a:spcAft>
                <a:spcPts val="0"/>
              </a:spcAft>
              <a:buClr>
                <a:srgbClr val="8EC388"/>
              </a:buClr>
              <a:buSzPts val="1800"/>
              <a:buNone/>
              <a:defRPr sz="1800">
                <a:solidFill>
                  <a:srgbClr val="8EC388"/>
                </a:solidFill>
              </a:defRPr>
            </a:lvl3pPr>
            <a:lvl4pPr marL="1828800" lvl="3" indent="-228600" algn="l">
              <a:lnSpc>
                <a:spcPct val="90000"/>
              </a:lnSpc>
              <a:spcBef>
                <a:spcPts val="500"/>
              </a:spcBef>
              <a:spcAft>
                <a:spcPts val="0"/>
              </a:spcAft>
              <a:buClr>
                <a:srgbClr val="8EC388"/>
              </a:buClr>
              <a:buSzPts val="1600"/>
              <a:buNone/>
              <a:defRPr sz="1600">
                <a:solidFill>
                  <a:srgbClr val="8EC388"/>
                </a:solidFill>
              </a:defRPr>
            </a:lvl4pPr>
            <a:lvl5pPr marL="2286000" lvl="4" indent="-228600" algn="l">
              <a:lnSpc>
                <a:spcPct val="90000"/>
              </a:lnSpc>
              <a:spcBef>
                <a:spcPts val="500"/>
              </a:spcBef>
              <a:spcAft>
                <a:spcPts val="0"/>
              </a:spcAft>
              <a:buClr>
                <a:srgbClr val="8EC388"/>
              </a:buClr>
              <a:buSzPts val="1600"/>
              <a:buNone/>
              <a:defRPr sz="1600">
                <a:solidFill>
                  <a:srgbClr val="8EC388"/>
                </a:solidFill>
              </a:defRPr>
            </a:lvl5pPr>
            <a:lvl6pPr marL="2743200" lvl="5" indent="-228600" algn="l">
              <a:lnSpc>
                <a:spcPct val="90000"/>
              </a:lnSpc>
              <a:spcBef>
                <a:spcPts val="500"/>
              </a:spcBef>
              <a:spcAft>
                <a:spcPts val="0"/>
              </a:spcAft>
              <a:buClr>
                <a:srgbClr val="8EC388"/>
              </a:buClr>
              <a:buSzPts val="1600"/>
              <a:buNone/>
              <a:defRPr sz="1600">
                <a:solidFill>
                  <a:srgbClr val="8EC388"/>
                </a:solidFill>
              </a:defRPr>
            </a:lvl6pPr>
            <a:lvl7pPr marL="3200400" lvl="6" indent="-228600" algn="l">
              <a:lnSpc>
                <a:spcPct val="90000"/>
              </a:lnSpc>
              <a:spcBef>
                <a:spcPts val="500"/>
              </a:spcBef>
              <a:spcAft>
                <a:spcPts val="0"/>
              </a:spcAft>
              <a:buClr>
                <a:srgbClr val="8EC388"/>
              </a:buClr>
              <a:buSzPts val="1600"/>
              <a:buNone/>
              <a:defRPr sz="1600">
                <a:solidFill>
                  <a:srgbClr val="8EC388"/>
                </a:solidFill>
              </a:defRPr>
            </a:lvl7pPr>
            <a:lvl8pPr marL="3657600" lvl="7" indent="-228600" algn="l">
              <a:lnSpc>
                <a:spcPct val="90000"/>
              </a:lnSpc>
              <a:spcBef>
                <a:spcPts val="500"/>
              </a:spcBef>
              <a:spcAft>
                <a:spcPts val="0"/>
              </a:spcAft>
              <a:buClr>
                <a:srgbClr val="8EC388"/>
              </a:buClr>
              <a:buSzPts val="1600"/>
              <a:buNone/>
              <a:defRPr sz="1600">
                <a:solidFill>
                  <a:srgbClr val="8EC388"/>
                </a:solidFill>
              </a:defRPr>
            </a:lvl8pPr>
            <a:lvl9pPr marL="4114800" lvl="8" indent="-228600" algn="l">
              <a:lnSpc>
                <a:spcPct val="90000"/>
              </a:lnSpc>
              <a:spcBef>
                <a:spcPts val="500"/>
              </a:spcBef>
              <a:spcAft>
                <a:spcPts val="0"/>
              </a:spcAft>
              <a:buClr>
                <a:srgbClr val="8EC388"/>
              </a:buClr>
              <a:buSzPts val="1600"/>
              <a:buNone/>
              <a:defRPr sz="1600">
                <a:solidFill>
                  <a:srgbClr val="8EC388"/>
                </a:solidFill>
              </a:defRPr>
            </a:lvl9pPr>
          </a:lstStyle>
          <a:p>
            <a:endParaRPr/>
          </a:p>
        </p:txBody>
      </p:sp>
      <p:sp>
        <p:nvSpPr>
          <p:cNvPr id="48" name="Google Shape;48;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1"/>
        <p:cNvGrpSpPr/>
        <p:nvPr/>
      </p:nvGrpSpPr>
      <p:grpSpPr>
        <a:xfrm>
          <a:off x="0" y="0"/>
          <a:ext cx="0" cy="0"/>
          <a:chOff x="0" y="0"/>
          <a:chExt cx="0" cy="0"/>
        </a:xfrm>
      </p:grpSpPr>
      <p:sp>
        <p:nvSpPr>
          <p:cNvPr id="52" name="Google Shape;52;p4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4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4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4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4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0"/>
        <p:cNvGrpSpPr/>
        <p:nvPr/>
      </p:nvGrpSpPr>
      <p:grpSpPr>
        <a:xfrm>
          <a:off x="0" y="0"/>
          <a:ext cx="0" cy="0"/>
          <a:chOff x="0" y="0"/>
          <a:chExt cx="0" cy="0"/>
        </a:xfrm>
      </p:grpSpPr>
      <p:sp>
        <p:nvSpPr>
          <p:cNvPr id="61" name="Google Shape;61;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4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2"/>
          <p:cNvSpPr>
            <a:spLocks noGrp="1"/>
          </p:cNvSpPr>
          <p:nvPr>
            <p:ph type="pic" idx="2"/>
          </p:nvPr>
        </p:nvSpPr>
        <p:spPr>
          <a:xfrm>
            <a:off x="5183188" y="987425"/>
            <a:ext cx="6172200" cy="4873625"/>
          </a:xfrm>
          <a:prstGeom prst="rect">
            <a:avLst/>
          </a:prstGeom>
          <a:noFill/>
          <a:ln>
            <a:noFill/>
          </a:ln>
        </p:spPr>
      </p:sp>
      <p:sp>
        <p:nvSpPr>
          <p:cNvPr id="68" name="Google Shape;68;p4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4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84"/>
        <p:cNvGrpSpPr/>
        <p:nvPr/>
      </p:nvGrpSpPr>
      <p:grpSpPr>
        <a:xfrm>
          <a:off x="0" y="0"/>
          <a:ext cx="0" cy="0"/>
          <a:chOff x="0" y="0"/>
          <a:chExt cx="0" cy="0"/>
        </a:xfrm>
      </p:grpSpPr>
      <p:sp>
        <p:nvSpPr>
          <p:cNvPr id="85" name="Google Shape;85;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EC3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EC3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EC388"/>
                </a:solidFill>
                <a:latin typeface="Calibri"/>
                <a:ea typeface="Calibri"/>
                <a:cs typeface="Calibri"/>
                <a:sym typeface="Calibri"/>
              </a:defRPr>
            </a:lvl1pPr>
            <a:lvl2pPr marL="0" marR="0" lvl="1" indent="0" algn="r" rtl="0">
              <a:spcBef>
                <a:spcPts val="0"/>
              </a:spcBef>
              <a:buNone/>
              <a:defRPr sz="1200" b="0" i="0" u="none" strike="noStrike" cap="none">
                <a:solidFill>
                  <a:srgbClr val="8EC388"/>
                </a:solidFill>
                <a:latin typeface="Calibri"/>
                <a:ea typeface="Calibri"/>
                <a:cs typeface="Calibri"/>
                <a:sym typeface="Calibri"/>
              </a:defRPr>
            </a:lvl2pPr>
            <a:lvl3pPr marL="0" marR="0" lvl="2" indent="0" algn="r" rtl="0">
              <a:spcBef>
                <a:spcPts val="0"/>
              </a:spcBef>
              <a:buNone/>
              <a:defRPr sz="1200" b="0" i="0" u="none" strike="noStrike" cap="none">
                <a:solidFill>
                  <a:srgbClr val="8EC388"/>
                </a:solidFill>
                <a:latin typeface="Calibri"/>
                <a:ea typeface="Calibri"/>
                <a:cs typeface="Calibri"/>
                <a:sym typeface="Calibri"/>
              </a:defRPr>
            </a:lvl3pPr>
            <a:lvl4pPr marL="0" marR="0" lvl="3" indent="0" algn="r" rtl="0">
              <a:spcBef>
                <a:spcPts val="0"/>
              </a:spcBef>
              <a:buNone/>
              <a:defRPr sz="1200" b="0" i="0" u="none" strike="noStrike" cap="none">
                <a:solidFill>
                  <a:srgbClr val="8EC388"/>
                </a:solidFill>
                <a:latin typeface="Calibri"/>
                <a:ea typeface="Calibri"/>
                <a:cs typeface="Calibri"/>
                <a:sym typeface="Calibri"/>
              </a:defRPr>
            </a:lvl4pPr>
            <a:lvl5pPr marL="0" marR="0" lvl="4" indent="0" algn="r" rtl="0">
              <a:spcBef>
                <a:spcPts val="0"/>
              </a:spcBef>
              <a:buNone/>
              <a:defRPr sz="1200" b="0" i="0" u="none" strike="noStrike" cap="none">
                <a:solidFill>
                  <a:srgbClr val="8EC388"/>
                </a:solidFill>
                <a:latin typeface="Calibri"/>
                <a:ea typeface="Calibri"/>
                <a:cs typeface="Calibri"/>
                <a:sym typeface="Calibri"/>
              </a:defRPr>
            </a:lvl5pPr>
            <a:lvl6pPr marL="0" marR="0" lvl="5" indent="0" algn="r" rtl="0">
              <a:spcBef>
                <a:spcPts val="0"/>
              </a:spcBef>
              <a:buNone/>
              <a:defRPr sz="1200" b="0" i="0" u="none" strike="noStrike" cap="none">
                <a:solidFill>
                  <a:srgbClr val="8EC388"/>
                </a:solidFill>
                <a:latin typeface="Calibri"/>
                <a:ea typeface="Calibri"/>
                <a:cs typeface="Calibri"/>
                <a:sym typeface="Calibri"/>
              </a:defRPr>
            </a:lvl6pPr>
            <a:lvl7pPr marL="0" marR="0" lvl="6" indent="0" algn="r" rtl="0">
              <a:spcBef>
                <a:spcPts val="0"/>
              </a:spcBef>
              <a:buNone/>
              <a:defRPr sz="1200" b="0" i="0" u="none" strike="noStrike" cap="none">
                <a:solidFill>
                  <a:srgbClr val="8EC388"/>
                </a:solidFill>
                <a:latin typeface="Calibri"/>
                <a:ea typeface="Calibri"/>
                <a:cs typeface="Calibri"/>
                <a:sym typeface="Calibri"/>
              </a:defRPr>
            </a:lvl7pPr>
            <a:lvl8pPr marL="0" marR="0" lvl="7" indent="0" algn="r" rtl="0">
              <a:spcBef>
                <a:spcPts val="0"/>
              </a:spcBef>
              <a:buNone/>
              <a:defRPr sz="1200" b="0" i="0" u="none" strike="noStrike" cap="none">
                <a:solidFill>
                  <a:srgbClr val="8EC388"/>
                </a:solidFill>
                <a:latin typeface="Calibri"/>
                <a:ea typeface="Calibri"/>
                <a:cs typeface="Calibri"/>
                <a:sym typeface="Calibri"/>
              </a:defRPr>
            </a:lvl8pPr>
            <a:lvl9pPr marL="0" marR="0" lvl="8" indent="0" algn="r" rtl="0">
              <a:spcBef>
                <a:spcPts val="0"/>
              </a:spcBef>
              <a:buNone/>
              <a:defRPr sz="1200" b="0" i="0" u="none" strike="noStrike" cap="none">
                <a:solidFill>
                  <a:srgbClr val="8EC3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4.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image" Target="../media/image4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9.png"/><Relationship Id="rId7"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4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1.png"/><Relationship Id="rId6" Type="http://schemas.openxmlformats.org/officeDocument/2006/relationships/image" Target="../media/image4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22.png"/><Relationship Id="rId7" Type="http://schemas.openxmlformats.org/officeDocument/2006/relationships/image" Target="../media/image4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23.png"/><Relationship Id="rId7" Type="http://schemas.openxmlformats.org/officeDocument/2006/relationships/image" Target="../media/image4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24.png"/><Relationship Id="rId7"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25.png"/><Relationship Id="rId7" Type="http://schemas.openxmlformats.org/officeDocument/2006/relationships/image" Target="../media/image5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52.jpg"/><Relationship Id="rId9" Type="http://schemas.openxmlformats.org/officeDocument/2006/relationships/image" Target="../media/image5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6.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54.jpg"/><Relationship Id="rId7" Type="http://schemas.openxmlformats.org/officeDocument/2006/relationships/image" Target="../media/image5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2"/>
        <p:cNvGrpSpPr/>
        <p:nvPr/>
      </p:nvGrpSpPr>
      <p:grpSpPr>
        <a:xfrm>
          <a:off x="0" y="0"/>
          <a:ext cx="0" cy="0"/>
          <a:chOff x="0" y="0"/>
          <a:chExt cx="0" cy="0"/>
        </a:xfrm>
      </p:grpSpPr>
      <p:pic>
        <p:nvPicPr>
          <p:cNvPr id="93" name="Google Shape;93;p1"/>
          <p:cNvPicPr preferRelativeResize="0"/>
          <p:nvPr/>
        </p:nvPicPr>
        <p:blipFill rotWithShape="1">
          <a:blip r:embed="rId4">
            <a:alphaModFix/>
          </a:blip>
          <a:srcRect l="24976" t="22927" r="24976" b="22927"/>
          <a:stretch/>
        </p:blipFill>
        <p:spPr>
          <a:xfrm>
            <a:off x="10424123" y="870486"/>
            <a:ext cx="923111" cy="908760"/>
          </a:xfrm>
          <a:prstGeom prst="rect">
            <a:avLst/>
          </a:prstGeom>
          <a:noFill/>
          <a:ln>
            <a:noFill/>
          </a:ln>
        </p:spPr>
      </p:pic>
      <p:sp>
        <p:nvSpPr>
          <p:cNvPr id="5" name="Subtítulo 4">
            <a:extLst>
              <a:ext uri="{FF2B5EF4-FFF2-40B4-BE49-F238E27FC236}">
                <a16:creationId xmlns:a16="http://schemas.microsoft.com/office/drawing/2014/main" id="{0D27D3C6-3047-48C6-E08D-1D2554CFC2F0}"/>
              </a:ext>
            </a:extLst>
          </p:cNvPr>
          <p:cNvSpPr>
            <a:spLocks noGrp="1"/>
          </p:cNvSpPr>
          <p:nvPr>
            <p:ph type="subTitle" idx="1"/>
          </p:nvPr>
        </p:nvSpPr>
        <p:spPr>
          <a:xfrm>
            <a:off x="4306443" y="3996267"/>
            <a:ext cx="3579112" cy="1915365"/>
          </a:xfrm>
        </p:spPr>
        <p:txBody>
          <a:bodyPr>
            <a:normAutofit fontScale="77500" lnSpcReduction="20000"/>
          </a:bodyPr>
          <a:lstStyle/>
          <a:p>
            <a:pPr algn="ctr"/>
            <a:r>
              <a:rPr sz="1600" b="1" dirty="0">
                <a:solidFill>
                  <a:srgbClr val="3369CD"/>
                </a:solidFill>
                <a:latin typeface="Arial"/>
              </a:rPr>
              <a:t>INTEGRANTES:</a:t>
            </a:r>
            <a:endParaRPr lang="es-CO" sz="1600" b="1" dirty="0">
              <a:solidFill>
                <a:srgbClr val="334155"/>
              </a:solidFill>
              <a:latin typeface="Inter"/>
              <a:cs typeface="Inter"/>
              <a:sym typeface="Arial"/>
            </a:endParaRPr>
          </a:p>
          <a:p>
            <a:pPr algn="ctr"/>
            <a:r>
              <a:rPr sz="1600" b="1" dirty="0">
                <a:solidFill>
                  <a:srgbClr val="3369CD"/>
                </a:solidFill>
                <a:latin typeface="Arial"/>
              </a:rPr>
              <a:t/>
            </a:r>
            <a:endParaRPr lang="es-CO" sz="1600" b="1" dirty="0">
              <a:solidFill>
                <a:srgbClr val="334155"/>
              </a:solidFill>
              <a:latin typeface="Inter"/>
              <a:cs typeface="Inter"/>
              <a:sym typeface="Arial"/>
            </a:endParaRPr>
          </a:p>
          <a:p>
            <a:pPr algn="ctr"/>
            <a:r>
              <a:rPr sz="1600" b="1" dirty="0">
                <a:solidFill>
                  <a:srgbClr val="1A1A1A"/>
                </a:solidFill>
                <a:latin typeface="Arial"/>
              </a:rPr>
              <a:t>ÁNGEL JESÚS HERNÁNDEZ ARÉVALO</a:t>
            </a:r>
          </a:p>
          <a:p>
            <a:pPr algn="ctr"/>
            <a:r>
              <a:rPr sz="1600" b="1" dirty="0">
                <a:solidFill>
                  <a:srgbClr val="1A1A1A"/>
                </a:solidFill>
                <a:latin typeface="Arial"/>
              </a:rPr>
              <a:t>RICHARD ALBERTO QUIÑONES QUIÑONES</a:t>
            </a:r>
          </a:p>
          <a:p>
            <a:pPr algn="ctr"/>
            <a:r>
              <a:rPr sz="1600" b="1" dirty="0">
                <a:solidFill>
                  <a:srgbClr val="1A1A1A"/>
                </a:solidFill>
                <a:latin typeface="Arial"/>
              </a:rPr>
              <a:t/>
            </a:r>
          </a:p>
          <a:p>
            <a:pPr algn="ctr"/>
            <a:r>
              <a:rPr sz="1600" b="1" dirty="0">
                <a:solidFill>
                  <a:srgbClr val="3369CD"/>
                </a:solidFill>
                <a:latin typeface="Arial"/>
              </a:rPr>
              <a:t/>
            </a:r>
            <a:endParaRPr sz="1600" b="1" dirty="0">
              <a:solidFill>
                <a:srgbClr val="33373D"/>
              </a:solidFill>
              <a:latin typeface="Arial"/>
            </a:endParaRPr>
          </a:p>
          <a:p>
            <a:pPr algn="ctr"/>
            <a:r>
              <a:rPr sz="1600" b="1" dirty="0" err="1">
                <a:solidFill>
                  <a:srgbClr val="1A1A1A"/>
                </a:solidFill>
                <a:latin typeface="Arial"/>
              </a:rPr>
              <a:t>Ficha 3115426</a:t>
            </a:r>
          </a:p>
        </p:txBody>
      </p:sp>
      <p:pic>
        <p:nvPicPr>
          <p:cNvPr id="3" name="Google Shape;90;p13" descr="image.png">
            <a:extLst>
              <a:ext uri="{FF2B5EF4-FFF2-40B4-BE49-F238E27FC236}">
                <a16:creationId xmlns:a16="http://schemas.microsoft.com/office/drawing/2014/main" id="{24B006EC-E35D-15B6-DB4E-F558902378F7}"/>
              </a:ext>
            </a:extLst>
          </p:cNvPr>
          <p:cNvPicPr preferRelativeResize="0"/>
          <p:nvPr/>
        </p:nvPicPr>
        <p:blipFill rotWithShape="1">
          <a:blip r:embed="rId5">
            <a:alphaModFix/>
          </a:blip>
          <a:srcRect/>
          <a:stretch/>
        </p:blipFill>
        <p:spPr>
          <a:xfrm>
            <a:off x="4998719" y="1044787"/>
            <a:ext cx="2194560" cy="2194560"/>
          </a:xfrm>
          <a:prstGeom prst="rect">
            <a:avLst/>
          </a:prstGeom>
          <a:noFill/>
          <a:ln>
            <a:noFill/>
          </a:ln>
        </p:spPr>
      </p:pic>
    </p:spTree>
    <p:extLst>
      <p:ext uri="{BB962C8B-B14F-4D97-AF65-F5344CB8AC3E}">
        <p14:creationId xmlns:p14="http://schemas.microsoft.com/office/powerpoint/2010/main" val="770859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2" name="Google Shape;84;p13" descr="image.png">
            <a:extLst>
              <a:ext uri="{FF2B5EF4-FFF2-40B4-BE49-F238E27FC236}">
                <a16:creationId xmlns:a16="http://schemas.microsoft.com/office/drawing/2014/main" id="{1D120AAC-3F32-0221-6CDC-92BF2903B211}"/>
              </a:ext>
            </a:extLst>
          </p:cNvPr>
          <p:cNvPicPr preferRelativeResize="0"/>
          <p:nvPr/>
        </p:nvPicPr>
        <p:blipFill rotWithShape="1">
          <a:blip r:embed="rId4">
            <a:alphaModFix/>
          </a:blip>
          <a:srcRect t="99333"/>
          <a:stretch/>
        </p:blipFill>
        <p:spPr>
          <a:xfrm>
            <a:off x="0" y="6820763"/>
            <a:ext cx="12192000" cy="45719"/>
          </a:xfrm>
          <a:prstGeom prst="rect">
            <a:avLst/>
          </a:prstGeom>
          <a:noFill/>
          <a:ln>
            <a:noFill/>
          </a:ln>
        </p:spPr>
      </p:pic>
      <p:pic>
        <p:nvPicPr>
          <p:cNvPr id="3" name="Google Shape;85;p13" descr="image.png">
            <a:extLst>
              <a:ext uri="{FF2B5EF4-FFF2-40B4-BE49-F238E27FC236}">
                <a16:creationId xmlns:a16="http://schemas.microsoft.com/office/drawing/2014/main" id="{6F82DF70-D1DF-BB77-7DA3-E4B341DD6031}"/>
              </a:ext>
            </a:extLst>
          </p:cNvPr>
          <p:cNvPicPr preferRelativeResize="0"/>
          <p:nvPr/>
        </p:nvPicPr>
        <p:blipFill rotWithShape="1">
          <a:blip r:embed="rId5">
            <a:alphaModFix/>
          </a:blip>
          <a:srcRect/>
          <a:stretch/>
        </p:blipFill>
        <p:spPr>
          <a:xfrm>
            <a:off x="6178022" y="1430934"/>
            <a:ext cx="4715581" cy="3996132"/>
          </a:xfrm>
          <a:prstGeom prst="rect">
            <a:avLst/>
          </a:prstGeom>
          <a:noFill/>
          <a:ln>
            <a:noFill/>
          </a:ln>
        </p:spPr>
      </p:pic>
      <p:pic>
        <p:nvPicPr>
          <p:cNvPr id="5" name="Google Shape;86;p13" descr="image.png">
            <a:extLst>
              <a:ext uri="{FF2B5EF4-FFF2-40B4-BE49-F238E27FC236}">
                <a16:creationId xmlns:a16="http://schemas.microsoft.com/office/drawing/2014/main" id="{8FC35288-A11A-A47A-B1D2-293289B98EAC}"/>
              </a:ext>
            </a:extLst>
          </p:cNvPr>
          <p:cNvPicPr preferRelativeResize="0"/>
          <p:nvPr/>
        </p:nvPicPr>
        <p:blipFill rotWithShape="1">
          <a:blip r:embed="rId6">
            <a:alphaModFix/>
          </a:blip>
          <a:srcRect/>
          <a:stretch/>
        </p:blipFill>
        <p:spPr>
          <a:xfrm>
            <a:off x="1029053" y="4713643"/>
            <a:ext cx="2362200" cy="352425"/>
          </a:xfrm>
          <a:prstGeom prst="rect">
            <a:avLst/>
          </a:prstGeom>
          <a:noFill/>
          <a:ln>
            <a:noFill/>
          </a:ln>
        </p:spPr>
      </p:pic>
      <p:pic>
        <p:nvPicPr>
          <p:cNvPr id="6" name="Google Shape;87;p13" descr="image.png">
            <a:extLst>
              <a:ext uri="{FF2B5EF4-FFF2-40B4-BE49-F238E27FC236}">
                <a16:creationId xmlns:a16="http://schemas.microsoft.com/office/drawing/2014/main" id="{1413AA8C-5895-3BE3-7C09-659710DFA8AD}"/>
              </a:ext>
            </a:extLst>
          </p:cNvPr>
          <p:cNvPicPr preferRelativeResize="0"/>
          <p:nvPr/>
        </p:nvPicPr>
        <p:blipFill rotWithShape="1">
          <a:blip r:embed="rId7">
            <a:alphaModFix/>
          </a:blip>
          <a:srcRect/>
          <a:stretch/>
        </p:blipFill>
        <p:spPr>
          <a:xfrm>
            <a:off x="1029053" y="1154709"/>
            <a:ext cx="2057400" cy="276225"/>
          </a:xfrm>
          <a:prstGeom prst="rect">
            <a:avLst/>
          </a:prstGeom>
          <a:noFill/>
          <a:ln>
            <a:noFill/>
          </a:ln>
        </p:spPr>
      </p:pic>
      <p:sp>
        <p:nvSpPr>
          <p:cNvPr id="7" name="Google Shape;88;p13">
            <a:extLst>
              <a:ext uri="{FF2B5EF4-FFF2-40B4-BE49-F238E27FC236}">
                <a16:creationId xmlns:a16="http://schemas.microsoft.com/office/drawing/2014/main" id="{06A82DE9-312C-9BF6-8485-7633EE9826C0}"/>
              </a:ext>
            </a:extLst>
          </p:cNvPr>
          <p:cNvSpPr txBox="1"/>
          <p:nvPr/>
        </p:nvSpPr>
        <p:spPr>
          <a:xfrm>
            <a:off x="1100667" y="1796641"/>
            <a:ext cx="2555522" cy="690189"/>
          </a:xfrm>
          <a:prstGeom prst="rect">
            <a:avLst/>
          </a:prstGeom>
          <a:noFill/>
          <a:ln>
            <a:noFill/>
          </a:ln>
        </p:spPr>
        <p:txBody>
          <a:bodyPr spcFirstLastPara="1" wrap="square" lIns="0" tIns="0" rIns="0" bIns="0" anchor="t" anchorCtr="0">
            <a:spAutoFit/>
          </a:bodyPr>
          <a:lstStyle/>
          <a:p>
            <a:pPr marL="0" marR="0" lvl="0" indent="0" algn="l" rtl="0">
              <a:lnSpc>
                <a:spcPct val="114974"/>
              </a:lnSpc>
              <a:spcBef>
                <a:spcPts val="0"/>
              </a:spcBef>
              <a:spcAft>
                <a:spcPts val="0"/>
              </a:spcAft>
              <a:buNone/>
            </a:pPr>
            <a:r>
              <a:rPr lang="en-US" sz="3900" b="1" i="0" u="none" strike="noStrike" cap="none" dirty="0" err="1">
                <a:solidFill>
                  <a:srgbClr val="1A1A1A"/>
                </a:solidFill>
                <a:latin typeface="Plus Jakarta Sans"/>
                <a:ea typeface="Plus Jakarta Sans"/>
                <a:cs typeface="Plus Jakarta Sans"/>
                <a:sym typeface="Plus Jakarta Sans"/>
              </a:rPr>
              <a:t>MediApp</a:t>
            </a:r>
            <a:endParaRPr dirty="0"/>
          </a:p>
        </p:txBody>
      </p:sp>
      <p:sp>
        <p:nvSpPr>
          <p:cNvPr id="8" name="Google Shape;89;p13">
            <a:extLst>
              <a:ext uri="{FF2B5EF4-FFF2-40B4-BE49-F238E27FC236}">
                <a16:creationId xmlns:a16="http://schemas.microsoft.com/office/drawing/2014/main" id="{C69884FC-0D06-AD26-4B09-9A0E6F0199C6}"/>
              </a:ext>
            </a:extLst>
          </p:cNvPr>
          <p:cNvSpPr txBox="1"/>
          <p:nvPr/>
        </p:nvSpPr>
        <p:spPr>
          <a:xfrm>
            <a:off x="1033639" y="3013774"/>
            <a:ext cx="4799895" cy="1107996"/>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sz="2000" dirty="0">
                <a:solidFill>
                  <a:srgbClr val="1A1A1A"/>
                </a:solidFill>
                <a:latin typeface="Arial"/>
              </a:rPr>
              <a:t>Sistema web de agendamiento de citas médicas y gestión de historias clínicas para centros de salud.</a:t>
            </a:r>
            <a:endParaRPr sz="1600" dirty="0"/>
          </a:p>
        </p:txBody>
      </p:sp>
      <p:pic>
        <p:nvPicPr>
          <p:cNvPr id="9" name="Google Shape;90;p13" descr="image.png">
            <a:extLst>
              <a:ext uri="{FF2B5EF4-FFF2-40B4-BE49-F238E27FC236}">
                <a16:creationId xmlns:a16="http://schemas.microsoft.com/office/drawing/2014/main" id="{180BC0BB-653F-7D4E-99DB-6BE23B72993E}"/>
              </a:ext>
            </a:extLst>
          </p:cNvPr>
          <p:cNvPicPr preferRelativeResize="0"/>
          <p:nvPr/>
        </p:nvPicPr>
        <p:blipFill rotWithShape="1">
          <a:blip r:embed="rId8">
            <a:alphaModFix/>
          </a:blip>
          <a:srcRect b="21597"/>
          <a:stretch/>
        </p:blipFill>
        <p:spPr>
          <a:xfrm>
            <a:off x="7011812" y="2084565"/>
            <a:ext cx="2496988" cy="2496988"/>
          </a:xfrm>
          <a:prstGeom prst="rect">
            <a:avLst/>
          </a:prstGeom>
          <a:noFill/>
          <a:ln>
            <a:noFill/>
          </a:ln>
        </p:spPr>
      </p:pic>
      <p:pic>
        <p:nvPicPr>
          <p:cNvPr id="10" name="Google Shape;91;p13" descr="image.png">
            <a:extLst>
              <a:ext uri="{FF2B5EF4-FFF2-40B4-BE49-F238E27FC236}">
                <a16:creationId xmlns:a16="http://schemas.microsoft.com/office/drawing/2014/main" id="{B074B4B6-84CD-D85F-C918-B84500ED341E}"/>
              </a:ext>
            </a:extLst>
          </p:cNvPr>
          <p:cNvPicPr preferRelativeResize="0"/>
          <p:nvPr/>
        </p:nvPicPr>
        <p:blipFill rotWithShape="1">
          <a:blip r:embed="rId9">
            <a:alphaModFix/>
          </a:blip>
          <a:srcRect/>
          <a:stretch/>
        </p:blipFill>
        <p:spPr>
          <a:xfrm>
            <a:off x="1129242" y="4823180"/>
            <a:ext cx="171450" cy="133350"/>
          </a:xfrm>
          <a:prstGeom prst="rect">
            <a:avLst/>
          </a:prstGeom>
          <a:noFill/>
          <a:ln>
            <a:noFill/>
          </a:ln>
        </p:spPr>
      </p:pic>
      <p:sp>
        <p:nvSpPr>
          <p:cNvPr id="11" name="CuadroTexto 10">
            <a:extLst>
              <a:ext uri="{FF2B5EF4-FFF2-40B4-BE49-F238E27FC236}">
                <a16:creationId xmlns:a16="http://schemas.microsoft.com/office/drawing/2014/main" id="{B98E55B9-4796-1AD4-FD91-7F8439DF9EDA}"/>
              </a:ext>
            </a:extLst>
          </p:cNvPr>
          <p:cNvSpPr txBox="1"/>
          <p:nvPr/>
        </p:nvSpPr>
        <p:spPr>
          <a:xfrm>
            <a:off x="7703256" y="4892245"/>
            <a:ext cx="3836106" cy="369332"/>
          </a:xfrm>
          <a:prstGeom prst="rect">
            <a:avLst/>
          </a:prstGeom>
          <a:noFill/>
        </p:spPr>
        <p:txBody>
          <a:bodyPr wrap="square">
            <a:spAutoFit/>
          </a:bodyPr>
          <a:lstStyle/>
          <a:p>
            <a:r>
              <a:rPr lang="es-CO" sz="1800" dirty="0">
                <a:solidFill/>
              </a:rPr>
              <a:t> </a:t>
            </a:r>
            <a:endParaRPr lang="es-CO"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2" name="Google Shape;111;p3">
            <a:extLst>
              <a:ext uri="{FF2B5EF4-FFF2-40B4-BE49-F238E27FC236}">
                <a16:creationId xmlns:a16="http://schemas.microsoft.com/office/drawing/2014/main" id="{C3D3D267-D1DB-7794-090F-4F88F9C7C45B}"/>
              </a:ext>
            </a:extLst>
          </p:cNvPr>
          <p:cNvSpPr txBox="1"/>
          <p:nvPr/>
        </p:nvSpPr>
        <p:spPr>
          <a:xfrm>
            <a:off x="2100942" y="2640764"/>
            <a:ext cx="7990115" cy="15764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6000"/>
              <a:buFont typeface="Arial"/>
              <a:buNone/>
            </a:pPr>
            <a:r>
              <a:rPr lang="es-CO" sz="4800" b="1" i="0" u="none" strike="noStrike" cap="none" dirty="0">
                <a:solidFill>
                  <a:schemeClr val="lt1"/>
                </a:solidFill>
                <a:latin typeface="Arial"/>
                <a:ea typeface="Arial"/>
                <a:cs typeface="Arial"/>
                <a:sym typeface="Arial"/>
              </a:rPr>
              <a:t>I. FORMULACIÓN DEL PROYECTO</a:t>
            </a:r>
            <a:endParaRPr sz="1100" dirty="0"/>
          </a:p>
        </p:txBody>
      </p:sp>
      <p:pic>
        <p:nvPicPr>
          <p:cNvPr id="3" name="Google Shape;84;p13" descr="image.png">
            <a:extLst>
              <a:ext uri="{FF2B5EF4-FFF2-40B4-BE49-F238E27FC236}">
                <a16:creationId xmlns:a16="http://schemas.microsoft.com/office/drawing/2014/main" id="{F8DFFA8D-D658-9F01-0D10-9353E89340DC}"/>
              </a:ext>
            </a:extLst>
          </p:cNvPr>
          <p:cNvPicPr preferRelativeResize="0"/>
          <p:nvPr/>
        </p:nvPicPr>
        <p:blipFill rotWithShape="1">
          <a:blip r:embed="rId4">
            <a:alphaModFix/>
          </a:blip>
          <a:srcRect t="99333"/>
          <a:stretch/>
        </p:blipFill>
        <p:spPr>
          <a:xfrm>
            <a:off x="0" y="6820763"/>
            <a:ext cx="12192000" cy="457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14" name="Imagen 13">
            <a:extLst>
              <a:ext uri="{FF2B5EF4-FFF2-40B4-BE49-F238E27FC236}">
                <a16:creationId xmlns:a16="http://schemas.microsoft.com/office/drawing/2014/main" id="{8DF402D3-A560-9210-3DEA-358303C1CE08}"/>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6D8587E6-BFC7-BE58-BA04-C802D8D4E3F7}"/>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12" name="Google Shape;107;p14">
            <a:extLst>
              <a:ext uri="{FF2B5EF4-FFF2-40B4-BE49-F238E27FC236}">
                <a16:creationId xmlns:a16="http://schemas.microsoft.com/office/drawing/2014/main" id="{EEE9E0F4-D1BB-7771-0302-5F992181AFCD}"/>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 name="Google Shape;106;p14">
            <a:extLst>
              <a:ext uri="{FF2B5EF4-FFF2-40B4-BE49-F238E27FC236}">
                <a16:creationId xmlns:a16="http://schemas.microsoft.com/office/drawing/2014/main" id="{72A46E4C-75C3-B387-4882-65CAAFC1DC0B}"/>
              </a:ext>
            </a:extLst>
          </p:cNvPr>
          <p:cNvSpPr txBox="1"/>
          <p:nvPr/>
        </p:nvSpPr>
        <p:spPr>
          <a:xfrm>
            <a:off x="571500" y="476250"/>
            <a:ext cx="10424160" cy="4286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b="0" i="0" u="none" strike="noStrike" cap="none" dirty="0" err="1">
                <a:solidFill>
                  <a:srgbClr val="1A1A1A"/>
                </a:solidFill>
                <a:latin typeface="Plus Jakarta Sans ExtraBold"/>
                <a:ea typeface="Plus Jakarta Sans ExtraBold"/>
                <a:cs typeface="Plus Jakarta Sans ExtraBold"/>
                <a:sym typeface="Plus Jakarta Sans ExtraBold"/>
              </a:rPr>
              <a:t>Planteamiento del Problema</a:t>
            </a:r>
            <a:endParaRPr dirty="0"/>
          </a:p>
        </p:txBody>
      </p:sp>
      <p:sp>
        <p:nvSpPr>
          <p:cNvPr id="19" name="TextBox 18"/>
          <p:cNvSpPr txBox="1"/>
          <p:nvPr/>
        </p:nvSpPr>
        <p:spPr>
          <a:xfrm>
            <a:off x="640080" y="1417320"/>
            <a:ext cx="10881360" cy="822960"/>
          </a:xfrm>
          <a:prstGeom prst="rect">
            <a:avLst/>
          </a:prstGeom>
          <a:noFill/>
        </p:spPr>
        <p:txBody>
          <a:bodyPr wrap="square">
            <a:spAutoFit/>
          </a:bodyPr>
          <a:lstStyle/>
          <a:p>
            <a:pPr algn="l"/>
            <a:r>
              <a:rPr sz="2400" b="1" dirty="0">
                <a:solidFill>
                  <a:srgbClr val="3369CD"/>
                </a:solidFill>
                <a:latin typeface="Arial"/>
              </a:rPr>
              <a:t>Conseguir una cita médica depende de presentarse en el centro de salud y de la memoria de quien asigna los turnos.</a:t>
            </a:r>
          </a:p>
        </p:txBody>
      </p:sp>
      <p:sp>
        <p:nvSpPr>
          <p:cNvPr id="20" name="TextBox 19"/>
          <p:cNvSpPr txBox="1"/>
          <p:nvPr/>
        </p:nvSpPr>
        <p:spPr>
          <a:xfrm>
            <a:off x="822960" y="2788920"/>
            <a:ext cx="10424160" cy="1143000"/>
          </a:xfrm>
          <a:prstGeom prst="rect">
            <a:avLst/>
          </a:prstGeom>
          <a:noFill/>
        </p:spPr>
        <p:txBody>
          <a:bodyPr wrap="square">
            <a:spAutoFit/>
          </a:bodyPr>
          <a:lstStyle/>
          <a:p>
            <a:r>
              <a:rPr sz="2000" dirty="0">
                <a:solidFill>
                  <a:srgbClr val="1A1A1A"/>
                </a:solidFill>
                <a:latin typeface="Arial"/>
              </a:rPr>
              <a:t>El 54 % de los encuestados solicita hoy su cita presentándose en el centro, y el 71 % se ha desplazado únicamente para pedirla o para cancelarla.</a:t>
            </a:r>
          </a:p>
        </p:txBody>
      </p:sp>
      <p:sp>
        <p:nvSpPr>
          <p:cNvPr id="21" name="TextBox 20"/>
          <p:cNvSpPr txBox="1"/>
          <p:nvPr/>
        </p:nvSpPr>
        <p:spPr>
          <a:xfrm>
            <a:off x="822960" y="3931920"/>
            <a:ext cx="10424160" cy="1143000"/>
          </a:xfrm>
          <a:prstGeom prst="rect">
            <a:avLst/>
          </a:prstGeom>
          <a:noFill/>
        </p:spPr>
        <p:txBody>
          <a:bodyPr wrap="square">
            <a:spAutoFit/>
          </a:bodyPr>
          <a:lstStyle/>
          <a:p>
            <a:r>
              <a:rPr sz="2000">
                <a:solidFill>
                  <a:srgbClr val="1A1A1A"/>
                </a:solidFill>
                <a:latin typeface="Arial"/>
              </a:rPr>
              <a:t>El 65 % tarda más de media hora en que se la asignen, y el 60 % ha recibido al menos una vez una cita cruzada con la de otro paciente.</a:t>
            </a:r>
          </a:p>
        </p:txBody>
      </p:sp>
      <p:sp>
        <p:nvSpPr>
          <p:cNvPr id="22" name="TextBox 21"/>
          <p:cNvSpPr txBox="1"/>
          <p:nvPr/>
        </p:nvSpPr>
        <p:spPr>
          <a:xfrm>
            <a:off x="822960" y="5074920"/>
            <a:ext cx="10424160" cy="1143000"/>
          </a:xfrm>
          <a:prstGeom prst="rect">
            <a:avLst/>
          </a:prstGeom>
          <a:noFill/>
        </p:spPr>
        <p:txBody>
          <a:bodyPr wrap="square">
            <a:spAutoFit/>
          </a:bodyPr>
          <a:lstStyle/>
          <a:p>
            <a:r>
              <a:rPr sz="2000">
                <a:solidFill>
                  <a:srgbClr val="1A1A1A"/>
                </a:solidFill>
                <a:latin typeface="Arial"/>
              </a:rPr>
              <a:t>El problema no es la demanda sino la falta de un canal propio, porque la disponibilidad no se consulta sino que se recuerda, y por eso la ventanilla y el teléfono llegan a ofrecer el mismo turno.</a:t>
            </a:r>
          </a:p>
        </p:txBody>
      </p:sp>
    </p:spTree>
    <p:extLst>
      <p:ext uri="{BB962C8B-B14F-4D97-AF65-F5344CB8AC3E}">
        <p14:creationId xmlns:p14="http://schemas.microsoft.com/office/powerpoint/2010/main" val="4150227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22" name="Imagen 21">
            <a:extLst>
              <a:ext uri="{FF2B5EF4-FFF2-40B4-BE49-F238E27FC236}">
                <a16:creationId xmlns:a16="http://schemas.microsoft.com/office/drawing/2014/main" id="{13495FBF-C467-5FBA-8029-DB074EC699BC}"/>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pic>
        <p:nvPicPr>
          <p:cNvPr id="3" name="Google Shape;138;p16" descr="image.png">
            <a:extLst>
              <a:ext uri="{FF2B5EF4-FFF2-40B4-BE49-F238E27FC236}">
                <a16:creationId xmlns:a16="http://schemas.microsoft.com/office/drawing/2014/main" id="{6E2E430C-E153-EE1C-9507-83BAA4900C86}"/>
              </a:ext>
            </a:extLst>
          </p:cNvPr>
          <p:cNvPicPr preferRelativeResize="0"/>
          <p:nvPr/>
        </p:nvPicPr>
        <p:blipFill rotWithShape="1">
          <a:blip r:embed="rId6">
            <a:alphaModFix/>
          </a:blip>
          <a:srcRect/>
          <a:stretch/>
        </p:blipFill>
        <p:spPr>
          <a:xfrm>
            <a:off x="571424" y="4722657"/>
            <a:ext cx="11049000" cy="857250"/>
          </a:xfrm>
          <a:prstGeom prst="rect">
            <a:avLst/>
          </a:prstGeom>
          <a:noFill/>
          <a:ln>
            <a:noFill/>
          </a:ln>
        </p:spPr>
      </p:pic>
      <p:pic>
        <p:nvPicPr>
          <p:cNvPr id="4" name="Google Shape;139;p16" descr="image.png">
            <a:extLst>
              <a:ext uri="{FF2B5EF4-FFF2-40B4-BE49-F238E27FC236}">
                <a16:creationId xmlns:a16="http://schemas.microsoft.com/office/drawing/2014/main" id="{468D5443-582F-1671-D734-A0438BEAA997}"/>
              </a:ext>
            </a:extLst>
          </p:cNvPr>
          <p:cNvPicPr preferRelativeResize="0"/>
          <p:nvPr/>
        </p:nvPicPr>
        <p:blipFill rotWithShape="1">
          <a:blip r:embed="rId7">
            <a:alphaModFix/>
          </a:blip>
          <a:srcRect/>
          <a:stretch/>
        </p:blipFill>
        <p:spPr>
          <a:xfrm>
            <a:off x="571500" y="2143125"/>
            <a:ext cx="3530500" cy="2143125"/>
          </a:xfrm>
          <a:prstGeom prst="rect">
            <a:avLst/>
          </a:prstGeom>
          <a:noFill/>
          <a:ln>
            <a:noFill/>
          </a:ln>
        </p:spPr>
      </p:pic>
      <p:pic>
        <p:nvPicPr>
          <p:cNvPr id="5" name="Google Shape;140;p16" descr="image.png">
            <a:extLst>
              <a:ext uri="{FF2B5EF4-FFF2-40B4-BE49-F238E27FC236}">
                <a16:creationId xmlns:a16="http://schemas.microsoft.com/office/drawing/2014/main" id="{FC5C9815-BADF-30F6-D886-CBF83C550DC2}"/>
              </a:ext>
            </a:extLst>
          </p:cNvPr>
          <p:cNvPicPr preferRelativeResize="0"/>
          <p:nvPr/>
        </p:nvPicPr>
        <p:blipFill rotWithShape="1">
          <a:blip r:embed="rId8">
            <a:alphaModFix/>
          </a:blip>
          <a:srcRect/>
          <a:stretch/>
        </p:blipFill>
        <p:spPr>
          <a:xfrm>
            <a:off x="4330600" y="2143125"/>
            <a:ext cx="3530649" cy="2143125"/>
          </a:xfrm>
          <a:prstGeom prst="rect">
            <a:avLst/>
          </a:prstGeom>
          <a:noFill/>
          <a:ln>
            <a:noFill/>
          </a:ln>
        </p:spPr>
      </p:pic>
      <p:pic>
        <p:nvPicPr>
          <p:cNvPr id="6" name="Google Shape;141;p16" descr="image.png">
            <a:extLst>
              <a:ext uri="{FF2B5EF4-FFF2-40B4-BE49-F238E27FC236}">
                <a16:creationId xmlns:a16="http://schemas.microsoft.com/office/drawing/2014/main" id="{DB18B452-3E7B-2BAD-B2A3-F989A189E07E}"/>
              </a:ext>
            </a:extLst>
          </p:cNvPr>
          <p:cNvPicPr preferRelativeResize="0"/>
          <p:nvPr/>
        </p:nvPicPr>
        <p:blipFill rotWithShape="1">
          <a:blip r:embed="rId9">
            <a:alphaModFix/>
          </a:blip>
          <a:srcRect/>
          <a:stretch/>
        </p:blipFill>
        <p:spPr>
          <a:xfrm>
            <a:off x="8089850" y="2143125"/>
            <a:ext cx="3530500" cy="2143125"/>
          </a:xfrm>
          <a:prstGeom prst="rect">
            <a:avLst/>
          </a:prstGeom>
          <a:noFill/>
          <a:ln>
            <a:noFill/>
          </a:ln>
        </p:spPr>
      </p:pic>
      <p:sp>
        <p:nvSpPr>
          <p:cNvPr id="18" name="Google Shape;154;p16">
            <a:extLst>
              <a:ext uri="{FF2B5EF4-FFF2-40B4-BE49-F238E27FC236}">
                <a16:creationId xmlns:a16="http://schemas.microsoft.com/office/drawing/2014/main" id="{4CF8287F-6AA8-24B0-6B72-8A0480EFA084}"/>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 name="Google Shape;153;p16">
            <a:extLst>
              <a:ext uri="{FF2B5EF4-FFF2-40B4-BE49-F238E27FC236}">
                <a16:creationId xmlns:a16="http://schemas.microsoft.com/office/drawing/2014/main" id="{3A3C55D1-1764-1508-0286-5FAFD912FB5C}"/>
              </a:ext>
            </a:extLst>
          </p:cNvPr>
          <p:cNvSpPr txBox="1"/>
          <p:nvPr/>
        </p:nvSpPr>
        <p:spPr>
          <a:xfrm>
            <a:off x="571500" y="476250"/>
            <a:ext cx="10424160" cy="4286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b="0" i="0" u="none" strike="noStrike" cap="none" dirty="0" err="1">
                <a:solidFill>
                  <a:srgbClr val="1A1A1A"/>
                </a:solidFill>
                <a:latin typeface="Plus Jakarta Sans ExtraBold"/>
                <a:ea typeface="Plus Jakarta Sans ExtraBold"/>
                <a:cs typeface="Plus Jakarta Sans ExtraBold"/>
                <a:sym typeface="Plus Jakarta Sans ExtraBold"/>
              </a:rPr>
              <a:t>Justificación del Proyecto</a:t>
            </a:r>
            <a:endParaRPr dirty="0"/>
          </a:p>
        </p:txBody>
      </p:sp>
      <p:sp>
        <p:nvSpPr>
          <p:cNvPr id="23" name="TextBox 22"/>
          <p:cNvSpPr txBox="1"/>
          <p:nvPr/>
        </p:nvSpPr>
        <p:spPr>
          <a:xfrm>
            <a:off x="768096" y="2331720"/>
            <a:ext cx="3127248" cy="640080"/>
          </a:xfrm>
          <a:prstGeom prst="rect">
            <a:avLst/>
          </a:prstGeom>
          <a:noFill/>
        </p:spPr>
        <p:txBody>
          <a:bodyPr wrap="square">
            <a:spAutoFit/>
          </a:bodyPr>
          <a:lstStyle/>
          <a:p>
            <a:pPr algn="l"/>
            <a:r>
              <a:rPr sz="4000" b="1">
                <a:solidFill>
                  <a:srgbClr val="3369CD"/>
                </a:solidFill>
                <a:latin typeface="Arial"/>
              </a:rPr>
              <a:t>71 %</a:t>
            </a:r>
          </a:p>
        </p:txBody>
      </p:sp>
      <p:sp>
        <p:nvSpPr>
          <p:cNvPr id="24" name="TextBox 23"/>
          <p:cNvSpPr txBox="1"/>
          <p:nvPr/>
        </p:nvSpPr>
        <p:spPr>
          <a:xfrm>
            <a:off x="768096" y="3035808"/>
            <a:ext cx="3127248" cy="274320"/>
          </a:xfrm>
          <a:prstGeom prst="rect">
            <a:avLst/>
          </a:prstGeom>
          <a:noFill/>
        </p:spPr>
        <p:txBody>
          <a:bodyPr wrap="square">
            <a:spAutoFit/>
          </a:bodyPr>
          <a:lstStyle/>
          <a:p>
            <a:pPr algn="l"/>
            <a:r>
              <a:rPr sz="1400" b="1">
                <a:solidFill>
                  <a:srgbClr val="3369CD"/>
                </a:solidFill>
                <a:latin typeface="Arial"/>
              </a:rPr>
              <a:t>SE DESPLAZARON</a:t>
            </a:r>
          </a:p>
        </p:txBody>
      </p:sp>
      <p:sp>
        <p:nvSpPr>
          <p:cNvPr id="25" name="TextBox 24"/>
          <p:cNvSpPr txBox="1"/>
          <p:nvPr/>
        </p:nvSpPr>
        <p:spPr>
          <a:xfrm>
            <a:off x="768096" y="3364992"/>
            <a:ext cx="3017520" cy="1097280"/>
          </a:xfrm>
          <a:prstGeom prst="rect">
            <a:avLst/>
          </a:prstGeom>
          <a:noFill/>
        </p:spPr>
        <p:txBody>
          <a:bodyPr wrap="square">
            <a:spAutoFit/>
          </a:bodyPr>
          <a:lstStyle/>
          <a:p>
            <a:pPr algn="l"/>
            <a:r>
              <a:rPr sz="1500" b="0">
                <a:solidFill>
                  <a:srgbClr val="1A1A1A"/>
                </a:solidFill>
                <a:latin typeface="Arial"/>
              </a:rPr>
              <a:t>se ha desplazado únicamente para pedir o para cancelar su cita.</a:t>
            </a:r>
          </a:p>
        </p:txBody>
      </p:sp>
      <p:sp>
        <p:nvSpPr>
          <p:cNvPr id="26" name="TextBox 25"/>
          <p:cNvSpPr txBox="1"/>
          <p:nvPr/>
        </p:nvSpPr>
        <p:spPr>
          <a:xfrm>
            <a:off x="4526280" y="2331720"/>
            <a:ext cx="3127248" cy="640080"/>
          </a:xfrm>
          <a:prstGeom prst="rect">
            <a:avLst/>
          </a:prstGeom>
          <a:noFill/>
        </p:spPr>
        <p:txBody>
          <a:bodyPr wrap="square">
            <a:spAutoFit/>
          </a:bodyPr>
          <a:lstStyle/>
          <a:p>
            <a:pPr algn="l"/>
            <a:r>
              <a:rPr sz="4000" b="1">
                <a:solidFill>
                  <a:srgbClr val="3369CD"/>
                </a:solidFill>
                <a:latin typeface="Arial"/>
              </a:rPr>
              <a:t>65 %</a:t>
            </a:r>
          </a:p>
        </p:txBody>
      </p:sp>
      <p:sp>
        <p:nvSpPr>
          <p:cNvPr id="27" name="TextBox 26"/>
          <p:cNvSpPr txBox="1"/>
          <p:nvPr/>
        </p:nvSpPr>
        <p:spPr>
          <a:xfrm>
            <a:off x="4526280" y="3035808"/>
            <a:ext cx="3127248" cy="274320"/>
          </a:xfrm>
          <a:prstGeom prst="rect">
            <a:avLst/>
          </a:prstGeom>
          <a:noFill/>
        </p:spPr>
        <p:txBody>
          <a:bodyPr wrap="square">
            <a:spAutoFit/>
          </a:bodyPr>
          <a:lstStyle/>
          <a:p>
            <a:pPr algn="l"/>
            <a:r>
              <a:rPr sz="1400" b="1">
                <a:solidFill>
                  <a:srgbClr val="3369CD"/>
                </a:solidFill>
                <a:latin typeface="Arial"/>
              </a:rPr>
              <a:t>ESPERAN DEMASIADO</a:t>
            </a:r>
          </a:p>
        </p:txBody>
      </p:sp>
      <p:sp>
        <p:nvSpPr>
          <p:cNvPr id="28" name="TextBox 27"/>
          <p:cNvSpPr txBox="1"/>
          <p:nvPr/>
        </p:nvSpPr>
        <p:spPr>
          <a:xfrm>
            <a:off x="4526280" y="3364992"/>
            <a:ext cx="3017520" cy="1097280"/>
          </a:xfrm>
          <a:prstGeom prst="rect">
            <a:avLst/>
          </a:prstGeom>
          <a:noFill/>
        </p:spPr>
        <p:txBody>
          <a:bodyPr wrap="square">
            <a:spAutoFit/>
          </a:bodyPr>
          <a:lstStyle/>
          <a:p>
            <a:pPr algn="l"/>
            <a:r>
              <a:rPr sz="1500" b="0">
                <a:solidFill>
                  <a:srgbClr val="1A1A1A"/>
                </a:solidFill>
                <a:latin typeface="Arial"/>
              </a:rPr>
              <a:t>tarda más de media hora en que le asignen el turno de atención.</a:t>
            </a:r>
          </a:p>
        </p:txBody>
      </p:sp>
      <p:sp>
        <p:nvSpPr>
          <p:cNvPr id="29" name="TextBox 28"/>
          <p:cNvSpPr txBox="1"/>
          <p:nvPr/>
        </p:nvSpPr>
        <p:spPr>
          <a:xfrm>
            <a:off x="8293608" y="2331720"/>
            <a:ext cx="3127248" cy="640080"/>
          </a:xfrm>
          <a:prstGeom prst="rect">
            <a:avLst/>
          </a:prstGeom>
          <a:noFill/>
        </p:spPr>
        <p:txBody>
          <a:bodyPr wrap="square">
            <a:spAutoFit/>
          </a:bodyPr>
          <a:lstStyle/>
          <a:p>
            <a:pPr algn="l"/>
            <a:r>
              <a:rPr sz="4000" b="1">
                <a:solidFill>
                  <a:srgbClr val="3369CD"/>
                </a:solidFill>
                <a:latin typeface="Arial"/>
              </a:rPr>
              <a:t>60 %</a:t>
            </a:r>
          </a:p>
        </p:txBody>
      </p:sp>
      <p:sp>
        <p:nvSpPr>
          <p:cNvPr id="30" name="TextBox 29"/>
          <p:cNvSpPr txBox="1"/>
          <p:nvPr/>
        </p:nvSpPr>
        <p:spPr>
          <a:xfrm>
            <a:off x="8293608" y="3035808"/>
            <a:ext cx="3127248" cy="274320"/>
          </a:xfrm>
          <a:prstGeom prst="rect">
            <a:avLst/>
          </a:prstGeom>
          <a:noFill/>
        </p:spPr>
        <p:txBody>
          <a:bodyPr wrap="square">
            <a:spAutoFit/>
          </a:bodyPr>
          <a:lstStyle/>
          <a:p>
            <a:pPr algn="l"/>
            <a:r>
              <a:rPr sz="1400" b="1">
                <a:solidFill>
                  <a:srgbClr val="3369CD"/>
                </a:solidFill>
                <a:latin typeface="Arial"/>
              </a:rPr>
              <a:t>SUFRIERON UN CRUCE</a:t>
            </a:r>
          </a:p>
        </p:txBody>
      </p:sp>
      <p:sp>
        <p:nvSpPr>
          <p:cNvPr id="31" name="TextBox 30"/>
          <p:cNvSpPr txBox="1"/>
          <p:nvPr/>
        </p:nvSpPr>
        <p:spPr>
          <a:xfrm>
            <a:off x="8293608" y="3364992"/>
            <a:ext cx="3017520" cy="1097280"/>
          </a:xfrm>
          <a:prstGeom prst="rect">
            <a:avLst/>
          </a:prstGeom>
          <a:noFill/>
        </p:spPr>
        <p:txBody>
          <a:bodyPr wrap="square">
            <a:spAutoFit/>
          </a:bodyPr>
          <a:lstStyle/>
          <a:p>
            <a:pPr algn="l"/>
            <a:r>
              <a:rPr sz="1500" b="0">
                <a:solidFill>
                  <a:srgbClr val="1A1A1A"/>
                </a:solidFill>
                <a:latin typeface="Arial"/>
              </a:rPr>
              <a:t>ha recibido al menos una vez una cita cruzada con la de otro paciente.</a:t>
            </a:r>
          </a:p>
        </p:txBody>
      </p:sp>
      <p:sp>
        <p:nvSpPr>
          <p:cNvPr id="32" name="TextBox 31"/>
          <p:cNvSpPr txBox="1"/>
          <p:nvPr/>
        </p:nvSpPr>
        <p:spPr>
          <a:xfrm>
            <a:off x="850392" y="4901184"/>
            <a:ext cx="10515600" cy="548640"/>
          </a:xfrm>
          <a:prstGeom prst="rect">
            <a:avLst/>
          </a:prstGeom>
          <a:noFill/>
        </p:spPr>
        <p:txBody>
          <a:bodyPr wrap="square">
            <a:spAutoFit/>
          </a:bodyPr>
          <a:lstStyle/>
          <a:p>
            <a:pPr algn="l"/>
            <a:r>
              <a:rPr sz="2400" b="1">
                <a:solidFill>
                  <a:srgbClr val="3369CD"/>
                </a:solidFill>
                <a:latin typeface="Arial"/>
              </a:rPr>
              <a:t>MediApp permite al paciente elegir el horario libre y dejar su cita en firme sin pasar por la ventanilla.</a:t>
            </a:r>
          </a:p>
        </p:txBody>
      </p:sp>
    </p:spTree>
    <p:extLst>
      <p:ext uri="{BB962C8B-B14F-4D97-AF65-F5344CB8AC3E}">
        <p14:creationId xmlns:p14="http://schemas.microsoft.com/office/powerpoint/2010/main" val="1556841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8" name="Imagen 7">
            <a:extLst>
              <a:ext uri="{FF2B5EF4-FFF2-40B4-BE49-F238E27FC236}">
                <a16:creationId xmlns:a16="http://schemas.microsoft.com/office/drawing/2014/main" id="{272611BD-5090-88E2-8DB2-78DB7477A217}"/>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76250"/>
            <a:ext cx="10424160" cy="4286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b="0" i="0" u="none" strike="noStrike" cap="none" dirty="0" err="1">
                <a:solidFill>
                  <a:srgbClr val="1A1A1A"/>
                </a:solidFill>
                <a:latin typeface="Plus Jakarta Sans ExtraBold"/>
                <a:ea typeface="Plus Jakarta Sans ExtraBold"/>
                <a:cs typeface="Plus Jakarta Sans ExtraBold"/>
                <a:sym typeface="Plus Jakarta Sans ExtraBold"/>
              </a:rPr>
              <a:t>Objetivo General</a:t>
            </a:r>
            <a:endParaRPr dirty="0"/>
          </a:p>
        </p:txBody>
      </p:sp>
      <p:sp>
        <p:nvSpPr>
          <p:cNvPr id="24" name="TextBox 23"/>
          <p:cNvSpPr txBox="1"/>
          <p:nvPr/>
        </p:nvSpPr>
        <p:spPr>
          <a:xfrm>
            <a:off x="1249679" y="2603680"/>
            <a:ext cx="9692640" cy="2092881"/>
          </a:xfrm>
          <a:prstGeom prst="rect">
            <a:avLst/>
          </a:prstGeom>
          <a:noFill/>
        </p:spPr>
        <p:txBody>
          <a:bodyPr wrap="square">
            <a:spAutoFit/>
          </a:bodyPr>
          <a:lstStyle/>
          <a:p>
            <a:pPr algn="ctr"/>
            <a:r>
              <a:rPr lang="es-MX" sz="2600" b="1" dirty="0">
                <a:solidFill>
                  <a:srgbClr val="3369CD"/>
                </a:solidFill>
              </a:rPr>
              <a:t>Desarrollar MediApp, un sistema web de agendamiento de citas médicas con acceso diferenciado para administrador, médico y paciente, que permita gestionar la disponibilidad de la atención médica y controlar el historial clínico en centros de salud.</a:t>
            </a:r>
            <a:endParaRPr sz="2600" b="1" dirty="0">
              <a:solidFill>
                <a:srgbClr val="1F3B73"/>
              </a:solidFill>
              <a:latin typeface="Arial"/>
            </a:endParaRPr>
          </a:p>
        </p:txBody>
      </p:sp>
    </p:spTree>
    <p:extLst>
      <p:ext uri="{BB962C8B-B14F-4D97-AF65-F5344CB8AC3E}">
        <p14:creationId xmlns:p14="http://schemas.microsoft.com/office/powerpoint/2010/main" val="968519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8" name="Imagen 7">
            <a:extLst>
              <a:ext uri="{FF2B5EF4-FFF2-40B4-BE49-F238E27FC236}">
                <a16:creationId xmlns:a16="http://schemas.microsoft.com/office/drawing/2014/main" id="{4B0AA0B5-E4A9-52D1-B9C7-4150FF2200E4}"/>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76250"/>
            <a:ext cx="10424160" cy="4286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b="0" i="0" u="none" strike="noStrike" cap="none" dirty="0" err="1">
                <a:solidFill>
                  <a:srgbClr val="1A1A1A"/>
                </a:solidFill>
                <a:latin typeface="Plus Jakarta Sans ExtraBold"/>
                <a:ea typeface="Plus Jakarta Sans ExtraBold"/>
                <a:cs typeface="Plus Jakarta Sans ExtraBold"/>
                <a:sym typeface="Plus Jakarta Sans ExtraBold"/>
              </a:rPr>
              <a:t>Objetivos Específicos</a:t>
            </a:r>
            <a:endParaRPr dirty="0"/>
          </a:p>
        </p:txBody>
      </p:sp>
      <p:sp>
        <p:nvSpPr>
          <p:cNvPr id="24" name="TextBox 23"/>
          <p:cNvSpPr txBox="1"/>
          <p:nvPr/>
        </p:nvSpPr>
        <p:spPr>
          <a:xfrm>
            <a:off x="883920" y="1587148"/>
            <a:ext cx="10424160" cy="677108"/>
          </a:xfrm>
          <a:prstGeom prst="rect">
            <a:avLst/>
          </a:prstGeom>
          <a:noFill/>
        </p:spPr>
        <p:txBody>
          <a:bodyPr wrap="square">
            <a:spAutoFit/>
          </a:bodyPr>
          <a:lstStyle/>
          <a:p>
            <a:r>
              <a:rPr sz="2000" dirty="0">
                <a:solidFill>
                  <a:srgbClr val="1A1A1A"/>
                </a:solidFill>
                <a:latin typeface="Arial"/>
              </a:rPr>
              <a:t>1. Facilitar la programación de la atención médica mediante un módulo interactivo que permita al administrador y al paciente agendar citas de forma intuitiva.</a:t>
            </a:r>
            <a:endParaRPr sz="2000" dirty="0">
              <a:solidFill>
                <a:srgbClr val="33373D"/>
              </a:solidFill>
            </a:endParaRPr>
          </a:p>
        </p:txBody>
      </p:sp>
      <p:sp>
        <p:nvSpPr>
          <p:cNvPr id="25" name="TextBox 24"/>
          <p:cNvSpPr txBox="1"/>
          <p:nvPr/>
        </p:nvSpPr>
        <p:spPr>
          <a:xfrm>
            <a:off x="883920" y="2547268"/>
            <a:ext cx="10424160" cy="984885"/>
          </a:xfrm>
          <a:prstGeom prst="rect">
            <a:avLst/>
          </a:prstGeom>
          <a:noFill/>
        </p:spPr>
        <p:txBody>
          <a:bodyPr wrap="square">
            <a:spAutoFit/>
          </a:bodyPr>
          <a:lstStyle/>
          <a:p>
            <a:r>
              <a:rPr sz="2000" dirty="0">
                <a:solidFill>
                  <a:srgbClr val="1A1A1A"/>
                </a:solidFill>
                <a:latin typeface="Arial"/>
              </a:rPr>
              <a:t>2. Habilitar la gestión del acto clínico como responsabilidad exclusiva del médico tratante para la creación y actualización de historias clínicas, diagnósticos y prescripciones.</a:t>
            </a:r>
            <a:endParaRPr lang="es-CO" sz="1800" dirty="0">
              <a:solidFill>
                <a:srgbClr val="33373D"/>
              </a:solidFill>
            </a:endParaRPr>
          </a:p>
        </p:txBody>
      </p:sp>
      <p:sp>
        <p:nvSpPr>
          <p:cNvPr id="26" name="TextBox 25"/>
          <p:cNvSpPr txBox="1"/>
          <p:nvPr/>
        </p:nvSpPr>
        <p:spPr>
          <a:xfrm>
            <a:off x="883920" y="3507388"/>
            <a:ext cx="10424160" cy="984885"/>
          </a:xfrm>
          <a:prstGeom prst="rect">
            <a:avLst/>
          </a:prstGeom>
          <a:noFill/>
        </p:spPr>
        <p:txBody>
          <a:bodyPr wrap="square">
            <a:spAutoFit/>
          </a:bodyPr>
          <a:lstStyle/>
          <a:p>
            <a:r>
              <a:rPr sz="2000" dirty="0">
                <a:solidFill>
                  <a:srgbClr val="1A1A1A"/>
                </a:solidFill>
                <a:latin typeface="Arial"/>
              </a:rPr>
              <a:t>3. Garantizar la confidencialidad de la información médica mediante un control de acceso basado en roles que restrinja la visualización y la edición según el perfil del usuario.</a:t>
            </a:r>
            <a:endParaRPr lang="es-CO" sz="1800" dirty="0">
              <a:solidFill>
                <a:srgbClr val="33373D"/>
              </a:solidFill>
            </a:endParaRPr>
          </a:p>
        </p:txBody>
      </p:sp>
    </p:spTree>
    <p:extLst>
      <p:ext uri="{BB962C8B-B14F-4D97-AF65-F5344CB8AC3E}">
        <p14:creationId xmlns:p14="http://schemas.microsoft.com/office/powerpoint/2010/main" val="2594821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3" name="Imagen 2">
            <a:extLst>
              <a:ext uri="{FF2B5EF4-FFF2-40B4-BE49-F238E27FC236}">
                <a16:creationId xmlns:a16="http://schemas.microsoft.com/office/drawing/2014/main" id="{3FE379AC-14BA-0D80-78A8-2080EA36BF69}"/>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2813"/>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dirty="0" err="1">
                <a:solidFill>
                  <a:srgbClr val="1A1A1A"/>
                </a:solidFill>
                <a:latin typeface="Plus Jakarta Sans ExtraBold"/>
                <a:cs typeface="Plus Jakarta Sans ExtraBold"/>
                <a:sym typeface="Plus Jakarta Sans ExtraBold"/>
              </a:rPr>
              <a:t>Alcance</a:t>
            </a:r>
            <a:endParaRPr dirty="0"/>
          </a:p>
        </p:txBody>
      </p:sp>
      <p:sp>
        <p:nvSpPr>
          <p:cNvPr id="24" name="TextBox 23"/>
          <p:cNvSpPr txBox="1"/>
          <p:nvPr/>
        </p:nvSpPr>
        <p:spPr>
          <a:xfrm>
            <a:off x="822960" y="1463040"/>
            <a:ext cx="4937760" cy="365760"/>
          </a:xfrm>
          <a:prstGeom prst="rect">
            <a:avLst/>
          </a:prstGeom>
          <a:noFill/>
        </p:spPr>
        <p:txBody>
          <a:bodyPr wrap="square">
            <a:spAutoFit/>
          </a:bodyPr>
          <a:lstStyle/>
          <a:p>
            <a:pPr algn="l"/>
            <a:r>
              <a:rPr sz="2200" b="1" dirty="0">
                <a:solidFill>
                  <a:srgbClr val="3369CD"/>
                </a:solidFill>
                <a:latin typeface="Arial"/>
              </a:rPr>
              <a:t>Lo que el sistema hace</a:t>
            </a:r>
            <a:endParaRPr sz="2200" b="1" dirty="0">
              <a:solidFill>
                <a:srgbClr val="1F3B73"/>
              </a:solidFill>
              <a:latin typeface="Arial"/>
            </a:endParaRPr>
          </a:p>
        </p:txBody>
      </p:sp>
      <p:sp>
        <p:nvSpPr>
          <p:cNvPr id="25" name="TextBox 24"/>
          <p:cNvSpPr txBox="1"/>
          <p:nvPr/>
        </p:nvSpPr>
        <p:spPr>
          <a:xfrm>
            <a:off x="822960" y="2011680"/>
            <a:ext cx="4937760" cy="786384"/>
          </a:xfrm>
          <a:prstGeom prst="rect">
            <a:avLst/>
          </a:prstGeom>
          <a:noFill/>
        </p:spPr>
        <p:txBody>
          <a:bodyPr wrap="square">
            <a:spAutoFit/>
          </a:bodyPr>
          <a:lstStyle/>
          <a:p>
            <a:r>
              <a:rPr sz="1700">
                <a:solidFill>
                  <a:srgbClr val="1A1A1A"/>
                </a:solidFill>
                <a:latin typeface="Arial"/>
              </a:rPr>
              <a:t>Agenda citas sobre un calendario de disponibilidad real.</a:t>
            </a:r>
          </a:p>
        </p:txBody>
      </p:sp>
      <p:sp>
        <p:nvSpPr>
          <p:cNvPr id="26" name="TextBox 25"/>
          <p:cNvSpPr txBox="1"/>
          <p:nvPr/>
        </p:nvSpPr>
        <p:spPr>
          <a:xfrm>
            <a:off x="822960" y="2798064"/>
            <a:ext cx="4937760" cy="786384"/>
          </a:xfrm>
          <a:prstGeom prst="rect">
            <a:avLst/>
          </a:prstGeom>
          <a:noFill/>
        </p:spPr>
        <p:txBody>
          <a:bodyPr wrap="square">
            <a:spAutoFit/>
          </a:bodyPr>
          <a:lstStyle/>
          <a:p>
            <a:r>
              <a:rPr sz="1700">
                <a:solidFill>
                  <a:srgbClr val="1A1A1A"/>
                </a:solidFill>
                <a:latin typeface="Arial"/>
              </a:rPr>
              <a:t>Aplica en el servidor la separación mínima de 30 minutos.</a:t>
            </a:r>
          </a:p>
        </p:txBody>
      </p:sp>
      <p:sp>
        <p:nvSpPr>
          <p:cNvPr id="27" name="TextBox 26"/>
          <p:cNvSpPr txBox="1"/>
          <p:nvPr/>
        </p:nvSpPr>
        <p:spPr>
          <a:xfrm>
            <a:off x="822960" y="3584448"/>
            <a:ext cx="4937760" cy="786384"/>
          </a:xfrm>
          <a:prstGeom prst="rect">
            <a:avLst/>
          </a:prstGeom>
          <a:noFill/>
        </p:spPr>
        <p:txBody>
          <a:bodyPr wrap="square">
            <a:spAutoFit/>
          </a:bodyPr>
          <a:lstStyle/>
          <a:p>
            <a:r>
              <a:rPr sz="1700">
                <a:solidFill>
                  <a:srgbClr val="1A1A1A"/>
                </a:solidFill>
                <a:latin typeface="Arial"/>
              </a:rPr>
              <a:t>Reserva al médico la historia, el diagnóstico y la receta.</a:t>
            </a:r>
          </a:p>
        </p:txBody>
      </p:sp>
      <p:sp>
        <p:nvSpPr>
          <p:cNvPr id="28" name="TextBox 27"/>
          <p:cNvSpPr txBox="1"/>
          <p:nvPr/>
        </p:nvSpPr>
        <p:spPr>
          <a:xfrm>
            <a:off x="822960" y="4370832"/>
            <a:ext cx="4937760" cy="786384"/>
          </a:xfrm>
          <a:prstGeom prst="rect">
            <a:avLst/>
          </a:prstGeom>
          <a:noFill/>
        </p:spPr>
        <p:txBody>
          <a:bodyPr wrap="square">
            <a:spAutoFit/>
          </a:bodyPr>
          <a:lstStyle/>
          <a:p>
            <a:r>
              <a:rPr sz="1700">
                <a:solidFill>
                  <a:srgbClr val="1A1A1A"/>
                </a:solidFill>
                <a:latin typeface="Arial"/>
              </a:rPr>
              <a:t>Permite al paciente consultar sus historias y sus recetas.</a:t>
            </a:r>
          </a:p>
        </p:txBody>
      </p:sp>
      <p:sp>
        <p:nvSpPr>
          <p:cNvPr id="29" name="TextBox 28"/>
          <p:cNvSpPr txBox="1"/>
          <p:nvPr/>
        </p:nvSpPr>
        <p:spPr>
          <a:xfrm>
            <a:off x="822960" y="5157216"/>
            <a:ext cx="4937760" cy="786384"/>
          </a:xfrm>
          <a:prstGeom prst="rect">
            <a:avLst/>
          </a:prstGeom>
          <a:noFill/>
        </p:spPr>
        <p:txBody>
          <a:bodyPr wrap="square">
            <a:spAutoFit/>
          </a:bodyPr>
          <a:lstStyle/>
          <a:p>
            <a:r>
              <a:rPr sz="1700">
                <a:solidFill>
                  <a:srgbClr val="1A1A1A"/>
                </a:solidFill>
                <a:latin typeface="Arial"/>
              </a:rPr>
              <a:t>Registra los exámenes de laboratorio y sus resultados.</a:t>
            </a:r>
          </a:p>
        </p:txBody>
      </p:sp>
      <p:sp>
        <p:nvSpPr>
          <p:cNvPr id="30" name="TextBox 29"/>
          <p:cNvSpPr txBox="1"/>
          <p:nvPr/>
        </p:nvSpPr>
        <p:spPr>
          <a:xfrm>
            <a:off x="6309360" y="1463040"/>
            <a:ext cx="5029200" cy="365760"/>
          </a:xfrm>
          <a:prstGeom prst="rect">
            <a:avLst/>
          </a:prstGeom>
          <a:noFill/>
        </p:spPr>
        <p:txBody>
          <a:bodyPr wrap="square">
            <a:spAutoFit/>
          </a:bodyPr>
          <a:lstStyle/>
          <a:p>
            <a:pPr algn="l"/>
            <a:r>
              <a:rPr sz="2200" b="1" dirty="0">
                <a:solidFill>
                  <a:srgbClr val="3369CD"/>
                </a:solidFill>
                <a:latin typeface="Arial"/>
              </a:rPr>
              <a:t>Lo que queda fuera de esta versión</a:t>
            </a:r>
            <a:endParaRPr sz="2200" b="1" dirty="0">
              <a:solidFill>
                <a:srgbClr val="1F3B73"/>
              </a:solidFill>
              <a:latin typeface="Arial"/>
            </a:endParaRPr>
          </a:p>
        </p:txBody>
      </p:sp>
      <p:sp>
        <p:nvSpPr>
          <p:cNvPr id="31" name="TextBox 30"/>
          <p:cNvSpPr txBox="1"/>
          <p:nvPr/>
        </p:nvSpPr>
        <p:spPr>
          <a:xfrm>
            <a:off x="6309360" y="2011680"/>
            <a:ext cx="5029200" cy="960120"/>
          </a:xfrm>
          <a:prstGeom prst="rect">
            <a:avLst/>
          </a:prstGeom>
          <a:noFill/>
        </p:spPr>
        <p:txBody>
          <a:bodyPr wrap="square">
            <a:spAutoFit/>
          </a:bodyPr>
          <a:lstStyle/>
          <a:p>
            <a:r>
              <a:rPr sz="1700">
                <a:solidFill>
                  <a:srgbClr val="1A1A1A"/>
                </a:solidFill>
                <a:latin typeface="Arial"/>
              </a:rPr>
              <a:t>La notificación por correo o mensaje de texto, que exige un servicio contratado.</a:t>
            </a:r>
          </a:p>
        </p:txBody>
      </p:sp>
      <p:sp>
        <p:nvSpPr>
          <p:cNvPr id="32" name="TextBox 31"/>
          <p:cNvSpPr txBox="1"/>
          <p:nvPr/>
        </p:nvSpPr>
        <p:spPr>
          <a:xfrm>
            <a:off x="6309360" y="2971800"/>
            <a:ext cx="5029200" cy="960120"/>
          </a:xfrm>
          <a:prstGeom prst="rect">
            <a:avLst/>
          </a:prstGeom>
          <a:noFill/>
        </p:spPr>
        <p:txBody>
          <a:bodyPr wrap="square">
            <a:spAutoFit/>
          </a:bodyPr>
          <a:lstStyle/>
          <a:p>
            <a:r>
              <a:rPr sz="1700">
                <a:solidFill>
                  <a:srgbClr val="1A1A1A"/>
                </a:solidFill>
                <a:latin typeface="Arial"/>
              </a:rPr>
              <a:t>El cifrado en reposo y en tránsito, que depende del despliegue.</a:t>
            </a:r>
          </a:p>
        </p:txBody>
      </p:sp>
      <p:sp>
        <p:nvSpPr>
          <p:cNvPr id="33" name="TextBox 32"/>
          <p:cNvSpPr txBox="1"/>
          <p:nvPr/>
        </p:nvSpPr>
        <p:spPr>
          <a:xfrm>
            <a:off x="6309360" y="3931920"/>
            <a:ext cx="5029200" cy="960120"/>
          </a:xfrm>
          <a:prstGeom prst="rect">
            <a:avLst/>
          </a:prstGeom>
          <a:noFill/>
        </p:spPr>
        <p:txBody>
          <a:bodyPr wrap="square">
            <a:spAutoFit/>
          </a:bodyPr>
          <a:lstStyle/>
          <a:p>
            <a:r>
              <a:rPr sz="1700">
                <a:solidFill>
                  <a:srgbClr val="1A1A1A"/>
                </a:solidFill>
                <a:latin typeface="Arial"/>
              </a:rPr>
              <a:t>La firma digital certificada de la historia clínica.</a:t>
            </a:r>
          </a:p>
        </p:txBody>
      </p:sp>
      <p:sp>
        <p:nvSpPr>
          <p:cNvPr id="34" name="TextBox 33"/>
          <p:cNvSpPr txBox="1"/>
          <p:nvPr/>
        </p:nvSpPr>
        <p:spPr>
          <a:xfrm>
            <a:off x="6309360" y="4539320"/>
            <a:ext cx="5029200" cy="960120"/>
          </a:xfrm>
          <a:prstGeom prst="rect">
            <a:avLst/>
          </a:prstGeom>
          <a:noFill/>
        </p:spPr>
        <p:txBody>
          <a:bodyPr wrap="square">
            <a:spAutoFit/>
          </a:bodyPr>
          <a:lstStyle/>
          <a:p>
            <a:r>
              <a:rPr sz="1700" dirty="0">
                <a:solidFill>
                  <a:srgbClr val="1A1A1A"/>
                </a:solidFill>
                <a:latin typeface="Arial"/>
              </a:rPr>
              <a:t>La aplicación móvil nativa, porque la interfaz ya responde en el navegador.</a:t>
            </a:r>
          </a:p>
        </p:txBody>
      </p:sp>
    </p:spTree>
    <p:extLst>
      <p:ext uri="{BB962C8B-B14F-4D97-AF65-F5344CB8AC3E}">
        <p14:creationId xmlns:p14="http://schemas.microsoft.com/office/powerpoint/2010/main" val="522629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7" name="Imagen 6">
            <a:extLst>
              <a:ext uri="{FF2B5EF4-FFF2-40B4-BE49-F238E27FC236}">
                <a16:creationId xmlns:a16="http://schemas.microsoft.com/office/drawing/2014/main" id="{55135A98-CE2B-358F-3B61-F64EC00709FA}"/>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2813"/>
            <a:ext cx="3010889"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dirty="0" err="1">
                <a:solidFill>
                  <a:srgbClr val="1A1A1A"/>
                </a:solidFill>
                <a:latin typeface="Plus Jakarta Sans ExtraBold"/>
                <a:cs typeface="Plus Jakarta Sans ExtraBold"/>
                <a:sym typeface="Plus Jakarta Sans ExtraBold"/>
              </a:rPr>
              <a:t>Riesgos</a:t>
            </a:r>
            <a:endParaRPr dirty="0"/>
          </a:p>
        </p:txBody>
      </p:sp>
      <p:sp>
        <p:nvSpPr>
          <p:cNvPr id="24" name="TextBox 23"/>
          <p:cNvSpPr txBox="1"/>
          <p:nvPr/>
        </p:nvSpPr>
        <p:spPr>
          <a:xfrm>
            <a:off x="866794" y="1379055"/>
            <a:ext cx="10424160" cy="749808"/>
          </a:xfrm>
          <a:prstGeom prst="rect">
            <a:avLst/>
          </a:prstGeom>
          <a:noFill/>
        </p:spPr>
        <p:txBody>
          <a:bodyPr wrap="square">
            <a:spAutoFit/>
          </a:bodyPr>
          <a:lstStyle/>
          <a:p>
            <a:r>
              <a:rPr sz="1800" dirty="0">
                <a:solidFill>
                  <a:srgbClr val="1A1A1A"/>
                </a:solidFill>
                <a:latin typeface="Arial"/>
              </a:rPr>
              <a:t>Que la documentación se acumule para el final y el equipo llegue sin tiempo.</a:t>
            </a:r>
          </a:p>
        </p:txBody>
      </p:sp>
      <p:sp>
        <p:nvSpPr>
          <p:cNvPr id="25" name="TextBox 24"/>
          <p:cNvSpPr txBox="1"/>
          <p:nvPr/>
        </p:nvSpPr>
        <p:spPr>
          <a:xfrm>
            <a:off x="866794" y="2060756"/>
            <a:ext cx="10424160" cy="749808"/>
          </a:xfrm>
          <a:prstGeom prst="rect">
            <a:avLst/>
          </a:prstGeom>
          <a:noFill/>
        </p:spPr>
        <p:txBody>
          <a:bodyPr wrap="square">
            <a:spAutoFit/>
          </a:bodyPr>
          <a:lstStyle/>
          <a:p>
            <a:r>
              <a:rPr sz="1800" dirty="0">
                <a:solidFill>
                  <a:srgbClr val="1A1A1A"/>
                </a:solidFill>
                <a:latin typeface="Arial"/>
              </a:rPr>
              <a:t>Que quede sin atender alguna observación de la sustentación anterior.</a:t>
            </a:r>
          </a:p>
        </p:txBody>
      </p:sp>
      <p:sp>
        <p:nvSpPr>
          <p:cNvPr id="26" name="TextBox 25"/>
          <p:cNvSpPr txBox="1"/>
          <p:nvPr/>
        </p:nvSpPr>
        <p:spPr>
          <a:xfrm>
            <a:off x="866794" y="2658758"/>
            <a:ext cx="10424160" cy="749808"/>
          </a:xfrm>
          <a:prstGeom prst="rect">
            <a:avLst/>
          </a:prstGeom>
          <a:noFill/>
        </p:spPr>
        <p:txBody>
          <a:bodyPr wrap="square">
            <a:spAutoFit/>
          </a:bodyPr>
          <a:lstStyle/>
          <a:p>
            <a:r>
              <a:rPr sz="1800" dirty="0">
                <a:solidFill>
                  <a:srgbClr val="1A1A1A"/>
                </a:solidFill>
                <a:latin typeface="Arial"/>
              </a:rPr>
              <a:t>Que el entorno local falle el día de la sustentación y no pueda mostrarse el sistema.</a:t>
            </a:r>
          </a:p>
        </p:txBody>
      </p:sp>
      <p:sp>
        <p:nvSpPr>
          <p:cNvPr id="27" name="TextBox 26"/>
          <p:cNvSpPr txBox="1"/>
          <p:nvPr/>
        </p:nvSpPr>
        <p:spPr>
          <a:xfrm>
            <a:off x="609599" y="3630135"/>
            <a:ext cx="2934689" cy="415498"/>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indent="0">
              <a:buNone/>
              <a:defRPr sz="2700">
                <a:solidFill>
                  <a:srgbClr val="003366"/>
                </a:solidFill>
                <a:latin typeface="Plus Jakarta Sans ExtraBold"/>
                <a:cs typeface="Plus Jakarta Sans ExtraBold"/>
              </a:defRPr>
            </a:lvl1pPr>
          </a:lstStyle>
          <a:p>
            <a:r>
              <a:rPr dirty="0" err="1">
                <a:solidFill/>
              </a:rPr>
              <a:t>Restricciones</a:t>
            </a:r>
            <a:endParaRPr dirty="0"/>
          </a:p>
        </p:txBody>
      </p:sp>
      <p:sp>
        <p:nvSpPr>
          <p:cNvPr id="28" name="TextBox 27"/>
          <p:cNvSpPr txBox="1"/>
          <p:nvPr/>
        </p:nvSpPr>
        <p:spPr>
          <a:xfrm>
            <a:off x="866794" y="4488771"/>
            <a:ext cx="10424160" cy="713232"/>
          </a:xfrm>
          <a:prstGeom prst="rect">
            <a:avLst/>
          </a:prstGeom>
          <a:noFill/>
        </p:spPr>
        <p:txBody>
          <a:bodyPr wrap="square">
            <a:spAutoFit/>
          </a:bodyPr>
          <a:lstStyle/>
          <a:p>
            <a:r>
              <a:rPr sz="1800" dirty="0">
                <a:solidFill>
                  <a:srgbClr val="1A1A1A"/>
                </a:solidFill>
                <a:latin typeface="Arial"/>
              </a:rPr>
              <a:t>El sistema opera sobre un entorno local con XAMPP y no sobre producción.</a:t>
            </a:r>
          </a:p>
        </p:txBody>
      </p:sp>
      <p:sp>
        <p:nvSpPr>
          <p:cNvPr id="29" name="TextBox 28"/>
          <p:cNvSpPr txBox="1"/>
          <p:nvPr/>
        </p:nvSpPr>
        <p:spPr>
          <a:xfrm>
            <a:off x="866794" y="5102366"/>
            <a:ext cx="10424160" cy="713232"/>
          </a:xfrm>
          <a:prstGeom prst="rect">
            <a:avLst/>
          </a:prstGeom>
          <a:noFill/>
        </p:spPr>
        <p:txBody>
          <a:bodyPr wrap="square">
            <a:spAutoFit/>
          </a:bodyPr>
          <a:lstStyle/>
          <a:p>
            <a:r>
              <a:rPr sz="1800" dirty="0" err="1">
                <a:solidFill>
                  <a:srgbClr val="1A1A1A"/>
                </a:solidFill>
                <a:latin typeface="Arial"/>
              </a:rPr>
              <a:t>El calendario solo ofrece turnos de los médicos con disponibilidad cargada.</a:t>
            </a:r>
          </a:p>
        </p:txBody>
      </p:sp>
      <p:sp>
        <p:nvSpPr>
          <p:cNvPr id="30" name="TextBox 29"/>
          <p:cNvSpPr txBox="1"/>
          <p:nvPr/>
        </p:nvSpPr>
        <p:spPr>
          <a:xfrm>
            <a:off x="866794" y="5920700"/>
            <a:ext cx="10424160" cy="713232"/>
          </a:xfrm>
          <a:prstGeom prst="rect">
            <a:avLst/>
          </a:prstGeom>
          <a:noFill/>
        </p:spPr>
        <p:txBody>
          <a:bodyPr wrap="square">
            <a:spAutoFit/>
          </a:bodyPr>
          <a:lstStyle/>
          <a:p>
            <a:r>
              <a:rPr sz="1800" dirty="0">
                <a:solidFill>
                  <a:srgbClr val="1A1A1A"/>
                </a:solidFill>
                <a:latin typeface="Arial"/>
              </a:rPr>
              <a:t>La operación requiere la base de datos, porque las reglas se resuelven en el servidor.</a:t>
            </a:r>
          </a:p>
        </p:txBody>
      </p:sp>
      <p:sp>
        <p:nvSpPr>
          <p:cNvPr id="3" name="Google Shape;132;p15">
            <a:extLst>
              <a:ext uri="{FF2B5EF4-FFF2-40B4-BE49-F238E27FC236}">
                <a16:creationId xmlns:a16="http://schemas.microsoft.com/office/drawing/2014/main" id="{895647D8-DDEA-64DB-F361-80CB0A5C0069}"/>
              </a:ext>
            </a:extLst>
          </p:cNvPr>
          <p:cNvSpPr/>
          <p:nvPr/>
        </p:nvSpPr>
        <p:spPr>
          <a:xfrm>
            <a:off x="611840" y="4056570"/>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50514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5" name="Imagen 4">
            <a:extLst>
              <a:ext uri="{FF2B5EF4-FFF2-40B4-BE49-F238E27FC236}">
                <a16:creationId xmlns:a16="http://schemas.microsoft.com/office/drawing/2014/main" id="{B496BD96-8A3E-82A4-36C0-B5786AAABEE1}"/>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2813"/>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dirty="0" err="1">
                <a:solidFill>
                  <a:srgbClr val="1A1A1A"/>
                </a:solidFill>
                <a:latin typeface="Plus Jakarta Sans ExtraBold"/>
                <a:cs typeface="Plus Jakarta Sans ExtraBold"/>
                <a:sym typeface="Plus Jakarta Sans ExtraBold"/>
              </a:rPr>
              <a:t>Cronograma de Actividades</a:t>
            </a:r>
            <a:endParaRPr dirty="0"/>
          </a:p>
        </p:txBody>
      </p:sp>
      <p:pic>
        <p:nvPicPr>
          <p:cNvPr id="3" name="Imagen 2">
            <a:extLst>
              <a:ext uri="{FF2B5EF4-FFF2-40B4-BE49-F238E27FC236}">
                <a16:creationId xmlns:a16="http://schemas.microsoft.com/office/drawing/2014/main" id="{6BB79987-214D-2C75-1C6F-01079C1BA8EE}"/>
              </a:ext>
            </a:extLst>
          </p:cNvPr>
          <p:cNvPicPr>
            <a:picLocks noChangeAspect="1"/>
          </p:cNvPicPr>
          <p:nvPr/>
        </p:nvPicPr>
        <p:blipFill>
          <a:blip r:embed="rId7"/>
          <a:stretch>
            <a:fillRect/>
          </a:stretch>
        </p:blipFill>
        <p:spPr>
          <a:xfrm>
            <a:off x="939869" y="1457033"/>
            <a:ext cx="10312258" cy="4918154"/>
          </a:xfrm>
          <a:prstGeom prst="rect">
            <a:avLst/>
          </a:prstGeom>
          <a:ln>
            <a:noFill/>
          </a:ln>
        </p:spPr>
      </p:pic>
    </p:spTree>
    <p:extLst>
      <p:ext uri="{BB962C8B-B14F-4D97-AF65-F5344CB8AC3E}">
        <p14:creationId xmlns:p14="http://schemas.microsoft.com/office/powerpoint/2010/main" val="3305453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2" name="Google Shape;170;p11">
            <a:extLst>
              <a:ext uri="{FF2B5EF4-FFF2-40B4-BE49-F238E27FC236}">
                <a16:creationId xmlns:a16="http://schemas.microsoft.com/office/drawing/2014/main" id="{22E24F0A-EE5A-6939-818B-24451CD36525}"/>
              </a:ext>
            </a:extLst>
          </p:cNvPr>
          <p:cNvSpPr txBox="1"/>
          <p:nvPr/>
        </p:nvSpPr>
        <p:spPr>
          <a:xfrm>
            <a:off x="2761342" y="2920582"/>
            <a:ext cx="6669315" cy="101683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6000"/>
              <a:buFont typeface="Arial"/>
              <a:buNone/>
            </a:pPr>
            <a:r>
              <a:rPr lang="es-CO" sz="4800" b="1" i="0" u="none" strike="noStrike" cap="none" dirty="0">
                <a:solidFill>
                  <a:schemeClr val="lt1"/>
                </a:solidFill>
                <a:latin typeface="Arial"/>
                <a:ea typeface="Arial"/>
                <a:cs typeface="Arial"/>
                <a:sym typeface="Arial"/>
              </a:rPr>
              <a:t>II. ANÁLISIS</a:t>
            </a:r>
            <a:endParaRPr sz="1100" dirty="0"/>
          </a:p>
        </p:txBody>
      </p:sp>
      <p:pic>
        <p:nvPicPr>
          <p:cNvPr id="3" name="Google Shape;84;p13" descr="image.png">
            <a:extLst>
              <a:ext uri="{FF2B5EF4-FFF2-40B4-BE49-F238E27FC236}">
                <a16:creationId xmlns:a16="http://schemas.microsoft.com/office/drawing/2014/main" id="{AF178EBC-A15A-FF95-0807-A3E2F4C0FDBB}"/>
              </a:ext>
            </a:extLst>
          </p:cNvPr>
          <p:cNvPicPr preferRelativeResize="0"/>
          <p:nvPr/>
        </p:nvPicPr>
        <p:blipFill rotWithShape="1">
          <a:blip r:embed="rId4">
            <a:alphaModFix/>
          </a:blip>
          <a:srcRect t="99333"/>
          <a:stretch/>
        </p:blipFill>
        <p:spPr>
          <a:xfrm>
            <a:off x="0" y="6820763"/>
            <a:ext cx="12192000" cy="45719"/>
          </a:xfrm>
          <a:prstGeom prst="rect">
            <a:avLst/>
          </a:prstGeom>
          <a:noFill/>
          <a:ln>
            <a:noFill/>
          </a:ln>
        </p:spPr>
      </p:pic>
    </p:spTree>
    <p:extLst>
      <p:ext uri="{BB962C8B-B14F-4D97-AF65-F5344CB8AC3E}">
        <p14:creationId xmlns:p14="http://schemas.microsoft.com/office/powerpoint/2010/main" val="824405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5" name="Imagen 4">
            <a:extLst>
              <a:ext uri="{FF2B5EF4-FFF2-40B4-BE49-F238E27FC236}">
                <a16:creationId xmlns:a16="http://schemas.microsoft.com/office/drawing/2014/main" id="{5B922EC7-5F81-65CB-56EA-E37EF9E9944F}"/>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2813"/>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dirty="0" err="1">
                <a:solidFill>
                  <a:srgbClr val="1A1A1A"/>
                </a:solidFill>
                <a:latin typeface="Plus Jakarta Sans ExtraBold"/>
                <a:cs typeface="Plus Jakarta Sans ExtraBold"/>
                <a:sym typeface="Plus Jakarta Sans ExtraBold"/>
              </a:rPr>
              <a:t>Herramientas para la Captura de Requisitos</a:t>
            </a:r>
            <a:endParaRPr dirty="0"/>
          </a:p>
        </p:txBody>
      </p:sp>
      <p:sp>
        <p:nvSpPr>
          <p:cNvPr id="24" name="TextBox 23"/>
          <p:cNvSpPr txBox="1"/>
          <p:nvPr/>
        </p:nvSpPr>
        <p:spPr>
          <a:xfrm>
            <a:off x="822960" y="1325880"/>
            <a:ext cx="3657600" cy="411480"/>
          </a:xfrm>
          <a:prstGeom prst="rect">
            <a:avLst/>
          </a:prstGeom>
          <a:noFill/>
        </p:spPr>
        <p:txBody>
          <a:bodyPr wrap="square">
            <a:spAutoFit/>
          </a:bodyPr>
          <a:lstStyle/>
          <a:p>
            <a:pPr algn="l"/>
            <a:r>
              <a:rPr sz="2200" b="1" dirty="0" err="1">
                <a:solidFill>
                  <a:srgbClr val="3369CD"/>
                </a:solidFill>
                <a:latin typeface="Arial"/>
              </a:rPr>
              <a:t>Encuesta</a:t>
            </a:r>
            <a:endParaRPr sz="2200" b="1" dirty="0">
              <a:solidFill>
                <a:srgbClr val="1F3B73"/>
              </a:solidFill>
              <a:latin typeface="Arial"/>
            </a:endParaRPr>
          </a:p>
        </p:txBody>
      </p:sp>
      <p:sp>
        <p:nvSpPr>
          <p:cNvPr id="25" name="TextBox 24"/>
          <p:cNvSpPr txBox="1"/>
          <p:nvPr/>
        </p:nvSpPr>
        <p:spPr>
          <a:xfrm>
            <a:off x="822960" y="1783080"/>
            <a:ext cx="10515600" cy="914400"/>
          </a:xfrm>
          <a:prstGeom prst="rect">
            <a:avLst/>
          </a:prstGeom>
          <a:noFill/>
        </p:spPr>
        <p:txBody>
          <a:bodyPr wrap="square">
            <a:spAutoFit/>
          </a:bodyPr>
          <a:lstStyle/>
          <a:p>
            <a:pPr algn="l"/>
            <a:r>
              <a:rPr sz="1800" b="0" dirty="0" err="1">
                <a:solidFill>
                  <a:srgbClr val="1A1A1A"/>
                </a:solidFill>
                <a:latin typeface="Arial"/>
              </a:rPr>
              <a:t>Cuestionario de doce preguntas cerradas aplicado a 48 usuarios de centros de salud de Cúcuta, agrupadas en cuatro bloques que indagaban cómo solicitan hoy su cita, cuánto tardan en obtenerla, qué inconvenientes han sufrido y de qué manera preferirían agendarla.</a:t>
            </a:r>
          </a:p>
        </p:txBody>
      </p:sp>
      <p:pic>
        <p:nvPicPr>
          <p:cNvPr id="26" name="Picture 25" descr="FIG-encuesta-contraste.png"/>
          <p:cNvPicPr>
            <a:picLocks noChangeAspect="1"/>
          </p:cNvPicPr>
          <p:nvPr/>
        </p:nvPicPr>
        <p:blipFill>
          <a:blip r:embed="rId7"/>
          <a:stretch>
            <a:fillRect/>
          </a:stretch>
        </p:blipFill>
        <p:spPr>
          <a:xfrm>
            <a:off x="685800" y="2823541"/>
            <a:ext cx="10835640" cy="2582516"/>
          </a:xfrm>
          <a:prstGeom prst="rect">
            <a:avLst/>
          </a:prstGeom>
          <a:ln>
            <a:noFill/>
          </a:ln>
        </p:spPr>
      </p:pic>
      <p:sp>
        <p:nvSpPr>
          <p:cNvPr id="27" name="TextBox 26"/>
          <p:cNvSpPr txBox="1"/>
          <p:nvPr/>
        </p:nvSpPr>
        <p:spPr>
          <a:xfrm>
            <a:off x="822960" y="5623560"/>
            <a:ext cx="10515600" cy="457200"/>
          </a:xfrm>
          <a:prstGeom prst="rect">
            <a:avLst/>
          </a:prstGeom>
          <a:noFill/>
        </p:spPr>
        <p:txBody>
          <a:bodyPr wrap="square">
            <a:spAutoFit/>
          </a:bodyPr>
          <a:lstStyle/>
          <a:p>
            <a:pPr algn="l"/>
            <a:r>
              <a:rPr sz="2200" b="1" dirty="0" err="1">
                <a:solidFill>
                  <a:srgbClr val="3369CD"/>
                </a:solidFill>
                <a:latin typeface="Arial"/>
              </a:rPr>
              <a:t>Quieren elegir ellos mismos el horario libre y que la cita quede en firme de inmediato.</a:t>
            </a:r>
          </a:p>
        </p:txBody>
      </p:sp>
    </p:spTree>
    <p:extLst>
      <p:ext uri="{BB962C8B-B14F-4D97-AF65-F5344CB8AC3E}">
        <p14:creationId xmlns:p14="http://schemas.microsoft.com/office/powerpoint/2010/main" val="468445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4" name="Imagen 3">
            <a:extLst>
              <a:ext uri="{FF2B5EF4-FFF2-40B4-BE49-F238E27FC236}">
                <a16:creationId xmlns:a16="http://schemas.microsoft.com/office/drawing/2014/main" id="{8C6FEE11-CC7D-21F9-56AC-C5FE0C4833BD}"/>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2813"/>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dirty="0" err="1">
                <a:solidFill>
                  <a:srgbClr val="1A1A1A"/>
                </a:solidFill>
                <a:latin typeface="Plus Jakarta Sans ExtraBold"/>
                <a:cs typeface="Plus Jakarta Sans ExtraBold"/>
                <a:sym typeface="Plus Jakarta Sans ExtraBold"/>
              </a:rPr>
              <a:t>Historias de Usuario</a:t>
            </a:r>
            <a:endParaRPr dirty="0"/>
          </a:p>
        </p:txBody>
      </p:sp>
      <p:sp>
        <p:nvSpPr>
          <p:cNvPr id="24" name="TextBox 23"/>
          <p:cNvSpPr txBox="1"/>
          <p:nvPr/>
        </p:nvSpPr>
        <p:spPr>
          <a:xfrm>
            <a:off x="822960" y="1380957"/>
            <a:ext cx="5486400" cy="365760"/>
          </a:xfrm>
          <a:prstGeom prst="rect">
            <a:avLst/>
          </a:prstGeom>
          <a:noFill/>
        </p:spPr>
        <p:txBody>
          <a:bodyPr wrap="square">
            <a:spAutoFit/>
          </a:bodyPr>
          <a:lstStyle/>
          <a:p>
            <a:pPr algn="l"/>
            <a:r>
              <a:rPr sz="2000" b="1">
                <a:solidFill>
                  <a:srgbClr val="3369CD"/>
                </a:solidFill>
                <a:latin typeface="Arial"/>
              </a:rPr>
              <a:t>Derivadas de la encuesta</a:t>
            </a:r>
          </a:p>
        </p:txBody>
      </p:sp>
      <p:sp>
        <p:nvSpPr>
          <p:cNvPr id="25" name="TextBox 24"/>
          <p:cNvSpPr txBox="1"/>
          <p:nvPr/>
        </p:nvSpPr>
        <p:spPr>
          <a:xfrm>
            <a:off x="822960" y="2167135"/>
            <a:ext cx="10424160" cy="1280160"/>
          </a:xfrm>
          <a:prstGeom prst="rect">
            <a:avLst/>
          </a:prstGeom>
          <a:noFill/>
        </p:spPr>
        <p:txBody>
          <a:bodyPr wrap="square">
            <a:spAutoFit/>
          </a:bodyPr>
          <a:lstStyle/>
          <a:p>
            <a:r>
              <a:rPr sz="1900" dirty="0">
                <a:solidFill>
                  <a:srgbClr val="1A1A1A"/>
                </a:solidFill>
                <a:latin typeface="Arial"/>
              </a:rPr>
              <a:t>HU-03. Como paciente, quiero ver en un calendario los horarios libres de cada médico para escoger el que me convenga sin preguntar por ellos.</a:t>
            </a:r>
          </a:p>
        </p:txBody>
      </p:sp>
      <p:sp>
        <p:nvSpPr>
          <p:cNvPr id="26" name="TextBox 25"/>
          <p:cNvSpPr txBox="1"/>
          <p:nvPr/>
        </p:nvSpPr>
        <p:spPr>
          <a:xfrm>
            <a:off x="822960" y="3447295"/>
            <a:ext cx="10424160" cy="1280160"/>
          </a:xfrm>
          <a:prstGeom prst="rect">
            <a:avLst/>
          </a:prstGeom>
          <a:noFill/>
        </p:spPr>
        <p:txBody>
          <a:bodyPr wrap="square">
            <a:spAutoFit/>
          </a:bodyPr>
          <a:lstStyle/>
          <a:p>
            <a:r>
              <a:rPr sz="1900">
                <a:solidFill>
                  <a:srgbClr val="1A1A1A"/>
                </a:solidFill>
                <a:latin typeface="Arial"/>
              </a:rPr>
              <a:t>HU-04. Como paciente, quiero que el horario que elijo quede agendado en el momento para no tener que esperar a que un tercero me lo confirme.</a:t>
            </a:r>
          </a:p>
        </p:txBody>
      </p:sp>
      <p:sp>
        <p:nvSpPr>
          <p:cNvPr id="27" name="TextBox 26"/>
          <p:cNvSpPr txBox="1"/>
          <p:nvPr/>
        </p:nvSpPr>
        <p:spPr>
          <a:xfrm>
            <a:off x="822960" y="4727455"/>
            <a:ext cx="10424160" cy="1280160"/>
          </a:xfrm>
          <a:prstGeom prst="rect">
            <a:avLst/>
          </a:prstGeom>
          <a:noFill/>
        </p:spPr>
        <p:txBody>
          <a:bodyPr wrap="square">
            <a:spAutoFit/>
          </a:bodyPr>
          <a:lstStyle/>
          <a:p>
            <a:r>
              <a:rPr sz="1900">
                <a:solidFill>
                  <a:srgbClr val="1A1A1A"/>
                </a:solidFill>
                <a:latin typeface="Arial"/>
              </a:rPr>
              <a:t>HU-11. Como médico, quiero registrar la historia clínica del paciente que atiendo para dejar constancia de su evolución bajo mi propia autoría.</a:t>
            </a:r>
          </a:p>
        </p:txBody>
      </p:sp>
    </p:spTree>
    <p:extLst>
      <p:ext uri="{BB962C8B-B14F-4D97-AF65-F5344CB8AC3E}">
        <p14:creationId xmlns:p14="http://schemas.microsoft.com/office/powerpoint/2010/main" val="129043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4" name="Imagen 3">
            <a:extLst>
              <a:ext uri="{FF2B5EF4-FFF2-40B4-BE49-F238E27FC236}">
                <a16:creationId xmlns:a16="http://schemas.microsoft.com/office/drawing/2014/main" id="{8281CAFD-4757-AFE4-44EC-53402AD81F45}"/>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2813"/>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dirty="0">
                <a:solidFill>
                  <a:srgbClr val="1A1A1A"/>
                </a:solidFill>
                <a:latin typeface="Plus Jakarta Sans ExtraBold"/>
                <a:cs typeface="Plus Jakarta Sans ExtraBold"/>
                <a:sym typeface="Plus Jakarta Sans ExtraBold"/>
              </a:rPr>
              <a:t>Requisitos Funcionales Relacionados</a:t>
            </a:r>
            <a:endParaRPr dirty="0"/>
          </a:p>
        </p:txBody>
      </p:sp>
      <p:graphicFrame>
        <p:nvGraphicFramePr>
          <p:cNvPr id="24" name="Table 23"/>
          <p:cNvGraphicFramePr>
            <a:graphicFrameLocks noGrp="1"/>
          </p:cNvGraphicFramePr>
          <p:nvPr>
            <p:extLst>
              <p:ext uri="{D42A27DB-BD31-4B8C-83A1-F6EECF244321}">
                <p14:modId xmlns:p14="http://schemas.microsoft.com/office/powerpoint/2010/main" val="3660722467"/>
              </p:ext>
            </p:extLst>
          </p:nvPr>
        </p:nvGraphicFramePr>
        <p:xfrm>
          <a:off x="713385" y="2095640"/>
          <a:ext cx="10835640" cy="310896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989320">
                  <a:extLst>
                    <a:ext uri="{9D8B030D-6E8A-4147-A177-3AD203B41FA5}">
                      <a16:colId xmlns:a16="http://schemas.microsoft.com/office/drawing/2014/main" val="20002"/>
                    </a:ext>
                  </a:extLst>
                </a:gridCol>
              </a:tblGrid>
              <a:tr h="621792">
                <a:tc>
                  <a:txBody>
                    <a:bodyPr/>
                    <a:lstStyle/>
                    <a:p>
                      <a:pPr algn="ctr"/>
                      <a:r>
                        <a:rPr sz="1700" b="1" dirty="0">
                          <a:solidFill>
                            <a:srgbClr val="FFFFFF"/>
                          </a:solidFill>
                          <a:latin typeface="Arial"/>
                        </a:rPr>
                        <a:t>Código</a:t>
                      </a:r>
                    </a:p>
                  </a:txBody>
                  <a:tcPr marL="73152" marR="73152" marT="27432" marB="27432">
                    <a:solidFill>
                      <a:srgbClr val="1F3B73"/>
                    </a:solidFill>
                  </a:tcPr>
                </a:tc>
                <a:tc>
                  <a:txBody>
                    <a:bodyPr/>
                    <a:lstStyle/>
                    <a:p>
                      <a:pPr algn="ctr"/>
                      <a:r>
                        <a:rPr sz="1700" b="1" dirty="0" err="1">
                          <a:solidFill>
                            <a:srgbClr val="FFFFFF"/>
                          </a:solidFill>
                          <a:latin typeface="Arial"/>
                        </a:rPr>
                        <a:t>Requisito</a:t>
                      </a:r>
                      <a:endParaRPr sz="1700" b="1" dirty="0">
                        <a:solidFill>
                          <a:srgbClr val="FFFFFF"/>
                        </a:solidFill>
                        <a:latin typeface="Arial"/>
                      </a:endParaRPr>
                    </a:p>
                  </a:txBody>
                  <a:tcPr marL="73152" marR="73152" marT="27432" marB="27432">
                    <a:solidFill>
                      <a:srgbClr val="1F3B73"/>
                    </a:solidFill>
                  </a:tcPr>
                </a:tc>
                <a:tc>
                  <a:txBody>
                    <a:bodyPr/>
                    <a:lstStyle/>
                    <a:p>
                      <a:pPr algn="ctr"/>
                      <a:r>
                        <a:rPr sz="1700" b="1">
                          <a:solidFill>
                            <a:srgbClr val="FFFFFF"/>
                          </a:solidFill>
                          <a:latin typeface="Arial"/>
                        </a:rPr>
                        <a:t>Qué resuelve</a:t>
                      </a:r>
                    </a:p>
                  </a:txBody>
                  <a:tcPr marL="73152" marR="73152" marT="27432" marB="27432">
                    <a:solidFill>
                      <a:srgbClr val="1F3B73"/>
                    </a:solidFill>
                  </a:tcPr>
                </a:tc>
                <a:extLst>
                  <a:ext uri="{0D108BD9-81ED-4DB2-BD59-A6C34878D82A}">
                    <a16:rowId xmlns:a16="http://schemas.microsoft.com/office/drawing/2014/main" val="10000"/>
                  </a:ext>
                </a:extLst>
              </a:tr>
              <a:tr h="621792">
                <a:tc>
                  <a:txBody>
                    <a:bodyPr/>
                    <a:lstStyle/>
                    <a:p>
                      <a:pPr algn="ctr"/>
                      <a:r>
                        <a:rPr sz="1700" b="0">
                          <a:solidFill>
                            <a:srgbClr val="1A1A1A"/>
                          </a:solidFill>
                          <a:latin typeface="Arial"/>
                        </a:rPr>
                        <a:t>RF 5.8</a:t>
                      </a:r>
                    </a:p>
                  </a:txBody>
                  <a:tcPr marL="73152" marR="73152" marT="27432" marB="27432">
                    <a:solidFill>
                      <a:srgbClr val="FFFFFF"/>
                    </a:solidFill>
                  </a:tcPr>
                </a:tc>
                <a:tc>
                  <a:txBody>
                    <a:bodyPr/>
                    <a:lstStyle/>
                    <a:p>
                      <a:pPr algn="ctr"/>
                      <a:r>
                        <a:rPr sz="1700" b="0">
                          <a:solidFill>
                            <a:srgbClr val="1A1A1A"/>
                          </a:solidFill>
                          <a:latin typeface="Arial"/>
                        </a:rPr>
                        <a:t>Calendario semanal de disponibilidad</a:t>
                      </a:r>
                    </a:p>
                  </a:txBody>
                  <a:tcPr marL="73152" marR="73152" marT="27432" marB="27432">
                    <a:solidFill>
                      <a:srgbClr val="FFFFFF"/>
                    </a:solidFill>
                  </a:tcPr>
                </a:tc>
                <a:tc>
                  <a:txBody>
                    <a:bodyPr/>
                    <a:lstStyle/>
                    <a:p>
                      <a:pPr algn="ctr"/>
                      <a:r>
                        <a:rPr sz="1700" b="0" dirty="0">
                          <a:solidFill>
                            <a:srgbClr val="1A1A1A"/>
                          </a:solidFill>
                          <a:latin typeface="Arial"/>
                        </a:rPr>
                        <a:t>El paciente ve los horarios libres del médico sin preguntar por ellos</a:t>
                      </a:r>
                      <a:endParaRPr sz="1700" b="0" dirty="0">
                        <a:solidFill>
                          <a:srgbClr val="33373D"/>
                        </a:solidFill>
                        <a:latin typeface="Arial"/>
                      </a:endParaRPr>
                    </a:p>
                  </a:txBody>
                  <a:tcPr marL="73152" marR="73152" marT="27432" marB="27432">
                    <a:solidFill>
                      <a:srgbClr val="FFFFFF"/>
                    </a:solidFill>
                  </a:tcPr>
                </a:tc>
                <a:extLst>
                  <a:ext uri="{0D108BD9-81ED-4DB2-BD59-A6C34878D82A}">
                    <a16:rowId xmlns:a16="http://schemas.microsoft.com/office/drawing/2014/main" val="10001"/>
                  </a:ext>
                </a:extLst>
              </a:tr>
              <a:tr h="621792">
                <a:tc>
                  <a:txBody>
                    <a:bodyPr/>
                    <a:lstStyle/>
                    <a:p>
                      <a:pPr algn="ctr"/>
                      <a:r>
                        <a:rPr sz="1700" b="0">
                          <a:solidFill>
                            <a:srgbClr val="1A1A1A"/>
                          </a:solidFill>
                          <a:latin typeface="Arial"/>
                        </a:rPr>
                        <a:t>RF 5.2</a:t>
                      </a:r>
                    </a:p>
                  </a:txBody>
                  <a:tcPr marL="73152" marR="73152" marT="27432" marB="27432">
                    <a:solidFill>
                      <a:srgbClr val="EFF3F9"/>
                    </a:solidFill>
                  </a:tcPr>
                </a:tc>
                <a:tc>
                  <a:txBody>
                    <a:bodyPr/>
                    <a:lstStyle/>
                    <a:p>
                      <a:pPr algn="ctr"/>
                      <a:r>
                        <a:rPr sz="1700" b="0">
                          <a:solidFill>
                            <a:srgbClr val="1A1A1A"/>
                          </a:solidFill>
                          <a:latin typeface="Arial"/>
                        </a:rPr>
                        <a:t>Agendamiento por el propio paciente</a:t>
                      </a:r>
                    </a:p>
                  </a:txBody>
                  <a:tcPr marL="73152" marR="73152" marT="27432" marB="27432">
                    <a:solidFill>
                      <a:srgbClr val="EFF3F9"/>
                    </a:solidFill>
                  </a:tcPr>
                </a:tc>
                <a:tc>
                  <a:txBody>
                    <a:bodyPr/>
                    <a:lstStyle/>
                    <a:p>
                      <a:pPr algn="ctr"/>
                      <a:r>
                        <a:rPr sz="1700" b="0" dirty="0" err="1">
                          <a:solidFill>
                            <a:srgbClr val="1A1A1A"/>
                          </a:solidFill>
                          <a:latin typeface="Arial"/>
                        </a:rPr>
                        <a:t>El horario elegido queda en firme sin esperar la confirmación de un tercero</a:t>
                      </a:r>
                      <a:endParaRPr sz="1700" b="0" dirty="0">
                        <a:solidFill>
                          <a:srgbClr val="33373D"/>
                        </a:solidFill>
                        <a:latin typeface="Arial"/>
                      </a:endParaRPr>
                    </a:p>
                  </a:txBody>
                  <a:tcPr marL="73152" marR="73152" marT="27432" marB="27432">
                    <a:solidFill>
                      <a:srgbClr val="EFF3F9"/>
                    </a:solidFill>
                  </a:tcPr>
                </a:tc>
                <a:extLst>
                  <a:ext uri="{0D108BD9-81ED-4DB2-BD59-A6C34878D82A}">
                    <a16:rowId xmlns:a16="http://schemas.microsoft.com/office/drawing/2014/main" val="10002"/>
                  </a:ext>
                </a:extLst>
              </a:tr>
              <a:tr h="621792">
                <a:tc>
                  <a:txBody>
                    <a:bodyPr/>
                    <a:lstStyle/>
                    <a:p>
                      <a:pPr algn="ctr"/>
                      <a:r>
                        <a:rPr sz="1700" b="0">
                          <a:solidFill>
                            <a:srgbClr val="1A1A1A"/>
                          </a:solidFill>
                          <a:latin typeface="Arial"/>
                        </a:rPr>
                        <a:t>RF 5.4</a:t>
                      </a:r>
                    </a:p>
                  </a:txBody>
                  <a:tcPr marL="73152" marR="73152" marT="27432" marB="27432">
                    <a:solidFill>
                      <a:srgbClr val="FFFFFF"/>
                    </a:solidFill>
                  </a:tcPr>
                </a:tc>
                <a:tc>
                  <a:txBody>
                    <a:bodyPr/>
                    <a:lstStyle/>
                    <a:p>
                      <a:pPr algn="ctr"/>
                      <a:r>
                        <a:rPr sz="1700" b="0">
                          <a:solidFill>
                            <a:srgbClr val="1A1A1A"/>
                          </a:solidFill>
                          <a:latin typeface="Arial"/>
                        </a:rPr>
                        <a:t>Separación mínima entre citas</a:t>
                      </a:r>
                    </a:p>
                  </a:txBody>
                  <a:tcPr marL="73152" marR="73152" marT="27432" marB="27432">
                    <a:solidFill>
                      <a:srgbClr val="FFFFFF"/>
                    </a:solidFill>
                  </a:tcPr>
                </a:tc>
                <a:tc>
                  <a:txBody>
                    <a:bodyPr/>
                    <a:lstStyle/>
                    <a:p>
                      <a:pPr algn="ctr"/>
                      <a:r>
                        <a:rPr sz="1700" b="0" dirty="0">
                          <a:solidFill>
                            <a:srgbClr val="1A1A1A"/>
                          </a:solidFill>
                          <a:latin typeface="Arial"/>
                        </a:rPr>
                        <a:t>Se rechaza toda cita a menos de 30 minutos de otra del mismo médico</a:t>
                      </a:r>
                      <a:endParaRPr sz="1700" b="0" dirty="0">
                        <a:solidFill>
                          <a:srgbClr val="33373D"/>
                        </a:solidFill>
                        <a:latin typeface="Arial"/>
                      </a:endParaRPr>
                    </a:p>
                  </a:txBody>
                  <a:tcPr marL="73152" marR="73152" marT="27432" marB="27432">
                    <a:solidFill>
                      <a:srgbClr val="FFFFFF"/>
                    </a:solidFill>
                  </a:tcPr>
                </a:tc>
                <a:extLst>
                  <a:ext uri="{0D108BD9-81ED-4DB2-BD59-A6C34878D82A}">
                    <a16:rowId xmlns:a16="http://schemas.microsoft.com/office/drawing/2014/main" val="10003"/>
                  </a:ext>
                </a:extLst>
              </a:tr>
              <a:tr h="621792">
                <a:tc>
                  <a:txBody>
                    <a:bodyPr/>
                    <a:lstStyle/>
                    <a:p>
                      <a:pPr algn="ctr"/>
                      <a:r>
                        <a:rPr sz="1700" b="0">
                          <a:solidFill>
                            <a:srgbClr val="1A1A1A"/>
                          </a:solidFill>
                          <a:latin typeface="Arial"/>
                        </a:rPr>
                        <a:t>RF 6.2</a:t>
                      </a:r>
                    </a:p>
                  </a:txBody>
                  <a:tcPr marL="73152" marR="73152" marT="27432" marB="27432">
                    <a:solidFill>
                      <a:srgbClr val="EFF3F9"/>
                    </a:solidFill>
                  </a:tcPr>
                </a:tc>
                <a:tc>
                  <a:txBody>
                    <a:bodyPr/>
                    <a:lstStyle/>
                    <a:p>
                      <a:pPr algn="ctr"/>
                      <a:r>
                        <a:rPr sz="1700" b="0" dirty="0" err="1">
                          <a:solidFill>
                            <a:srgbClr val="1A1A1A"/>
                          </a:solidFill>
                          <a:latin typeface="Arial"/>
                        </a:rPr>
                        <a:t>Exclusividad del médico sobre la historia</a:t>
                      </a:r>
                    </a:p>
                  </a:txBody>
                  <a:tcPr marL="73152" marR="73152" marT="27432" marB="27432">
                    <a:solidFill>
                      <a:srgbClr val="EFF3F9"/>
                    </a:solidFill>
                  </a:tcPr>
                </a:tc>
                <a:tc>
                  <a:txBody>
                    <a:bodyPr/>
                    <a:lstStyle/>
                    <a:p>
                      <a:pPr algn="ctr"/>
                      <a:r>
                        <a:rPr sz="1700" b="0" dirty="0">
                          <a:solidFill>
                            <a:srgbClr val="1A1A1A"/>
                          </a:solidFill>
                          <a:latin typeface="Arial"/>
                        </a:rPr>
                        <a:t>Solo el médico tratante escribe en ella, y la autoría sale de la sesión</a:t>
                      </a:r>
                      <a:endParaRPr sz="1700" b="0" dirty="0">
                        <a:solidFill>
                          <a:srgbClr val="33373D"/>
                        </a:solidFill>
                        <a:latin typeface="Arial"/>
                      </a:endParaRPr>
                    </a:p>
                  </a:txBody>
                  <a:tcPr marL="73152" marR="73152" marT="27432" marB="27432">
                    <a:solidFill>
                      <a:srgbClr val="EFF3F9"/>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69214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4" name="Imagen 3">
            <a:extLst>
              <a:ext uri="{FF2B5EF4-FFF2-40B4-BE49-F238E27FC236}">
                <a16:creationId xmlns:a16="http://schemas.microsoft.com/office/drawing/2014/main" id="{748A10F1-A0BD-565D-75D1-0D39B3DA3459}"/>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2813"/>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dirty="0" err="1">
                <a:solidFill>
                  <a:srgbClr val="1A1A1A"/>
                </a:solidFill>
                <a:latin typeface="Plus Jakarta Sans ExtraBold"/>
                <a:cs typeface="Plus Jakarta Sans ExtraBold"/>
                <a:sym typeface="Plus Jakarta Sans ExtraBold"/>
              </a:rPr>
              <a:t>Matriz de Stakeholders</a:t>
            </a:r>
            <a:endParaRPr dirty="0"/>
          </a:p>
        </p:txBody>
      </p:sp>
      <p:pic>
        <p:nvPicPr>
          <p:cNvPr id="24" name="Picture 23" descr="FIG-stakeholders.png"/>
          <p:cNvPicPr>
            <a:picLocks noChangeAspect="1"/>
          </p:cNvPicPr>
          <p:nvPr/>
        </p:nvPicPr>
        <p:blipFill>
          <a:blip r:embed="rId7"/>
          <a:stretch>
            <a:fillRect/>
          </a:stretch>
        </p:blipFill>
        <p:spPr>
          <a:xfrm>
            <a:off x="1943196" y="1106074"/>
            <a:ext cx="8305606" cy="5506926"/>
          </a:xfrm>
          <a:prstGeom prst="rect">
            <a:avLst/>
          </a:prstGeom>
        </p:spPr>
      </p:pic>
    </p:spTree>
    <p:extLst>
      <p:ext uri="{BB962C8B-B14F-4D97-AF65-F5344CB8AC3E}">
        <p14:creationId xmlns:p14="http://schemas.microsoft.com/office/powerpoint/2010/main" val="2338682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4" name="Imagen 3">
            <a:extLst>
              <a:ext uri="{FF2B5EF4-FFF2-40B4-BE49-F238E27FC236}">
                <a16:creationId xmlns:a16="http://schemas.microsoft.com/office/drawing/2014/main" id="{E1F0B7E5-E4D2-3B9D-C202-1E966766BDDB}"/>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2813"/>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dirty="0">
                <a:solidFill>
                  <a:srgbClr val="1A1A1A"/>
                </a:solidFill>
                <a:latin typeface="Plus Jakarta Sans ExtraBold"/>
                <a:cs typeface="Plus Jakarta Sans ExtraBold"/>
                <a:sym typeface="Plus Jakarta Sans ExtraBold"/>
              </a:rPr>
              <a:t>Técnica de Priorización de Requisitos</a:t>
            </a:r>
            <a:endParaRPr dirty="0"/>
          </a:p>
        </p:txBody>
      </p:sp>
      <p:graphicFrame>
        <p:nvGraphicFramePr>
          <p:cNvPr id="24" name="Table 23"/>
          <p:cNvGraphicFramePr>
            <a:graphicFrameLocks noGrp="1"/>
          </p:cNvGraphicFramePr>
          <p:nvPr>
            <p:extLst>
              <p:ext uri="{D42A27DB-BD31-4B8C-83A1-F6EECF244321}">
                <p14:modId xmlns:p14="http://schemas.microsoft.com/office/powerpoint/2010/main" val="3183666644"/>
              </p:ext>
            </p:extLst>
          </p:nvPr>
        </p:nvGraphicFramePr>
        <p:xfrm>
          <a:off x="678179" y="2285677"/>
          <a:ext cx="10835640" cy="29260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487680">
                <a:tc>
                  <a:txBody>
                    <a:bodyPr/>
                    <a:lstStyle/>
                    <a:p>
                      <a:pPr algn="ctr"/>
                      <a:r>
                        <a:rPr sz="1600" b="1">
                          <a:solidFill>
                            <a:srgbClr val="FFFFFF"/>
                          </a:solidFill>
                          <a:latin typeface="Arial"/>
                        </a:rPr>
                        <a:t>Puntaje</a:t>
                      </a:r>
                    </a:p>
                  </a:txBody>
                  <a:tcPr marL="73152" marR="73152" marT="27432" marB="27432">
                    <a:solidFill>
                      <a:srgbClr val="1F3B73"/>
                    </a:solidFill>
                  </a:tcPr>
                </a:tc>
                <a:tc>
                  <a:txBody>
                    <a:bodyPr/>
                    <a:lstStyle/>
                    <a:p>
                      <a:pPr algn="ctr"/>
                      <a:r>
                        <a:rPr sz="1600" b="1" dirty="0">
                          <a:solidFill>
                            <a:srgbClr val="FFFFFF"/>
                          </a:solidFill>
                          <a:latin typeface="Arial"/>
                        </a:rPr>
                        <a:t>Valor de negocio (60%)</a:t>
                      </a:r>
                      <a:endParaRPr sz="1600" b="1" dirty="0">
                        <a:solidFill>
                          <a:srgbClr val="FFFFFF"/>
                        </a:solidFill>
                        <a:latin typeface="Arial"/>
                      </a:endParaRPr>
                    </a:p>
                  </a:txBody>
                  <a:tcPr marL="73152" marR="73152" marT="27432" marB="27432">
                    <a:solidFill>
                      <a:srgbClr val="1F3B73"/>
                    </a:solidFill>
                  </a:tcPr>
                </a:tc>
                <a:tc>
                  <a:txBody>
                    <a:bodyPr/>
                    <a:lstStyle/>
                    <a:p>
                      <a:pPr algn="ctr"/>
                      <a:r>
                        <a:rPr sz="1600" b="1" dirty="0" err="1">
                          <a:solidFill>
                            <a:srgbClr val="FFFFFF"/>
                          </a:solidFill>
                          <a:latin typeface="Arial"/>
                        </a:rPr>
                        <a:t>Urgencia (40%)</a:t>
                      </a:r>
                      <a:endParaRPr sz="1600" b="1" dirty="0">
                        <a:solidFill>
                          <a:srgbClr val="FFFFFF"/>
                        </a:solidFill>
                        <a:latin typeface="Arial"/>
                      </a:endParaRPr>
                    </a:p>
                  </a:txBody>
                  <a:tcPr marL="73152" marR="73152" marT="27432" marB="27432">
                    <a:solidFill>
                      <a:srgbClr val="1F3B73"/>
                    </a:solidFill>
                  </a:tcPr>
                </a:tc>
                <a:extLst>
                  <a:ext uri="{0D108BD9-81ED-4DB2-BD59-A6C34878D82A}">
                    <a16:rowId xmlns:a16="http://schemas.microsoft.com/office/drawing/2014/main" val="10000"/>
                  </a:ext>
                </a:extLst>
              </a:tr>
              <a:tr h="487680">
                <a:tc>
                  <a:txBody>
                    <a:bodyPr/>
                    <a:lstStyle/>
                    <a:p>
                      <a:pPr algn="ctr"/>
                      <a:r>
                        <a:rPr sz="1600" b="0" dirty="0">
                          <a:solidFill>
                            <a:srgbClr val="1A1A1A"/>
                          </a:solidFill>
                          <a:latin typeface="Arial"/>
                        </a:rPr>
                        <a:t>1</a:t>
                      </a:r>
                    </a:p>
                  </a:txBody>
                  <a:tcPr marL="73152" marR="73152" marT="27432" marB="27432">
                    <a:solidFill>
                      <a:srgbClr val="FFFFFF"/>
                    </a:solidFill>
                  </a:tcPr>
                </a:tc>
                <a:tc>
                  <a:txBody>
                    <a:bodyPr/>
                    <a:lstStyle/>
                    <a:p>
                      <a:pPr algn="ctr"/>
                      <a:r>
                        <a:rPr sz="1600" b="0" dirty="0" err="1">
                          <a:solidFill>
                            <a:srgbClr val="1A1A1A"/>
                          </a:solidFill>
                          <a:latin typeface="Arial"/>
                        </a:rPr>
                        <a:t>Impacto muy bajo para la atención</a:t>
                      </a:r>
                      <a:endParaRPr sz="1600" b="0" dirty="0">
                        <a:solidFill>
                          <a:srgbClr val="33373D"/>
                        </a:solidFill>
                        <a:latin typeface="Arial"/>
                      </a:endParaRPr>
                    </a:p>
                  </a:txBody>
                  <a:tcPr marL="73152" marR="73152" marT="27432" marB="27432">
                    <a:solidFill>
                      <a:srgbClr val="FFFFFF"/>
                    </a:solidFill>
                  </a:tcPr>
                </a:tc>
                <a:tc>
                  <a:txBody>
                    <a:bodyPr/>
                    <a:lstStyle/>
                    <a:p>
                      <a:pPr algn="ctr"/>
                      <a:r>
                        <a:rPr sz="1600" b="0">
                          <a:solidFill>
                            <a:srgbClr val="1A1A1A"/>
                          </a:solidFill>
                          <a:latin typeface="Arial"/>
                        </a:rPr>
                        <a:t>No es urgente, puede esperar</a:t>
                      </a:r>
                    </a:p>
                  </a:txBody>
                  <a:tcPr marL="73152" marR="73152" marT="27432" marB="27432">
                    <a:solidFill>
                      <a:srgbClr val="FFFFFF"/>
                    </a:solidFill>
                  </a:tcPr>
                </a:tc>
                <a:extLst>
                  <a:ext uri="{0D108BD9-81ED-4DB2-BD59-A6C34878D82A}">
                    <a16:rowId xmlns:a16="http://schemas.microsoft.com/office/drawing/2014/main" val="10001"/>
                  </a:ext>
                </a:extLst>
              </a:tr>
              <a:tr h="487680">
                <a:tc>
                  <a:txBody>
                    <a:bodyPr/>
                    <a:lstStyle/>
                    <a:p>
                      <a:pPr algn="ctr"/>
                      <a:r>
                        <a:rPr sz="1600" b="0">
                          <a:solidFill>
                            <a:srgbClr val="1A1A1A"/>
                          </a:solidFill>
                          <a:latin typeface="Arial"/>
                        </a:rPr>
                        <a:t>2</a:t>
                      </a:r>
                    </a:p>
                  </a:txBody>
                  <a:tcPr marL="73152" marR="73152" marT="27432" marB="27432">
                    <a:solidFill>
                      <a:srgbClr val="EFF3F9"/>
                    </a:solidFill>
                  </a:tcPr>
                </a:tc>
                <a:tc>
                  <a:txBody>
                    <a:bodyPr/>
                    <a:lstStyle/>
                    <a:p>
                      <a:pPr algn="ctr"/>
                      <a:r>
                        <a:rPr sz="1600" b="0">
                          <a:solidFill>
                            <a:srgbClr val="1A1A1A"/>
                          </a:solidFill>
                          <a:latin typeface="Arial"/>
                        </a:rPr>
                        <a:t>Impacto bajo, aporta poca funcionalidad</a:t>
                      </a:r>
                    </a:p>
                  </a:txBody>
                  <a:tcPr marL="73152" marR="73152" marT="27432" marB="27432">
                    <a:solidFill>
                      <a:srgbClr val="EFF3F9"/>
                    </a:solidFill>
                  </a:tcPr>
                </a:tc>
                <a:tc>
                  <a:txBody>
                    <a:bodyPr/>
                    <a:lstStyle/>
                    <a:p>
                      <a:pPr algn="ctr"/>
                      <a:r>
                        <a:rPr sz="1600" b="0">
                          <a:solidFill>
                            <a:srgbClr val="1A1A1A"/>
                          </a:solidFill>
                          <a:latin typeface="Arial"/>
                        </a:rPr>
                        <a:t>Poco urgente</a:t>
                      </a:r>
                    </a:p>
                  </a:txBody>
                  <a:tcPr marL="73152" marR="73152" marT="27432" marB="27432">
                    <a:solidFill>
                      <a:srgbClr val="EFF3F9"/>
                    </a:solidFill>
                  </a:tcPr>
                </a:tc>
                <a:extLst>
                  <a:ext uri="{0D108BD9-81ED-4DB2-BD59-A6C34878D82A}">
                    <a16:rowId xmlns:a16="http://schemas.microsoft.com/office/drawing/2014/main" val="10002"/>
                  </a:ext>
                </a:extLst>
              </a:tr>
              <a:tr h="487680">
                <a:tc>
                  <a:txBody>
                    <a:bodyPr/>
                    <a:lstStyle/>
                    <a:p>
                      <a:pPr algn="ctr"/>
                      <a:r>
                        <a:rPr sz="1600" b="0">
                          <a:solidFill>
                            <a:srgbClr val="1A1A1A"/>
                          </a:solidFill>
                          <a:latin typeface="Arial"/>
                        </a:rPr>
                        <a:t>3</a:t>
                      </a:r>
                    </a:p>
                  </a:txBody>
                  <a:tcPr marL="73152" marR="73152" marT="27432" marB="27432">
                    <a:solidFill>
                      <a:srgbClr val="FFFFFF"/>
                    </a:solidFill>
                  </a:tcPr>
                </a:tc>
                <a:tc>
                  <a:txBody>
                    <a:bodyPr/>
                    <a:lstStyle/>
                    <a:p>
                      <a:pPr algn="ctr"/>
                      <a:r>
                        <a:rPr sz="1600" b="0">
                          <a:solidFill>
                            <a:srgbClr val="1A1A1A"/>
                          </a:solidFill>
                          <a:latin typeface="Arial"/>
                        </a:rPr>
                        <a:t>Impacto medio, mejora procesos importantes</a:t>
                      </a:r>
                    </a:p>
                  </a:txBody>
                  <a:tcPr marL="73152" marR="73152" marT="27432" marB="27432">
                    <a:solidFill>
                      <a:srgbClr val="FFFFFF"/>
                    </a:solidFill>
                  </a:tcPr>
                </a:tc>
                <a:tc>
                  <a:txBody>
                    <a:bodyPr/>
                    <a:lstStyle/>
                    <a:p>
                      <a:pPr algn="ctr"/>
                      <a:r>
                        <a:rPr sz="1600" b="0">
                          <a:solidFill>
                            <a:srgbClr val="1A1A1A"/>
                          </a:solidFill>
                          <a:latin typeface="Arial"/>
                        </a:rPr>
                        <a:t>Urgencia moderada</a:t>
                      </a:r>
                    </a:p>
                  </a:txBody>
                  <a:tcPr marL="73152" marR="73152" marT="27432" marB="27432">
                    <a:solidFill>
                      <a:srgbClr val="FFFFFF"/>
                    </a:solidFill>
                  </a:tcPr>
                </a:tc>
                <a:extLst>
                  <a:ext uri="{0D108BD9-81ED-4DB2-BD59-A6C34878D82A}">
                    <a16:rowId xmlns:a16="http://schemas.microsoft.com/office/drawing/2014/main" val="10003"/>
                  </a:ext>
                </a:extLst>
              </a:tr>
              <a:tr h="487680">
                <a:tc>
                  <a:txBody>
                    <a:bodyPr/>
                    <a:lstStyle/>
                    <a:p>
                      <a:pPr algn="ctr"/>
                      <a:r>
                        <a:rPr sz="1600" b="0">
                          <a:solidFill>
                            <a:srgbClr val="1A1A1A"/>
                          </a:solidFill>
                          <a:latin typeface="Arial"/>
                        </a:rPr>
                        <a:t>4</a:t>
                      </a:r>
                    </a:p>
                  </a:txBody>
                  <a:tcPr marL="73152" marR="73152" marT="27432" marB="27432">
                    <a:solidFill>
                      <a:srgbClr val="EFF3F9"/>
                    </a:solidFill>
                  </a:tcPr>
                </a:tc>
                <a:tc>
                  <a:txBody>
                    <a:bodyPr/>
                    <a:lstStyle/>
                    <a:p>
                      <a:pPr algn="ctr"/>
                      <a:r>
                        <a:rPr sz="1600" b="0">
                          <a:solidFill>
                            <a:srgbClr val="1A1A1A"/>
                          </a:solidFill>
                          <a:latin typeface="Arial"/>
                        </a:rPr>
                        <a:t>Impacto alto, necesario para operar</a:t>
                      </a:r>
                    </a:p>
                  </a:txBody>
                  <a:tcPr marL="73152" marR="73152" marT="27432" marB="27432">
                    <a:solidFill>
                      <a:srgbClr val="EFF3F9"/>
                    </a:solidFill>
                  </a:tcPr>
                </a:tc>
                <a:tc>
                  <a:txBody>
                    <a:bodyPr/>
                    <a:lstStyle/>
                    <a:p>
                      <a:pPr algn="ctr"/>
                      <a:r>
                        <a:rPr sz="1600" b="0">
                          <a:solidFill>
                            <a:srgbClr val="1A1A1A"/>
                          </a:solidFill>
                          <a:latin typeface="Arial"/>
                        </a:rPr>
                        <a:t>Muy urgente</a:t>
                      </a:r>
                    </a:p>
                  </a:txBody>
                  <a:tcPr marL="73152" marR="73152" marT="27432" marB="27432">
                    <a:solidFill>
                      <a:srgbClr val="EFF3F9"/>
                    </a:solidFill>
                  </a:tcPr>
                </a:tc>
                <a:extLst>
                  <a:ext uri="{0D108BD9-81ED-4DB2-BD59-A6C34878D82A}">
                    <a16:rowId xmlns:a16="http://schemas.microsoft.com/office/drawing/2014/main" val="10004"/>
                  </a:ext>
                </a:extLst>
              </a:tr>
              <a:tr h="487680">
                <a:tc>
                  <a:txBody>
                    <a:bodyPr/>
                    <a:lstStyle/>
                    <a:p>
                      <a:pPr algn="ctr"/>
                      <a:r>
                        <a:rPr sz="1600" b="0">
                          <a:solidFill>
                            <a:srgbClr val="1A1A1A"/>
                          </a:solidFill>
                          <a:latin typeface="Arial"/>
                        </a:rPr>
                        <a:t>5</a:t>
                      </a:r>
                    </a:p>
                  </a:txBody>
                  <a:tcPr marL="73152" marR="73152" marT="27432" marB="27432">
                    <a:solidFill>
                      <a:srgbClr val="FFFFFF"/>
                    </a:solidFill>
                  </a:tcPr>
                </a:tc>
                <a:tc>
                  <a:txBody>
                    <a:bodyPr/>
                    <a:lstStyle/>
                    <a:p>
                      <a:pPr algn="ctr"/>
                      <a:r>
                        <a:rPr sz="1600" b="0">
                          <a:solidFill>
                            <a:srgbClr val="1A1A1A"/>
                          </a:solidFill>
                          <a:latin typeface="Arial"/>
                        </a:rPr>
                        <a:t>Impacto crítico, indispensable</a:t>
                      </a:r>
                    </a:p>
                  </a:txBody>
                  <a:tcPr marL="73152" marR="73152" marT="27432" marB="27432">
                    <a:solidFill>
                      <a:srgbClr val="FFFFFF"/>
                    </a:solidFill>
                  </a:tcPr>
                </a:tc>
                <a:tc>
                  <a:txBody>
                    <a:bodyPr/>
                    <a:lstStyle/>
                    <a:p>
                      <a:pPr algn="ctr"/>
                      <a:r>
                        <a:rPr sz="1600" b="0" dirty="0" err="1">
                          <a:solidFill>
                            <a:srgbClr val="1A1A1A"/>
                          </a:solidFill>
                          <a:latin typeface="Arial"/>
                        </a:rPr>
                        <a:t>Debe implementarse de inmediato</a:t>
                      </a:r>
                      <a:endParaRPr sz="1600" b="0" dirty="0">
                        <a:solidFill>
                          <a:srgbClr val="33373D"/>
                        </a:solidFill>
                        <a:latin typeface="Arial"/>
                      </a:endParaRPr>
                    </a:p>
                  </a:txBody>
                  <a:tcPr marL="73152" marR="73152" marT="27432" marB="27432">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22054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4" name="Imagen 3">
            <a:extLst>
              <a:ext uri="{FF2B5EF4-FFF2-40B4-BE49-F238E27FC236}">
                <a16:creationId xmlns:a16="http://schemas.microsoft.com/office/drawing/2014/main" id="{579895E9-6FD1-3551-585E-B6BA860281DC}"/>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2813"/>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Conclusión General de la Priorización</a:t>
            </a:r>
            <a:endParaRPr sz="2700" dirty="0">
              <a:solidFill>
                <a:srgbClr val="003366"/>
              </a:solidFill>
              <a:latin typeface="Plus Jakarta Sans ExtraBold"/>
              <a:cs typeface="Plus Jakarta Sans ExtraBold"/>
            </a:endParaRPr>
          </a:p>
        </p:txBody>
      </p:sp>
      <p:graphicFrame>
        <p:nvGraphicFramePr>
          <p:cNvPr id="24" name="Table 23"/>
          <p:cNvGraphicFramePr>
            <a:graphicFrameLocks noGrp="1"/>
          </p:cNvGraphicFramePr>
          <p:nvPr>
            <p:extLst>
              <p:ext uri="{D42A27DB-BD31-4B8C-83A1-F6EECF244321}">
                <p14:modId xmlns:p14="http://schemas.microsoft.com/office/powerpoint/2010/main" val="4203689765"/>
              </p:ext>
            </p:extLst>
          </p:nvPr>
        </p:nvGraphicFramePr>
        <p:xfrm>
          <a:off x="1463040" y="1554480"/>
          <a:ext cx="9235440" cy="356616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96240">
                <a:tc>
                  <a:txBody>
                    <a:bodyPr/>
                    <a:lstStyle/>
                    <a:p>
                      <a:pPr algn="ctr"/>
                      <a:r>
                        <a:rPr sz="1600" b="1">
                          <a:solidFill>
                            <a:srgbClr val="FFFFFF"/>
                          </a:solidFill>
                          <a:latin typeface="Arial"/>
                        </a:rPr>
                        <a:t>Código</a:t>
                      </a:r>
                    </a:p>
                  </a:txBody>
                  <a:tcPr marL="73152" marR="73152" marT="27432" marB="27432">
                    <a:solidFill>
                      <a:srgbClr val="1F3B73"/>
                    </a:solidFill>
                  </a:tcPr>
                </a:tc>
                <a:tc>
                  <a:txBody>
                    <a:bodyPr/>
                    <a:lstStyle/>
                    <a:p>
                      <a:pPr algn="ctr"/>
                      <a:r>
                        <a:rPr sz="1600" b="1" dirty="0" err="1">
                          <a:solidFill>
                            <a:srgbClr val="FFFFFF"/>
                          </a:solidFill>
                          <a:latin typeface="Arial"/>
                        </a:rPr>
                        <a:t>Módulo</a:t>
                      </a:r>
                      <a:endParaRPr sz="1600" b="1" dirty="0">
                        <a:solidFill>
                          <a:srgbClr val="FFFFFF"/>
                        </a:solidFill>
                        <a:latin typeface="Arial"/>
                      </a:endParaRPr>
                    </a:p>
                  </a:txBody>
                  <a:tcPr marL="73152" marR="73152" marT="27432" marB="27432">
                    <a:solidFill>
                      <a:srgbClr val="1F3B73"/>
                    </a:solidFill>
                  </a:tcPr>
                </a:tc>
                <a:tc>
                  <a:txBody>
                    <a:bodyPr/>
                    <a:lstStyle/>
                    <a:p>
                      <a:pPr algn="ctr"/>
                      <a:r>
                        <a:rPr sz="1600" b="1">
                          <a:solidFill>
                            <a:srgbClr val="FFFFFF"/>
                          </a:solidFill>
                          <a:latin typeface="Arial"/>
                        </a:rPr>
                        <a:t>Puntaje</a:t>
                      </a:r>
                    </a:p>
                  </a:txBody>
                  <a:tcPr marL="73152" marR="73152" marT="27432" marB="27432">
                    <a:solidFill>
                      <a:srgbClr val="1F3B73"/>
                    </a:solidFill>
                  </a:tcPr>
                </a:tc>
                <a:extLst>
                  <a:ext uri="{0D108BD9-81ED-4DB2-BD59-A6C34878D82A}">
                    <a16:rowId xmlns:a16="http://schemas.microsoft.com/office/drawing/2014/main" val="10000"/>
                  </a:ext>
                </a:extLst>
              </a:tr>
              <a:tr h="396240">
                <a:tc>
                  <a:txBody>
                    <a:bodyPr/>
                    <a:lstStyle/>
                    <a:p>
                      <a:pPr algn="ctr"/>
                      <a:r>
                        <a:rPr sz="1600" b="0">
                          <a:solidFill>
                            <a:srgbClr val="1A1A1A"/>
                          </a:solidFill>
                          <a:latin typeface="Arial"/>
                        </a:rPr>
                        <a:t>RF 5</a:t>
                      </a:r>
                    </a:p>
                  </a:txBody>
                  <a:tcPr marL="73152" marR="73152" marT="27432" marB="27432">
                    <a:solidFill>
                      <a:srgbClr val="FFFFFF"/>
                    </a:solidFill>
                  </a:tcPr>
                </a:tc>
                <a:tc>
                  <a:txBody>
                    <a:bodyPr/>
                    <a:lstStyle/>
                    <a:p>
                      <a:pPr algn="ctr"/>
                      <a:r>
                        <a:rPr sz="1600" b="0" dirty="0" err="1">
                          <a:solidFill>
                            <a:srgbClr val="1A1A1A"/>
                          </a:solidFill>
                          <a:latin typeface="Arial"/>
                        </a:rPr>
                        <a:t>Agendamiento de citas</a:t>
                      </a:r>
                      <a:endParaRPr sz="1600" b="0" dirty="0">
                        <a:solidFill>
                          <a:srgbClr val="33373D"/>
                        </a:solidFill>
                        <a:latin typeface="Arial"/>
                      </a:endParaRPr>
                    </a:p>
                  </a:txBody>
                  <a:tcPr marL="73152" marR="73152" marT="27432" marB="27432">
                    <a:solidFill>
                      <a:srgbClr val="FFFFFF"/>
                    </a:solidFill>
                  </a:tcPr>
                </a:tc>
                <a:tc>
                  <a:txBody>
                    <a:bodyPr/>
                    <a:lstStyle/>
                    <a:p>
                      <a:pPr algn="ctr"/>
                      <a:r>
                        <a:rPr sz="1600" b="0">
                          <a:solidFill>
                            <a:srgbClr val="1A1A1A"/>
                          </a:solidFill>
                          <a:latin typeface="Arial"/>
                        </a:rPr>
                        <a:t>4.6</a:t>
                      </a:r>
                    </a:p>
                  </a:txBody>
                  <a:tcPr marL="73152" marR="73152" marT="27432" marB="27432">
                    <a:solidFill>
                      <a:srgbClr val="FFFFFF"/>
                    </a:solidFill>
                  </a:tcPr>
                </a:tc>
                <a:extLst>
                  <a:ext uri="{0D108BD9-81ED-4DB2-BD59-A6C34878D82A}">
                    <a16:rowId xmlns:a16="http://schemas.microsoft.com/office/drawing/2014/main" val="10001"/>
                  </a:ext>
                </a:extLst>
              </a:tr>
              <a:tr h="396240">
                <a:tc>
                  <a:txBody>
                    <a:bodyPr/>
                    <a:lstStyle/>
                    <a:p>
                      <a:pPr algn="ctr"/>
                      <a:r>
                        <a:rPr sz="1600" b="0">
                          <a:solidFill>
                            <a:srgbClr val="1A1A1A"/>
                          </a:solidFill>
                          <a:latin typeface="Arial"/>
                        </a:rPr>
                        <a:t>RF 1</a:t>
                      </a:r>
                    </a:p>
                  </a:txBody>
                  <a:tcPr marL="73152" marR="73152" marT="27432" marB="27432">
                    <a:solidFill>
                      <a:srgbClr val="EFF3F9"/>
                    </a:solidFill>
                  </a:tcPr>
                </a:tc>
                <a:tc>
                  <a:txBody>
                    <a:bodyPr/>
                    <a:lstStyle/>
                    <a:p>
                      <a:pPr algn="ctr"/>
                      <a:r>
                        <a:rPr sz="1600" b="0">
                          <a:solidFill>
                            <a:srgbClr val="1A1A1A"/>
                          </a:solidFill>
                          <a:latin typeface="Arial"/>
                        </a:rPr>
                        <a:t>Autenticación y sesión</a:t>
                      </a:r>
                    </a:p>
                  </a:txBody>
                  <a:tcPr marL="73152" marR="73152" marT="27432" marB="27432">
                    <a:solidFill>
                      <a:srgbClr val="EFF3F9"/>
                    </a:solidFill>
                  </a:tcPr>
                </a:tc>
                <a:tc>
                  <a:txBody>
                    <a:bodyPr/>
                    <a:lstStyle/>
                    <a:p>
                      <a:pPr algn="ctr"/>
                      <a:r>
                        <a:rPr sz="1600" b="0">
                          <a:solidFill>
                            <a:srgbClr val="1A1A1A"/>
                          </a:solidFill>
                          <a:latin typeface="Arial"/>
                        </a:rPr>
                        <a:t>4.5</a:t>
                      </a:r>
                    </a:p>
                  </a:txBody>
                  <a:tcPr marL="73152" marR="73152" marT="27432" marB="27432">
                    <a:solidFill>
                      <a:srgbClr val="EFF3F9"/>
                    </a:solidFill>
                  </a:tcPr>
                </a:tc>
                <a:extLst>
                  <a:ext uri="{0D108BD9-81ED-4DB2-BD59-A6C34878D82A}">
                    <a16:rowId xmlns:a16="http://schemas.microsoft.com/office/drawing/2014/main" val="10002"/>
                  </a:ext>
                </a:extLst>
              </a:tr>
              <a:tr h="396240">
                <a:tc>
                  <a:txBody>
                    <a:bodyPr/>
                    <a:lstStyle/>
                    <a:p>
                      <a:pPr algn="ctr"/>
                      <a:r>
                        <a:rPr sz="1600" b="0">
                          <a:solidFill>
                            <a:srgbClr val="1A1A1A"/>
                          </a:solidFill>
                          <a:latin typeface="Arial"/>
                        </a:rPr>
                        <a:t>RF 6</a:t>
                      </a:r>
                    </a:p>
                  </a:txBody>
                  <a:tcPr marL="73152" marR="73152" marT="27432" marB="27432">
                    <a:solidFill>
                      <a:srgbClr val="FFFFFF"/>
                    </a:solidFill>
                  </a:tcPr>
                </a:tc>
                <a:tc>
                  <a:txBody>
                    <a:bodyPr/>
                    <a:lstStyle/>
                    <a:p>
                      <a:pPr algn="ctr"/>
                      <a:r>
                        <a:rPr sz="1600" b="0">
                          <a:solidFill>
                            <a:srgbClr val="1A1A1A"/>
                          </a:solidFill>
                          <a:latin typeface="Arial"/>
                        </a:rPr>
                        <a:t>Historia clínica</a:t>
                      </a:r>
                    </a:p>
                  </a:txBody>
                  <a:tcPr marL="73152" marR="73152" marT="27432" marB="27432">
                    <a:solidFill>
                      <a:srgbClr val="FFFFFF"/>
                    </a:solidFill>
                  </a:tcPr>
                </a:tc>
                <a:tc>
                  <a:txBody>
                    <a:bodyPr/>
                    <a:lstStyle/>
                    <a:p>
                      <a:pPr algn="ctr"/>
                      <a:r>
                        <a:rPr sz="1600" b="0">
                          <a:solidFill>
                            <a:srgbClr val="1A1A1A"/>
                          </a:solidFill>
                          <a:latin typeface="Arial"/>
                        </a:rPr>
                        <a:t>4.3</a:t>
                      </a:r>
                    </a:p>
                  </a:txBody>
                  <a:tcPr marL="73152" marR="73152" marT="27432" marB="27432">
                    <a:solidFill>
                      <a:srgbClr val="FFFFFF"/>
                    </a:solidFill>
                  </a:tcPr>
                </a:tc>
                <a:extLst>
                  <a:ext uri="{0D108BD9-81ED-4DB2-BD59-A6C34878D82A}">
                    <a16:rowId xmlns:a16="http://schemas.microsoft.com/office/drawing/2014/main" val="10003"/>
                  </a:ext>
                </a:extLst>
              </a:tr>
              <a:tr h="396240">
                <a:tc>
                  <a:txBody>
                    <a:bodyPr/>
                    <a:lstStyle/>
                    <a:p>
                      <a:pPr algn="ctr"/>
                      <a:r>
                        <a:rPr sz="1600" b="0">
                          <a:solidFill>
                            <a:srgbClr val="1A1A1A"/>
                          </a:solidFill>
                          <a:latin typeface="Arial"/>
                        </a:rPr>
                        <a:t>RF 7</a:t>
                      </a:r>
                    </a:p>
                  </a:txBody>
                  <a:tcPr marL="73152" marR="73152" marT="27432" marB="27432">
                    <a:solidFill>
                      <a:srgbClr val="EFF3F9"/>
                    </a:solidFill>
                  </a:tcPr>
                </a:tc>
                <a:tc>
                  <a:txBody>
                    <a:bodyPr/>
                    <a:lstStyle/>
                    <a:p>
                      <a:pPr algn="ctr"/>
                      <a:r>
                        <a:rPr sz="1600" b="0">
                          <a:solidFill>
                            <a:srgbClr val="1A1A1A"/>
                          </a:solidFill>
                          <a:latin typeface="Arial"/>
                        </a:rPr>
                        <a:t>Consultas y diagnósticos</a:t>
                      </a:r>
                    </a:p>
                  </a:txBody>
                  <a:tcPr marL="73152" marR="73152" marT="27432" marB="27432">
                    <a:solidFill>
                      <a:srgbClr val="EFF3F9"/>
                    </a:solidFill>
                  </a:tcPr>
                </a:tc>
                <a:tc>
                  <a:txBody>
                    <a:bodyPr/>
                    <a:lstStyle/>
                    <a:p>
                      <a:pPr algn="ctr"/>
                      <a:r>
                        <a:rPr sz="1600" b="0">
                          <a:solidFill>
                            <a:srgbClr val="1A1A1A"/>
                          </a:solidFill>
                          <a:latin typeface="Arial"/>
                        </a:rPr>
                        <a:t>4.3</a:t>
                      </a:r>
                    </a:p>
                  </a:txBody>
                  <a:tcPr marL="73152" marR="73152" marT="27432" marB="27432">
                    <a:solidFill>
                      <a:srgbClr val="EFF3F9"/>
                    </a:solidFill>
                  </a:tcPr>
                </a:tc>
                <a:extLst>
                  <a:ext uri="{0D108BD9-81ED-4DB2-BD59-A6C34878D82A}">
                    <a16:rowId xmlns:a16="http://schemas.microsoft.com/office/drawing/2014/main" val="10004"/>
                  </a:ext>
                </a:extLst>
              </a:tr>
              <a:tr h="396240">
                <a:tc>
                  <a:txBody>
                    <a:bodyPr/>
                    <a:lstStyle/>
                    <a:p>
                      <a:pPr algn="ctr"/>
                      <a:r>
                        <a:rPr sz="1600" b="0">
                          <a:solidFill>
                            <a:srgbClr val="1A1A1A"/>
                          </a:solidFill>
                          <a:latin typeface="Arial"/>
                        </a:rPr>
                        <a:t>RF 8</a:t>
                      </a:r>
                    </a:p>
                  </a:txBody>
                  <a:tcPr marL="73152" marR="73152" marT="27432" marB="27432">
                    <a:solidFill>
                      <a:srgbClr val="FFFFFF"/>
                    </a:solidFill>
                  </a:tcPr>
                </a:tc>
                <a:tc>
                  <a:txBody>
                    <a:bodyPr/>
                    <a:lstStyle/>
                    <a:p>
                      <a:pPr algn="ctr"/>
                      <a:r>
                        <a:rPr sz="1600" b="0">
                          <a:solidFill>
                            <a:srgbClr val="1A1A1A"/>
                          </a:solidFill>
                          <a:latin typeface="Arial"/>
                        </a:rPr>
                        <a:t>Prescripciones</a:t>
                      </a:r>
                    </a:p>
                  </a:txBody>
                  <a:tcPr marL="73152" marR="73152" marT="27432" marB="27432">
                    <a:solidFill>
                      <a:srgbClr val="FFFFFF"/>
                    </a:solidFill>
                  </a:tcPr>
                </a:tc>
                <a:tc>
                  <a:txBody>
                    <a:bodyPr/>
                    <a:lstStyle/>
                    <a:p>
                      <a:pPr algn="ctr"/>
                      <a:r>
                        <a:rPr sz="1600" b="0">
                          <a:solidFill>
                            <a:srgbClr val="1A1A1A"/>
                          </a:solidFill>
                          <a:latin typeface="Arial"/>
                        </a:rPr>
                        <a:t>4.2</a:t>
                      </a:r>
                    </a:p>
                  </a:txBody>
                  <a:tcPr marL="73152" marR="73152" marT="27432" marB="27432">
                    <a:solidFill>
                      <a:srgbClr val="FFFFFF"/>
                    </a:solidFill>
                  </a:tcPr>
                </a:tc>
                <a:extLst>
                  <a:ext uri="{0D108BD9-81ED-4DB2-BD59-A6C34878D82A}">
                    <a16:rowId xmlns:a16="http://schemas.microsoft.com/office/drawing/2014/main" val="10005"/>
                  </a:ext>
                </a:extLst>
              </a:tr>
              <a:tr h="396240">
                <a:tc>
                  <a:txBody>
                    <a:bodyPr/>
                    <a:lstStyle/>
                    <a:p>
                      <a:pPr algn="ctr"/>
                      <a:r>
                        <a:rPr sz="1600" b="0">
                          <a:solidFill>
                            <a:srgbClr val="1A1A1A"/>
                          </a:solidFill>
                          <a:latin typeface="Arial"/>
                        </a:rPr>
                        <a:t>RF 9</a:t>
                      </a:r>
                    </a:p>
                  </a:txBody>
                  <a:tcPr marL="73152" marR="73152" marT="27432" marB="27432">
                    <a:solidFill>
                      <a:srgbClr val="EFF3F9"/>
                    </a:solidFill>
                  </a:tcPr>
                </a:tc>
                <a:tc>
                  <a:txBody>
                    <a:bodyPr/>
                    <a:lstStyle/>
                    <a:p>
                      <a:pPr algn="ctr"/>
                      <a:r>
                        <a:rPr sz="1600" b="0">
                          <a:solidFill>
                            <a:srgbClr val="1A1A1A"/>
                          </a:solidFill>
                          <a:latin typeface="Arial"/>
                        </a:rPr>
                        <a:t>Exámenes de laboratorio</a:t>
                      </a:r>
                    </a:p>
                  </a:txBody>
                  <a:tcPr marL="73152" marR="73152" marT="27432" marB="27432">
                    <a:solidFill>
                      <a:srgbClr val="EFF3F9"/>
                    </a:solidFill>
                  </a:tcPr>
                </a:tc>
                <a:tc>
                  <a:txBody>
                    <a:bodyPr/>
                    <a:lstStyle/>
                    <a:p>
                      <a:pPr algn="ctr"/>
                      <a:r>
                        <a:rPr sz="1600" b="0">
                          <a:solidFill>
                            <a:srgbClr val="1A1A1A"/>
                          </a:solidFill>
                          <a:latin typeface="Arial"/>
                        </a:rPr>
                        <a:t>4.2</a:t>
                      </a:r>
                    </a:p>
                  </a:txBody>
                  <a:tcPr marL="73152" marR="73152" marT="27432" marB="27432">
                    <a:solidFill>
                      <a:srgbClr val="EFF3F9"/>
                    </a:solidFill>
                  </a:tcPr>
                </a:tc>
                <a:extLst>
                  <a:ext uri="{0D108BD9-81ED-4DB2-BD59-A6C34878D82A}">
                    <a16:rowId xmlns:a16="http://schemas.microsoft.com/office/drawing/2014/main" val="10006"/>
                  </a:ext>
                </a:extLst>
              </a:tr>
              <a:tr h="396240">
                <a:tc>
                  <a:txBody>
                    <a:bodyPr/>
                    <a:lstStyle/>
                    <a:p>
                      <a:pPr algn="ctr"/>
                      <a:r>
                        <a:rPr sz="1600" b="0">
                          <a:solidFill>
                            <a:srgbClr val="1A1A1A"/>
                          </a:solidFill>
                          <a:latin typeface="Arial"/>
                        </a:rPr>
                        <a:t>RF 2</a:t>
                      </a:r>
                    </a:p>
                  </a:txBody>
                  <a:tcPr marL="73152" marR="73152" marT="27432" marB="27432">
                    <a:solidFill>
                      <a:srgbClr val="FFFFFF"/>
                    </a:solidFill>
                  </a:tcPr>
                </a:tc>
                <a:tc>
                  <a:txBody>
                    <a:bodyPr/>
                    <a:lstStyle/>
                    <a:p>
                      <a:pPr algn="ctr"/>
                      <a:r>
                        <a:rPr sz="1600" b="0">
                          <a:solidFill>
                            <a:srgbClr val="1A1A1A"/>
                          </a:solidFill>
                          <a:latin typeface="Arial"/>
                        </a:rPr>
                        <a:t>Gestión de usuarios</a:t>
                      </a:r>
                    </a:p>
                  </a:txBody>
                  <a:tcPr marL="73152" marR="73152" marT="27432" marB="27432">
                    <a:solidFill>
                      <a:srgbClr val="FFFFFF"/>
                    </a:solidFill>
                  </a:tcPr>
                </a:tc>
                <a:tc>
                  <a:txBody>
                    <a:bodyPr/>
                    <a:lstStyle/>
                    <a:p>
                      <a:pPr algn="ctr"/>
                      <a:r>
                        <a:rPr sz="1600" b="0">
                          <a:solidFill>
                            <a:srgbClr val="1A1A1A"/>
                          </a:solidFill>
                          <a:latin typeface="Arial"/>
                        </a:rPr>
                        <a:t>4.1</a:t>
                      </a:r>
                    </a:p>
                  </a:txBody>
                  <a:tcPr marL="73152" marR="73152" marT="27432" marB="27432">
                    <a:solidFill>
                      <a:srgbClr val="FFFFFF"/>
                    </a:solidFill>
                  </a:tcPr>
                </a:tc>
                <a:extLst>
                  <a:ext uri="{0D108BD9-81ED-4DB2-BD59-A6C34878D82A}">
                    <a16:rowId xmlns:a16="http://schemas.microsoft.com/office/drawing/2014/main" val="10007"/>
                  </a:ext>
                </a:extLst>
              </a:tr>
              <a:tr h="396240">
                <a:tc>
                  <a:txBody>
                    <a:bodyPr/>
                    <a:lstStyle/>
                    <a:p>
                      <a:pPr algn="ctr"/>
                      <a:r>
                        <a:rPr sz="1600" b="0">
                          <a:solidFill>
                            <a:srgbClr val="1A1A1A"/>
                          </a:solidFill>
                          <a:latin typeface="Arial"/>
                        </a:rPr>
                        <a:t>RF 3</a:t>
                      </a:r>
                    </a:p>
                  </a:txBody>
                  <a:tcPr marL="73152" marR="73152" marT="27432" marB="27432">
                    <a:solidFill>
                      <a:srgbClr val="EFF3F9"/>
                    </a:solidFill>
                  </a:tcPr>
                </a:tc>
                <a:tc>
                  <a:txBody>
                    <a:bodyPr/>
                    <a:lstStyle/>
                    <a:p>
                      <a:pPr algn="ctr"/>
                      <a:r>
                        <a:rPr sz="1600" b="0">
                          <a:solidFill>
                            <a:srgbClr val="1A1A1A"/>
                          </a:solidFill>
                          <a:latin typeface="Arial"/>
                        </a:rPr>
                        <a:t>Gestión de médicos</a:t>
                      </a:r>
                    </a:p>
                  </a:txBody>
                  <a:tcPr marL="73152" marR="73152" marT="27432" marB="27432">
                    <a:solidFill>
                      <a:srgbClr val="EFF3F9"/>
                    </a:solidFill>
                  </a:tcPr>
                </a:tc>
                <a:tc>
                  <a:txBody>
                    <a:bodyPr/>
                    <a:lstStyle/>
                    <a:p>
                      <a:pPr algn="ctr"/>
                      <a:r>
                        <a:rPr sz="1600" b="0" dirty="0">
                          <a:solidFill>
                            <a:srgbClr val="1A1A1A"/>
                          </a:solidFill>
                          <a:latin typeface="Arial"/>
                        </a:rPr>
                        <a:t>4.1</a:t>
                      </a:r>
                    </a:p>
                  </a:txBody>
                  <a:tcPr marL="73152" marR="73152" marT="27432" marB="27432">
                    <a:solidFill>
                      <a:srgbClr val="EFF3F9"/>
                    </a:solidFill>
                  </a:tcPr>
                </a:tc>
                <a:extLst>
                  <a:ext uri="{0D108BD9-81ED-4DB2-BD59-A6C34878D82A}">
                    <a16:rowId xmlns:a16="http://schemas.microsoft.com/office/drawing/2014/main" val="10008"/>
                  </a:ext>
                </a:extLst>
              </a:tr>
              <a:tr h="396240">
                <a:tc>
                  <a:txBody>
                    <a:bodyPr/>
                    <a:lstStyle/>
                    <a:p>
                      <a:pPr algn="ctr"/>
                      <a:r>
                        <a:rPr sz="1600" b="0">
                          <a:solidFill>
                            <a:srgbClr val="1A1A1A"/>
                          </a:solidFill>
                          <a:latin typeface="Arial"/>
                        </a:rPr>
                        <a:t>RF 4</a:t>
                      </a:r>
                    </a:p>
                  </a:txBody>
                  <a:tcPr marL="73152" marR="73152" marT="27432" marB="27432">
                    <a:solidFill>
                      <a:srgbClr val="EFF3F9"/>
                    </a:solidFill>
                  </a:tcPr>
                </a:tc>
                <a:tc>
                  <a:txBody>
                    <a:bodyPr/>
                    <a:lstStyle/>
                    <a:p>
                      <a:pPr algn="ctr"/>
                      <a:r>
                        <a:rPr sz="1600" b="0">
                          <a:solidFill>
                            <a:srgbClr val="1A1A1A"/>
                          </a:solidFill>
                          <a:latin typeface="Arial"/>
                        </a:rPr>
                        <a:t>Gestión de pacientes</a:t>
                      </a:r>
                    </a:p>
                  </a:txBody>
                  <a:tcPr marL="73152" marR="73152" marT="27432" marB="27432">
                    <a:solidFill>
                      <a:srgbClr val="EFF3F9"/>
                    </a:solidFill>
                  </a:tcPr>
                </a:tc>
                <a:tc>
                  <a:txBody>
                    <a:bodyPr/>
                    <a:lstStyle/>
                    <a:p>
                      <a:pPr algn="ctr"/>
                      <a:r>
                        <a:rPr sz="1600" b="0" dirty="0">
                          <a:solidFill>
                            <a:srgbClr val="1A1A1A"/>
                          </a:solidFill>
                          <a:latin typeface="Arial"/>
                        </a:rPr>
                        <a:t>4.1</a:t>
                      </a:r>
                    </a:p>
                  </a:txBody>
                  <a:tcPr marL="73152" marR="73152" marT="27432" marB="27432">
                    <a:solidFill>
                      <a:srgbClr val="EFF3F9"/>
                    </a:solidFill>
                  </a:tcPr>
                </a:tc>
                <a:extLst>
                  <a:ext uri="{0D108BD9-81ED-4DB2-BD59-A6C34878D82A}">
                    <a16:rowId xmlns:a16="http://schemas.microsoft.com/office/drawing/2014/main" val="10008"/>
                  </a:ext>
                </a:extLst>
              </a:tr>
              <a:tr h="396240">
                <a:tc>
                  <a:txBody>
                    <a:bodyPr/>
                    <a:lstStyle/>
                    <a:p>
                      <a:pPr algn="ctr"/>
                      <a:r>
                        <a:rPr sz="1600" b="0">
                          <a:solidFill>
                            <a:srgbClr val="1A1A1A"/>
                          </a:solidFill>
                          <a:latin typeface="Arial"/>
                        </a:rPr>
                        <a:t>RF 10</a:t>
                      </a:r>
                    </a:p>
                  </a:txBody>
                  <a:tcPr marL="73152" marR="73152" marT="27432" marB="27432">
                    <a:solidFill>
                      <a:srgbClr val="EFF3F9"/>
                    </a:solidFill>
                  </a:tcPr>
                </a:tc>
                <a:tc>
                  <a:txBody>
                    <a:bodyPr/>
                    <a:lstStyle/>
                    <a:p>
                      <a:pPr algn="ctr"/>
                      <a:r>
                        <a:rPr sz="1600" b="0">
                          <a:solidFill>
                            <a:srgbClr val="1A1A1A"/>
                          </a:solidFill>
                          <a:latin typeface="Arial"/>
                        </a:rPr>
                        <a:t>Catálogos</a:t>
                      </a:r>
                    </a:p>
                  </a:txBody>
                  <a:tcPr marL="73152" marR="73152" marT="27432" marB="27432">
                    <a:solidFill>
                      <a:srgbClr val="EFF3F9"/>
                    </a:solidFill>
                  </a:tcPr>
                </a:tc>
                <a:tc>
                  <a:txBody>
                    <a:bodyPr/>
                    <a:lstStyle/>
                    <a:p>
                      <a:pPr algn="ctr"/>
                      <a:r>
                        <a:rPr sz="1600" b="0" dirty="0">
                          <a:solidFill>
                            <a:srgbClr val="1A1A1A"/>
                          </a:solidFill>
                          <a:latin typeface="Arial"/>
                        </a:rPr>
                        <a:t>3.6</a:t>
                      </a:r>
                    </a:p>
                  </a:txBody>
                  <a:tcPr marL="73152" marR="73152" marT="27432" marB="27432">
                    <a:solidFill>
                      <a:srgbClr val="EFF3F9"/>
                    </a:solidFill>
                  </a:tcPr>
                </a:tc>
                <a:extLst>
                  <a:ext uri="{0D108BD9-81ED-4DB2-BD59-A6C34878D82A}">
                    <a16:rowId xmlns:a16="http://schemas.microsoft.com/office/drawing/2014/main" val="10008"/>
                  </a:ext>
                </a:extLst>
              </a:tr>
            </a:tbl>
          </a:graphicData>
        </a:graphic>
      </p:graphicFrame>
      <p:sp>
        <p:nvSpPr>
          <p:cNvPr id="25" name="TextBox 24"/>
          <p:cNvSpPr txBox="1"/>
          <p:nvPr/>
        </p:nvSpPr>
        <p:spPr>
          <a:xfrm>
            <a:off x="822960" y="5394960"/>
            <a:ext cx="10515600" cy="822960"/>
          </a:xfrm>
          <a:prstGeom prst="rect">
            <a:avLst/>
          </a:prstGeom>
          <a:noFill/>
        </p:spPr>
        <p:txBody>
          <a:bodyPr wrap="square">
            <a:spAutoFit/>
          </a:bodyPr>
          <a:lstStyle/>
          <a:p>
            <a:pPr algn="l"/>
            <a:r>
              <a:rPr sz="1800" b="0" dirty="0" err="1">
                <a:solidFill>
                  <a:srgbClr val="1A1A1A"/>
                </a:solidFill>
                <a:latin typeface="Arial"/>
              </a:rPr>
              <a:t>Encabeza la lista agendamiento de citas, que es el módulo del que depende el problema que el proyecto viene a resolver, y cierra catálogos, que agrupa parámetros que se ajustan de vez en cuando.</a:t>
            </a:r>
          </a:p>
        </p:txBody>
      </p:sp>
    </p:spTree>
    <p:extLst>
      <p:ext uri="{BB962C8B-B14F-4D97-AF65-F5344CB8AC3E}">
        <p14:creationId xmlns:p14="http://schemas.microsoft.com/office/powerpoint/2010/main" val="1994318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4" name="Imagen 3">
            <a:extLst>
              <a:ext uri="{FF2B5EF4-FFF2-40B4-BE49-F238E27FC236}">
                <a16:creationId xmlns:a16="http://schemas.microsoft.com/office/drawing/2014/main" id="{794D8E1D-6EE8-ABF3-3FB0-CC387045F82E}"/>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Requisitos Funcionales</a:t>
            </a:r>
            <a:endParaRPr sz="2700" dirty="0">
              <a:solidFill>
                <a:srgbClr val="003366"/>
              </a:solidFill>
              <a:latin typeface="Plus Jakarta Sans ExtraBold"/>
              <a:cs typeface="Plus Jakarta Sans ExtraBold"/>
            </a:endParaRPr>
          </a:p>
        </p:txBody>
      </p:sp>
      <p:graphicFrame>
        <p:nvGraphicFramePr>
          <p:cNvPr id="24" name="Table 23"/>
          <p:cNvGraphicFramePr>
            <a:graphicFrameLocks noGrp="1"/>
          </p:cNvGraphicFramePr>
          <p:nvPr>
            <p:extLst>
              <p:ext uri="{D42A27DB-BD31-4B8C-83A1-F6EECF244321}">
                <p14:modId xmlns:p14="http://schemas.microsoft.com/office/powerpoint/2010/main" val="2562066793"/>
              </p:ext>
            </p:extLst>
          </p:nvPr>
        </p:nvGraphicFramePr>
        <p:xfrm>
          <a:off x="1249679" y="1896859"/>
          <a:ext cx="9692640" cy="39319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93192">
                <a:tc>
                  <a:txBody>
                    <a:bodyPr/>
                    <a:lstStyle/>
                    <a:p>
                      <a:pPr algn="ctr"/>
                      <a:r>
                        <a:rPr sz="1500" b="1" dirty="0">
                          <a:solidFill>
                            <a:srgbClr val="FFFFFF"/>
                          </a:solidFill>
                          <a:latin typeface="Arial"/>
                        </a:rPr>
                        <a:t>Código</a:t>
                      </a:r>
                    </a:p>
                  </a:txBody>
                  <a:tcPr marL="73152" marR="73152" marT="27432" marB="27432">
                    <a:solidFill>
                      <a:srgbClr val="1F3B73"/>
                    </a:solidFill>
                  </a:tcPr>
                </a:tc>
                <a:tc>
                  <a:txBody>
                    <a:bodyPr/>
                    <a:lstStyle/>
                    <a:p>
                      <a:pPr algn="ctr"/>
                      <a:r>
                        <a:rPr sz="1500" b="1">
                          <a:solidFill>
                            <a:srgbClr val="FFFFFF"/>
                          </a:solidFill>
                          <a:latin typeface="Arial"/>
                        </a:rPr>
                        <a:t>Módulo</a:t>
                      </a:r>
                    </a:p>
                  </a:txBody>
                  <a:tcPr marL="73152" marR="73152" marT="27432" marB="27432">
                    <a:solidFill>
                      <a:srgbClr val="1F3B73"/>
                    </a:solidFill>
                  </a:tcPr>
                </a:tc>
                <a:tc>
                  <a:txBody>
                    <a:bodyPr/>
                    <a:lstStyle/>
                    <a:p>
                      <a:pPr algn="ctr"/>
                      <a:r>
                        <a:rPr sz="1500" b="1">
                          <a:solidFill>
                            <a:srgbClr val="FFFFFF"/>
                          </a:solidFill>
                          <a:latin typeface="Arial"/>
                        </a:rPr>
                        <a:t>Requisitos</a:t>
                      </a:r>
                    </a:p>
                  </a:txBody>
                  <a:tcPr marL="73152" marR="73152" marT="27432" marB="27432">
                    <a:solidFill>
                      <a:srgbClr val="1F3B73"/>
                    </a:solidFill>
                  </a:tcPr>
                </a:tc>
                <a:tc>
                  <a:txBody>
                    <a:bodyPr/>
                    <a:lstStyle/>
                    <a:p>
                      <a:pPr algn="ctr"/>
                      <a:r>
                        <a:rPr sz="1500" b="1">
                          <a:solidFill>
                            <a:srgbClr val="FFFFFF"/>
                          </a:solidFill>
                          <a:latin typeface="Arial"/>
                        </a:rPr>
                        <a:t>Críticos</a:t>
                      </a:r>
                    </a:p>
                  </a:txBody>
                  <a:tcPr marL="73152" marR="73152" marT="27432" marB="27432">
                    <a:solidFill>
                      <a:srgbClr val="1F3B73"/>
                    </a:solidFill>
                  </a:tcPr>
                </a:tc>
                <a:extLst>
                  <a:ext uri="{0D108BD9-81ED-4DB2-BD59-A6C34878D82A}">
                    <a16:rowId xmlns:a16="http://schemas.microsoft.com/office/drawing/2014/main" val="10000"/>
                  </a:ext>
                </a:extLst>
              </a:tr>
              <a:tr h="393192">
                <a:tc>
                  <a:txBody>
                    <a:bodyPr/>
                    <a:lstStyle/>
                    <a:p>
                      <a:pPr algn="ctr"/>
                      <a:r>
                        <a:rPr sz="1500" b="1">
                          <a:solidFill>
                            <a:srgbClr val="1A1A1A"/>
                          </a:solidFill>
                          <a:latin typeface="Arial"/>
                        </a:rPr>
                        <a:t>RF 1</a:t>
                      </a:r>
                    </a:p>
                  </a:txBody>
                  <a:tcPr marL="73152" marR="73152" marT="27432" marB="27432">
                    <a:solidFill>
                      <a:srgbClr val="FFFFFF"/>
                    </a:solidFill>
                  </a:tcPr>
                </a:tc>
                <a:tc>
                  <a:txBody>
                    <a:bodyPr/>
                    <a:lstStyle/>
                    <a:p>
                      <a:pPr algn="ctr"/>
                      <a:r>
                        <a:rPr sz="1500" b="1">
                          <a:solidFill>
                            <a:srgbClr val="1A1A1A"/>
                          </a:solidFill>
                          <a:latin typeface="Arial"/>
                        </a:rPr>
                        <a:t>Autenticación y sesión</a:t>
                      </a:r>
                    </a:p>
                  </a:txBody>
                  <a:tcPr marL="73152" marR="73152" marT="27432" marB="27432">
                    <a:solidFill>
                      <a:srgbClr val="FFFFFF"/>
                    </a:solidFill>
                  </a:tcPr>
                </a:tc>
                <a:tc>
                  <a:txBody>
                    <a:bodyPr/>
                    <a:lstStyle/>
                    <a:p>
                      <a:pPr algn="ctr"/>
                      <a:r>
                        <a:rPr sz="1500" b="1">
                          <a:solidFill>
                            <a:srgbClr val="1A1A1A"/>
                          </a:solidFill>
                          <a:latin typeface="Arial"/>
                        </a:rPr>
                        <a:t>9</a:t>
                      </a:r>
                    </a:p>
                  </a:txBody>
                  <a:tcPr marL="73152" marR="73152" marT="27432" marB="27432">
                    <a:solidFill>
                      <a:srgbClr val="FFFFFF"/>
                    </a:solidFill>
                  </a:tcPr>
                </a:tc>
                <a:tc>
                  <a:txBody>
                    <a:bodyPr/>
                    <a:lstStyle/>
                    <a:p>
                      <a:pPr algn="ctr"/>
                      <a:r>
                        <a:rPr sz="1500" b="1">
                          <a:solidFill>
                            <a:srgbClr val="1A1A1A"/>
                          </a:solidFill>
                          <a:latin typeface="Arial"/>
                        </a:rPr>
                        <a:t>6</a:t>
                      </a:r>
                    </a:p>
                  </a:txBody>
                  <a:tcPr marL="73152" marR="73152" marT="27432" marB="27432">
                    <a:solidFill>
                      <a:srgbClr val="FFFFFF"/>
                    </a:solidFill>
                  </a:tcPr>
                </a:tc>
                <a:extLst>
                  <a:ext uri="{0D108BD9-81ED-4DB2-BD59-A6C34878D82A}">
                    <a16:rowId xmlns:a16="http://schemas.microsoft.com/office/drawing/2014/main" val="10001"/>
                  </a:ext>
                </a:extLst>
              </a:tr>
              <a:tr h="393192">
                <a:tc>
                  <a:txBody>
                    <a:bodyPr/>
                    <a:lstStyle/>
                    <a:p>
                      <a:pPr algn="ctr"/>
                      <a:r>
                        <a:rPr sz="1500" b="1">
                          <a:solidFill>
                            <a:srgbClr val="1A1A1A"/>
                          </a:solidFill>
                          <a:latin typeface="Arial"/>
                        </a:rPr>
                        <a:t>RF 2</a:t>
                      </a:r>
                    </a:p>
                  </a:txBody>
                  <a:tcPr marL="73152" marR="73152" marT="27432" marB="27432">
                    <a:solidFill>
                      <a:srgbClr val="EFF3F9"/>
                    </a:solidFill>
                  </a:tcPr>
                </a:tc>
                <a:tc>
                  <a:txBody>
                    <a:bodyPr/>
                    <a:lstStyle/>
                    <a:p>
                      <a:pPr algn="ctr"/>
                      <a:r>
                        <a:rPr sz="1500" b="1">
                          <a:solidFill>
                            <a:srgbClr val="1A1A1A"/>
                          </a:solidFill>
                          <a:latin typeface="Arial"/>
                        </a:rPr>
                        <a:t>Gestión de usuarios</a:t>
                      </a:r>
                    </a:p>
                  </a:txBody>
                  <a:tcPr marL="73152" marR="73152" marT="27432" marB="27432">
                    <a:solidFill>
                      <a:srgbClr val="EFF3F9"/>
                    </a:solidFill>
                  </a:tcPr>
                </a:tc>
                <a:tc>
                  <a:txBody>
                    <a:bodyPr/>
                    <a:lstStyle/>
                    <a:p>
                      <a:pPr algn="ctr"/>
                      <a:r>
                        <a:rPr sz="1500" b="1">
                          <a:solidFill>
                            <a:srgbClr val="1A1A1A"/>
                          </a:solidFill>
                          <a:latin typeface="Arial"/>
                        </a:rPr>
                        <a:t>8</a:t>
                      </a:r>
                    </a:p>
                  </a:txBody>
                  <a:tcPr marL="73152" marR="73152" marT="27432" marB="27432">
                    <a:solidFill>
                      <a:srgbClr val="EFF3F9"/>
                    </a:solidFill>
                  </a:tcPr>
                </a:tc>
                <a:tc>
                  <a:txBody>
                    <a:bodyPr/>
                    <a:lstStyle/>
                    <a:p>
                      <a:pPr algn="ctr"/>
                      <a:r>
                        <a:rPr sz="1500" b="1">
                          <a:solidFill>
                            <a:srgbClr val="1A1A1A"/>
                          </a:solidFill>
                          <a:latin typeface="Arial"/>
                        </a:rPr>
                        <a:t>3</a:t>
                      </a:r>
                    </a:p>
                  </a:txBody>
                  <a:tcPr marL="73152" marR="73152" marT="27432" marB="27432">
                    <a:solidFill>
                      <a:srgbClr val="EFF3F9"/>
                    </a:solidFill>
                  </a:tcPr>
                </a:tc>
                <a:extLst>
                  <a:ext uri="{0D108BD9-81ED-4DB2-BD59-A6C34878D82A}">
                    <a16:rowId xmlns:a16="http://schemas.microsoft.com/office/drawing/2014/main" val="10002"/>
                  </a:ext>
                </a:extLst>
              </a:tr>
              <a:tr h="393192">
                <a:tc>
                  <a:txBody>
                    <a:bodyPr/>
                    <a:lstStyle/>
                    <a:p>
                      <a:pPr algn="ctr"/>
                      <a:r>
                        <a:rPr sz="1500" b="1">
                          <a:solidFill>
                            <a:srgbClr val="1A1A1A"/>
                          </a:solidFill>
                          <a:latin typeface="Arial"/>
                        </a:rPr>
                        <a:t>RF 3</a:t>
                      </a:r>
                    </a:p>
                  </a:txBody>
                  <a:tcPr marL="73152" marR="73152" marT="27432" marB="27432">
                    <a:solidFill>
                      <a:srgbClr val="FFFFFF"/>
                    </a:solidFill>
                  </a:tcPr>
                </a:tc>
                <a:tc>
                  <a:txBody>
                    <a:bodyPr/>
                    <a:lstStyle/>
                    <a:p>
                      <a:pPr algn="ctr"/>
                      <a:r>
                        <a:rPr sz="1500" b="1">
                          <a:solidFill>
                            <a:srgbClr val="1A1A1A"/>
                          </a:solidFill>
                          <a:latin typeface="Arial"/>
                        </a:rPr>
                        <a:t>Gestión de médicos</a:t>
                      </a:r>
                    </a:p>
                  </a:txBody>
                  <a:tcPr marL="73152" marR="73152" marT="27432" marB="27432">
                    <a:solidFill>
                      <a:srgbClr val="FFFFFF"/>
                    </a:solidFill>
                  </a:tcPr>
                </a:tc>
                <a:tc>
                  <a:txBody>
                    <a:bodyPr/>
                    <a:lstStyle/>
                    <a:p>
                      <a:pPr algn="ctr"/>
                      <a:r>
                        <a:rPr sz="1500" b="1">
                          <a:solidFill>
                            <a:srgbClr val="1A1A1A"/>
                          </a:solidFill>
                          <a:latin typeface="Arial"/>
                        </a:rPr>
                        <a:t>8</a:t>
                      </a:r>
                    </a:p>
                  </a:txBody>
                  <a:tcPr marL="73152" marR="73152" marT="27432" marB="27432">
                    <a:solidFill>
                      <a:srgbClr val="FFFFFF"/>
                    </a:solidFill>
                  </a:tcPr>
                </a:tc>
                <a:tc>
                  <a:txBody>
                    <a:bodyPr/>
                    <a:lstStyle/>
                    <a:p>
                      <a:pPr algn="ctr"/>
                      <a:r>
                        <a:rPr sz="1500" b="1">
                          <a:solidFill>
                            <a:srgbClr val="1A1A1A"/>
                          </a:solidFill>
                          <a:latin typeface="Arial"/>
                        </a:rPr>
                        <a:t>3</a:t>
                      </a:r>
                    </a:p>
                  </a:txBody>
                  <a:tcPr marL="73152" marR="73152" marT="27432" marB="27432">
                    <a:solidFill>
                      <a:srgbClr val="FFFFFF"/>
                    </a:solidFill>
                  </a:tcPr>
                </a:tc>
                <a:extLst>
                  <a:ext uri="{0D108BD9-81ED-4DB2-BD59-A6C34878D82A}">
                    <a16:rowId xmlns:a16="http://schemas.microsoft.com/office/drawing/2014/main" val="10003"/>
                  </a:ext>
                </a:extLst>
              </a:tr>
              <a:tr h="393192">
                <a:tc>
                  <a:txBody>
                    <a:bodyPr/>
                    <a:lstStyle/>
                    <a:p>
                      <a:pPr algn="ctr"/>
                      <a:r>
                        <a:rPr sz="1500" b="1">
                          <a:solidFill>
                            <a:srgbClr val="1A1A1A"/>
                          </a:solidFill>
                          <a:latin typeface="Arial"/>
                        </a:rPr>
                        <a:t>RF 4</a:t>
                      </a:r>
                    </a:p>
                  </a:txBody>
                  <a:tcPr marL="73152" marR="73152" marT="27432" marB="27432">
                    <a:solidFill>
                      <a:srgbClr val="EFF3F9"/>
                    </a:solidFill>
                  </a:tcPr>
                </a:tc>
                <a:tc>
                  <a:txBody>
                    <a:bodyPr/>
                    <a:lstStyle/>
                    <a:p>
                      <a:pPr algn="ctr"/>
                      <a:r>
                        <a:rPr sz="1500" b="1">
                          <a:solidFill>
                            <a:srgbClr val="1A1A1A"/>
                          </a:solidFill>
                          <a:latin typeface="Arial"/>
                        </a:rPr>
                        <a:t>Gestión de pacientes</a:t>
                      </a:r>
                    </a:p>
                  </a:txBody>
                  <a:tcPr marL="73152" marR="73152" marT="27432" marB="27432">
                    <a:solidFill>
                      <a:srgbClr val="EFF3F9"/>
                    </a:solidFill>
                  </a:tcPr>
                </a:tc>
                <a:tc>
                  <a:txBody>
                    <a:bodyPr/>
                    <a:lstStyle/>
                    <a:p>
                      <a:pPr algn="ctr"/>
                      <a:r>
                        <a:rPr sz="1500" b="1">
                          <a:solidFill>
                            <a:srgbClr val="1A1A1A"/>
                          </a:solidFill>
                          <a:latin typeface="Arial"/>
                        </a:rPr>
                        <a:t>9</a:t>
                      </a:r>
                    </a:p>
                  </a:txBody>
                  <a:tcPr marL="73152" marR="73152" marT="27432" marB="27432">
                    <a:solidFill>
                      <a:srgbClr val="EFF3F9"/>
                    </a:solidFill>
                  </a:tcPr>
                </a:tc>
                <a:tc>
                  <a:txBody>
                    <a:bodyPr/>
                    <a:lstStyle/>
                    <a:p>
                      <a:pPr algn="ctr"/>
                      <a:r>
                        <a:rPr sz="1500" b="1">
                          <a:solidFill>
                            <a:srgbClr val="1A1A1A"/>
                          </a:solidFill>
                          <a:latin typeface="Arial"/>
                        </a:rPr>
                        <a:t>3</a:t>
                      </a:r>
                    </a:p>
                  </a:txBody>
                  <a:tcPr marL="73152" marR="73152" marT="27432" marB="27432">
                    <a:solidFill>
                      <a:srgbClr val="EFF3F9"/>
                    </a:solidFill>
                  </a:tcPr>
                </a:tc>
                <a:extLst>
                  <a:ext uri="{0D108BD9-81ED-4DB2-BD59-A6C34878D82A}">
                    <a16:rowId xmlns:a16="http://schemas.microsoft.com/office/drawing/2014/main" val="10004"/>
                  </a:ext>
                </a:extLst>
              </a:tr>
              <a:tr h="393192">
                <a:tc>
                  <a:txBody>
                    <a:bodyPr/>
                    <a:lstStyle/>
                    <a:p>
                      <a:pPr algn="ctr"/>
                      <a:r>
                        <a:rPr sz="1500" b="1">
                          <a:solidFill>
                            <a:srgbClr val="1A1A1A"/>
                          </a:solidFill>
                          <a:latin typeface="Arial"/>
                        </a:rPr>
                        <a:t>RF 5</a:t>
                      </a:r>
                    </a:p>
                  </a:txBody>
                  <a:tcPr marL="73152" marR="73152" marT="27432" marB="27432">
                    <a:solidFill>
                      <a:srgbClr val="FFFFFF"/>
                    </a:solidFill>
                  </a:tcPr>
                </a:tc>
                <a:tc>
                  <a:txBody>
                    <a:bodyPr/>
                    <a:lstStyle/>
                    <a:p>
                      <a:pPr algn="ctr"/>
                      <a:r>
                        <a:rPr sz="1500" b="1">
                          <a:solidFill>
                            <a:srgbClr val="1A1A1A"/>
                          </a:solidFill>
                          <a:latin typeface="Arial"/>
                        </a:rPr>
                        <a:t>Agendamiento de citas</a:t>
                      </a:r>
                    </a:p>
                  </a:txBody>
                  <a:tcPr marL="73152" marR="73152" marT="27432" marB="27432">
                    <a:solidFill>
                      <a:srgbClr val="FFFFFF"/>
                    </a:solidFill>
                  </a:tcPr>
                </a:tc>
                <a:tc>
                  <a:txBody>
                    <a:bodyPr/>
                    <a:lstStyle/>
                    <a:p>
                      <a:pPr algn="ctr"/>
                      <a:r>
                        <a:rPr sz="1500" b="1">
                          <a:solidFill>
                            <a:srgbClr val="1A1A1A"/>
                          </a:solidFill>
                          <a:latin typeface="Arial"/>
                        </a:rPr>
                        <a:t>14</a:t>
                      </a:r>
                    </a:p>
                  </a:txBody>
                  <a:tcPr marL="73152" marR="73152" marT="27432" marB="27432">
                    <a:solidFill>
                      <a:srgbClr val="FFFFFF"/>
                    </a:solidFill>
                  </a:tcPr>
                </a:tc>
                <a:tc>
                  <a:txBody>
                    <a:bodyPr/>
                    <a:lstStyle/>
                    <a:p>
                      <a:pPr algn="ctr"/>
                      <a:r>
                        <a:rPr sz="1500" b="1">
                          <a:solidFill>
                            <a:srgbClr val="1A1A1A"/>
                          </a:solidFill>
                          <a:latin typeface="Arial"/>
                        </a:rPr>
                        <a:t>11</a:t>
                      </a:r>
                    </a:p>
                  </a:txBody>
                  <a:tcPr marL="73152" marR="73152" marT="27432" marB="27432">
                    <a:solidFill>
                      <a:srgbClr val="FFFFFF"/>
                    </a:solidFill>
                  </a:tcPr>
                </a:tc>
                <a:extLst>
                  <a:ext uri="{0D108BD9-81ED-4DB2-BD59-A6C34878D82A}">
                    <a16:rowId xmlns:a16="http://schemas.microsoft.com/office/drawing/2014/main" val="10005"/>
                  </a:ext>
                </a:extLst>
              </a:tr>
              <a:tr h="393192">
                <a:tc>
                  <a:txBody>
                    <a:bodyPr/>
                    <a:lstStyle/>
                    <a:p>
                      <a:pPr algn="ctr"/>
                      <a:r>
                        <a:rPr sz="1500" b="1">
                          <a:solidFill>
                            <a:srgbClr val="1A1A1A"/>
                          </a:solidFill>
                          <a:latin typeface="Arial"/>
                        </a:rPr>
                        <a:t>RF 6</a:t>
                      </a:r>
                    </a:p>
                  </a:txBody>
                  <a:tcPr marL="73152" marR="73152" marT="27432" marB="27432">
                    <a:solidFill>
                      <a:srgbClr val="EFF3F9"/>
                    </a:solidFill>
                  </a:tcPr>
                </a:tc>
                <a:tc>
                  <a:txBody>
                    <a:bodyPr/>
                    <a:lstStyle/>
                    <a:p>
                      <a:pPr algn="ctr"/>
                      <a:r>
                        <a:rPr sz="1500" b="1">
                          <a:solidFill>
                            <a:srgbClr val="1A1A1A"/>
                          </a:solidFill>
                          <a:latin typeface="Arial"/>
                        </a:rPr>
                        <a:t>Historia clínica</a:t>
                      </a:r>
                    </a:p>
                  </a:txBody>
                  <a:tcPr marL="73152" marR="73152" marT="27432" marB="27432">
                    <a:solidFill>
                      <a:srgbClr val="EFF3F9"/>
                    </a:solidFill>
                  </a:tcPr>
                </a:tc>
                <a:tc>
                  <a:txBody>
                    <a:bodyPr/>
                    <a:lstStyle/>
                    <a:p>
                      <a:pPr algn="ctr"/>
                      <a:r>
                        <a:rPr sz="1500" b="1">
                          <a:solidFill>
                            <a:srgbClr val="1A1A1A"/>
                          </a:solidFill>
                          <a:latin typeface="Arial"/>
                        </a:rPr>
                        <a:t>8</a:t>
                      </a:r>
                    </a:p>
                  </a:txBody>
                  <a:tcPr marL="73152" marR="73152" marT="27432" marB="27432">
                    <a:solidFill>
                      <a:srgbClr val="EFF3F9"/>
                    </a:solidFill>
                  </a:tcPr>
                </a:tc>
                <a:tc>
                  <a:txBody>
                    <a:bodyPr/>
                    <a:lstStyle/>
                    <a:p>
                      <a:pPr algn="ctr"/>
                      <a:r>
                        <a:rPr sz="1500" b="1">
                          <a:solidFill>
                            <a:srgbClr val="1A1A1A"/>
                          </a:solidFill>
                          <a:latin typeface="Arial"/>
                        </a:rPr>
                        <a:t>5</a:t>
                      </a:r>
                    </a:p>
                  </a:txBody>
                  <a:tcPr marL="73152" marR="73152" marT="27432" marB="27432">
                    <a:solidFill>
                      <a:srgbClr val="EFF3F9"/>
                    </a:solidFill>
                  </a:tcPr>
                </a:tc>
                <a:extLst>
                  <a:ext uri="{0D108BD9-81ED-4DB2-BD59-A6C34878D82A}">
                    <a16:rowId xmlns:a16="http://schemas.microsoft.com/office/drawing/2014/main" val="10006"/>
                  </a:ext>
                </a:extLst>
              </a:tr>
              <a:tr h="393192">
                <a:tc>
                  <a:txBody>
                    <a:bodyPr/>
                    <a:lstStyle/>
                    <a:p>
                      <a:pPr algn="ctr"/>
                      <a:r>
                        <a:rPr sz="1500" b="1">
                          <a:solidFill>
                            <a:srgbClr val="1A1A1A"/>
                          </a:solidFill>
                          <a:latin typeface="Arial"/>
                        </a:rPr>
                        <a:t>RF 7</a:t>
                      </a:r>
                    </a:p>
                  </a:txBody>
                  <a:tcPr marL="73152" marR="73152" marT="27432" marB="27432">
                    <a:solidFill>
                      <a:srgbClr val="FFFFFF"/>
                    </a:solidFill>
                  </a:tcPr>
                </a:tc>
                <a:tc>
                  <a:txBody>
                    <a:bodyPr/>
                    <a:lstStyle/>
                    <a:p>
                      <a:pPr algn="ctr"/>
                      <a:r>
                        <a:rPr sz="1500" b="1">
                          <a:solidFill>
                            <a:srgbClr val="1A1A1A"/>
                          </a:solidFill>
                          <a:latin typeface="Arial"/>
                        </a:rPr>
                        <a:t>Consultas y diagnósticos</a:t>
                      </a:r>
                    </a:p>
                  </a:txBody>
                  <a:tcPr marL="73152" marR="73152" marT="27432" marB="27432">
                    <a:solidFill>
                      <a:srgbClr val="FFFFFF"/>
                    </a:solidFill>
                  </a:tcPr>
                </a:tc>
                <a:tc>
                  <a:txBody>
                    <a:bodyPr/>
                    <a:lstStyle/>
                    <a:p>
                      <a:pPr algn="ctr"/>
                      <a:r>
                        <a:rPr sz="1500" b="1">
                          <a:solidFill>
                            <a:srgbClr val="1A1A1A"/>
                          </a:solidFill>
                          <a:latin typeface="Arial"/>
                        </a:rPr>
                        <a:t>8</a:t>
                      </a:r>
                    </a:p>
                  </a:txBody>
                  <a:tcPr marL="73152" marR="73152" marT="27432" marB="27432">
                    <a:solidFill>
                      <a:srgbClr val="FFFFFF"/>
                    </a:solidFill>
                  </a:tcPr>
                </a:tc>
                <a:tc>
                  <a:txBody>
                    <a:bodyPr/>
                    <a:lstStyle/>
                    <a:p>
                      <a:pPr algn="ctr"/>
                      <a:r>
                        <a:rPr sz="1500" b="1">
                          <a:solidFill>
                            <a:srgbClr val="1A1A1A"/>
                          </a:solidFill>
                          <a:latin typeface="Arial"/>
                        </a:rPr>
                        <a:t>5</a:t>
                      </a:r>
                    </a:p>
                  </a:txBody>
                  <a:tcPr marL="73152" marR="73152" marT="27432" marB="27432">
                    <a:solidFill>
                      <a:srgbClr val="FFFFFF"/>
                    </a:solidFill>
                  </a:tcPr>
                </a:tc>
                <a:extLst>
                  <a:ext uri="{0D108BD9-81ED-4DB2-BD59-A6C34878D82A}">
                    <a16:rowId xmlns:a16="http://schemas.microsoft.com/office/drawing/2014/main" val="10007"/>
                  </a:ext>
                </a:extLst>
              </a:tr>
              <a:tr h="393192">
                <a:tc>
                  <a:txBody>
                    <a:bodyPr/>
                    <a:lstStyle/>
                    <a:p>
                      <a:pPr algn="ctr"/>
                      <a:r>
                        <a:rPr sz="1500" b="1">
                          <a:solidFill>
                            <a:srgbClr val="1A1A1A"/>
                          </a:solidFill>
                          <a:latin typeface="Arial"/>
                        </a:rPr>
                        <a:t>RF 8</a:t>
                      </a:r>
                    </a:p>
                  </a:txBody>
                  <a:tcPr marL="73152" marR="73152" marT="27432" marB="27432">
                    <a:solidFill>
                      <a:srgbClr val="EFF3F9"/>
                    </a:solidFill>
                  </a:tcPr>
                </a:tc>
                <a:tc>
                  <a:txBody>
                    <a:bodyPr/>
                    <a:lstStyle/>
                    <a:p>
                      <a:pPr algn="ctr"/>
                      <a:r>
                        <a:rPr sz="1500" b="1">
                          <a:solidFill>
                            <a:srgbClr val="1A1A1A"/>
                          </a:solidFill>
                          <a:latin typeface="Arial"/>
                        </a:rPr>
                        <a:t>Prescripciones</a:t>
                      </a:r>
                    </a:p>
                  </a:txBody>
                  <a:tcPr marL="73152" marR="73152" marT="27432" marB="27432">
                    <a:solidFill>
                      <a:srgbClr val="EFF3F9"/>
                    </a:solidFill>
                  </a:tcPr>
                </a:tc>
                <a:tc>
                  <a:txBody>
                    <a:bodyPr/>
                    <a:lstStyle/>
                    <a:p>
                      <a:pPr algn="ctr"/>
                      <a:r>
                        <a:rPr sz="1500" b="1">
                          <a:solidFill>
                            <a:srgbClr val="1A1A1A"/>
                          </a:solidFill>
                          <a:latin typeface="Arial"/>
                        </a:rPr>
                        <a:t>8</a:t>
                      </a:r>
                    </a:p>
                  </a:txBody>
                  <a:tcPr marL="73152" marR="73152" marT="27432" marB="27432">
                    <a:solidFill>
                      <a:srgbClr val="EFF3F9"/>
                    </a:solidFill>
                  </a:tcPr>
                </a:tc>
                <a:tc>
                  <a:txBody>
                    <a:bodyPr/>
                    <a:lstStyle/>
                    <a:p>
                      <a:pPr algn="ctr"/>
                      <a:r>
                        <a:rPr sz="1500" b="1">
                          <a:solidFill>
                            <a:srgbClr val="1A1A1A"/>
                          </a:solidFill>
                          <a:latin typeface="Arial"/>
                        </a:rPr>
                        <a:t>3</a:t>
                      </a:r>
                    </a:p>
                  </a:txBody>
                  <a:tcPr marL="73152" marR="73152" marT="27432" marB="27432">
                    <a:solidFill>
                      <a:srgbClr val="EFF3F9"/>
                    </a:solidFill>
                  </a:tcPr>
                </a:tc>
                <a:extLst>
                  <a:ext uri="{0D108BD9-81ED-4DB2-BD59-A6C34878D82A}">
                    <a16:rowId xmlns:a16="http://schemas.microsoft.com/office/drawing/2014/main" val="10008"/>
                  </a:ext>
                </a:extLst>
              </a:tr>
              <a:tr h="393192">
                <a:tc>
                  <a:txBody>
                    <a:bodyPr/>
                    <a:lstStyle/>
                    <a:p>
                      <a:pPr algn="ctr"/>
                      <a:r>
                        <a:rPr>
                          <a:solidFill/>
                        </a:rPr>
                        <a:t>RF 9</a:t>
                      </a:r>
                      <a:endParaRPr b="1"/>
                    </a:p>
                  </a:txBody>
                  <a:tcPr marL="73152" marR="73152" marT="27432" marB="27432">
                    <a:solidFill>
                      <a:srgbClr val="FFFFFF"/>
                    </a:solidFill>
                  </a:tcPr>
                </a:tc>
                <a:tc>
                  <a:txBody>
                    <a:bodyPr/>
                    <a:lstStyle/>
                    <a:p>
                      <a:pPr algn="ctr"/>
                      <a:r>
                        <a:rPr sz="1500" b="1">
                          <a:solidFill>
                            <a:srgbClr val="1A1A1A"/>
                          </a:solidFill>
                          <a:latin typeface="Arial"/>
                        </a:rPr>
                        <a:t>Exámenes de laboratorio</a:t>
                      </a:r>
                    </a:p>
                  </a:txBody>
                  <a:tcPr marL="73152" marR="73152" marT="27432" marB="27432">
                    <a:solidFill>
                      <a:srgbClr val="FFFFFF"/>
                    </a:solidFill>
                  </a:tcPr>
                </a:tc>
                <a:tc>
                  <a:txBody>
                    <a:bodyPr/>
                    <a:lstStyle/>
                    <a:p>
                      <a:pPr algn="ctr"/>
                      <a:r>
                        <a:rPr sz="1500" b="1">
                          <a:solidFill>
                            <a:srgbClr val="1A1A1A"/>
                          </a:solidFill>
                          <a:latin typeface="Arial"/>
                        </a:rPr>
                        <a:t>7</a:t>
                      </a:r>
                    </a:p>
                  </a:txBody>
                  <a:tcPr marL="73152" marR="73152" marT="27432" marB="27432">
                    <a:solidFill>
                      <a:srgbClr val="FFFFFF"/>
                    </a:solidFill>
                  </a:tcPr>
                </a:tc>
                <a:tc>
                  <a:txBody>
                    <a:bodyPr/>
                    <a:lstStyle/>
                    <a:p>
                      <a:pPr algn="ctr"/>
                      <a:r>
                        <a:rPr sz="1500" b="1" dirty="0">
                          <a:solidFill>
                            <a:srgbClr val="1A1A1A"/>
                          </a:solidFill>
                          <a:latin typeface="Arial"/>
                        </a:rPr>
                        <a:t>3</a:t>
                      </a:r>
                    </a:p>
                  </a:txBody>
                  <a:tcPr marL="73152" marR="73152" marT="27432" marB="27432">
                    <a:solidFill>
                      <a:srgbClr val="FFFFFF"/>
                    </a:solidFill>
                  </a:tcPr>
                </a:tc>
                <a:extLst>
                  <a:ext uri="{0D108BD9-81ED-4DB2-BD59-A6C34878D82A}">
                    <a16:rowId xmlns:a16="http://schemas.microsoft.com/office/drawing/2014/main" val="10009"/>
                  </a:ext>
                </a:extLst>
              </a:tr>
              <a:tr h="393192">
                <a:tc>
                  <a:txBody>
                    <a:bodyPr/>
                    <a:lstStyle/>
                    <a:p>
                      <a:pPr algn="ctr"/>
                      <a:r>
                        <a:rPr>
                          <a:solidFill/>
                        </a:rPr>
                        <a:t>RF 10</a:t>
                      </a:r>
                      <a:endParaRPr b="1"/>
                    </a:p>
                  </a:txBody>
                  <a:tcPr marL="73152" marR="73152" marT="27432" marB="27432">
                    <a:solidFill>
                      <a:srgbClr val="FFFFFF"/>
                    </a:solidFill>
                  </a:tcPr>
                </a:tc>
                <a:tc>
                  <a:txBody>
                    <a:bodyPr/>
                    <a:lstStyle/>
                    <a:p>
                      <a:pPr algn="ctr"/>
                      <a:r>
                        <a:rPr sz="1500" b="1">
                          <a:solidFill>
                            <a:srgbClr val="1A1A1A"/>
                          </a:solidFill>
                          <a:latin typeface="Arial"/>
                        </a:rPr>
                        <a:t>Catálogos</a:t>
                      </a:r>
                    </a:p>
                  </a:txBody>
                  <a:tcPr marL="73152" marR="73152" marT="27432" marB="27432">
                    <a:solidFill>
                      <a:srgbClr val="FFFFFF"/>
                    </a:solidFill>
                  </a:tcPr>
                </a:tc>
                <a:tc>
                  <a:txBody>
                    <a:bodyPr/>
                    <a:lstStyle/>
                    <a:p>
                      <a:pPr algn="ctr"/>
                      <a:r>
                        <a:rPr sz="1500" b="1">
                          <a:solidFill>
                            <a:srgbClr val="1A1A1A"/>
                          </a:solidFill>
                          <a:latin typeface="Arial"/>
                        </a:rPr>
                        <a:t>8</a:t>
                      </a:r>
                    </a:p>
                  </a:txBody>
                  <a:tcPr marL="73152" marR="73152" marT="27432" marB="27432">
                    <a:solidFill>
                      <a:srgbClr val="FFFFFF"/>
                    </a:solidFill>
                  </a:tcPr>
                </a:tc>
                <a:tc>
                  <a:txBody>
                    <a:bodyPr/>
                    <a:lstStyle/>
                    <a:p>
                      <a:pPr algn="ctr"/>
                      <a:r>
                        <a:rPr sz="1500" b="1" dirty="0">
                          <a:solidFill>
                            <a:srgbClr val="1A1A1A"/>
                          </a:solidFill>
                          <a:latin typeface="Arial"/>
                        </a:rPr>
                        <a:t>0</a:t>
                      </a:r>
                    </a:p>
                  </a:txBody>
                  <a:tcPr marL="73152" marR="73152" marT="27432" marB="27432">
                    <a:solidFill>
                      <a:srgbClr val="FFFFFF"/>
                    </a:solidFill>
                  </a:tcPr>
                </a:tc>
                <a:extLst>
                  <a:ext uri="{0D108BD9-81ED-4DB2-BD59-A6C34878D82A}">
                    <a16:rowId xmlns:a16="http://schemas.microsoft.com/office/drawing/2014/main" val="10009"/>
                  </a:ext>
                </a:extLst>
              </a:tr>
              <a:tr h="393192">
                <a:tc>
                  <a:txBody>
                    <a:bodyPr/>
                    <a:lstStyle/>
                    <a:p>
                      <a:pPr algn="ctr"/>
                      <a:r>
                        <a:rPr>
                          <a:solidFill/>
                        </a:rPr>
                        <a:t/>
                      </a:r>
                      <a:endParaRPr b="1"/>
                    </a:p>
                  </a:txBody>
                  <a:tcPr marL="73152" marR="73152" marT="27432" marB="27432">
                    <a:solidFill>
                      <a:srgbClr val="FFFFFF"/>
                    </a:solidFill>
                  </a:tcPr>
                </a:tc>
                <a:tc>
                  <a:txBody>
                    <a:bodyPr/>
                    <a:lstStyle/>
                    <a:p>
                      <a:pPr algn="ctr"/>
                      <a:r>
                        <a:rPr sz="1500" b="1">
                          <a:solidFill>
                            <a:srgbClr val="1A1A1A"/>
                          </a:solidFill>
                          <a:latin typeface="Arial"/>
                        </a:rPr>
                        <a:t>Total</a:t>
                      </a:r>
                    </a:p>
                  </a:txBody>
                  <a:tcPr marL="73152" marR="73152" marT="27432" marB="27432">
                    <a:solidFill>
                      <a:srgbClr val="FFFFFF"/>
                    </a:solidFill>
                  </a:tcPr>
                </a:tc>
                <a:tc>
                  <a:txBody>
                    <a:bodyPr/>
                    <a:lstStyle/>
                    <a:p>
                      <a:pPr algn="ctr"/>
                      <a:r>
                        <a:rPr sz="1500" b="1">
                          <a:solidFill>
                            <a:srgbClr val="1A1A1A"/>
                          </a:solidFill>
                          <a:latin typeface="Arial"/>
                        </a:rPr>
                        <a:t>87</a:t>
                      </a:r>
                    </a:p>
                  </a:txBody>
                  <a:tcPr marL="73152" marR="73152" marT="27432" marB="27432">
                    <a:solidFill>
                      <a:srgbClr val="FFFFFF"/>
                    </a:solidFill>
                  </a:tcPr>
                </a:tc>
                <a:tc>
                  <a:txBody>
                    <a:bodyPr/>
                    <a:lstStyle/>
                    <a:p>
                      <a:pPr algn="ctr"/>
                      <a:r>
                        <a:rPr sz="1500" b="1" dirty="0">
                          <a:solidFill>
                            <a:srgbClr val="1A1A1A"/>
                          </a:solidFill>
                          <a:latin typeface="Arial"/>
                        </a:rPr>
                        <a:t>42</a:t>
                      </a:r>
                    </a:p>
                  </a:txBody>
                  <a:tcPr marL="73152" marR="73152" marT="27432" marB="27432">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109006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4" name="Imagen 3">
            <a:extLst>
              <a:ext uri="{FF2B5EF4-FFF2-40B4-BE49-F238E27FC236}">
                <a16:creationId xmlns:a16="http://schemas.microsoft.com/office/drawing/2014/main" id="{F7C78399-1E29-27CA-5313-4AC6DD3B1930}"/>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Requisitos No Funcionales</a:t>
            </a:r>
            <a:endParaRPr sz="2700" dirty="0">
              <a:solidFill>
                <a:srgbClr val="003366"/>
              </a:solidFill>
              <a:latin typeface="Plus Jakarta Sans ExtraBold"/>
              <a:cs typeface="Plus Jakarta Sans ExtraBold"/>
            </a:endParaRPr>
          </a:p>
        </p:txBody>
      </p:sp>
      <p:graphicFrame>
        <p:nvGraphicFramePr>
          <p:cNvPr id="24" name="Table 23"/>
          <p:cNvGraphicFramePr>
            <a:graphicFrameLocks noGrp="1"/>
          </p:cNvGraphicFramePr>
          <p:nvPr>
            <p:extLst>
              <p:ext uri="{D42A27DB-BD31-4B8C-83A1-F6EECF244321}">
                <p14:modId xmlns:p14="http://schemas.microsoft.com/office/powerpoint/2010/main" val="3303064204"/>
              </p:ext>
            </p:extLst>
          </p:nvPr>
        </p:nvGraphicFramePr>
        <p:xfrm>
          <a:off x="685800" y="1417320"/>
          <a:ext cx="10835640" cy="420624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086600">
                  <a:extLst>
                    <a:ext uri="{9D8B030D-6E8A-4147-A177-3AD203B41FA5}">
                      <a16:colId xmlns:a16="http://schemas.microsoft.com/office/drawing/2014/main" val="20002"/>
                    </a:ext>
                  </a:extLst>
                </a:gridCol>
              </a:tblGrid>
              <a:tr h="323556">
                <a:tc>
                  <a:txBody>
                    <a:bodyPr/>
                    <a:lstStyle/>
                    <a:p>
                      <a:pPr algn="ctr"/>
                      <a:r>
                        <a:rPr sz="1400" b="1">
                          <a:solidFill>
                            <a:srgbClr val="FFFFFF"/>
                          </a:solidFill>
                          <a:latin typeface="Arial"/>
                        </a:rPr>
                        <a:t>Categoría</a:t>
                      </a:r>
                    </a:p>
                  </a:txBody>
                  <a:tcPr marL="73152" marR="73152" marT="27432" marB="27432">
                    <a:solidFill>
                      <a:srgbClr val="1F3B73"/>
                    </a:solidFill>
                  </a:tcPr>
                </a:tc>
                <a:tc>
                  <a:txBody>
                    <a:bodyPr/>
                    <a:lstStyle/>
                    <a:p>
                      <a:pPr algn="ctr"/>
                      <a:r>
                        <a:rPr sz="1400" b="1">
                          <a:solidFill>
                            <a:srgbClr val="FFFFFF"/>
                          </a:solidFill>
                          <a:latin typeface="Arial"/>
                        </a:rPr>
                        <a:t>N.º</a:t>
                      </a:r>
                    </a:p>
                  </a:txBody>
                  <a:tcPr marL="73152" marR="73152" marT="27432" marB="27432">
                    <a:solidFill>
                      <a:srgbClr val="1F3B73"/>
                    </a:solidFill>
                  </a:tcPr>
                </a:tc>
                <a:tc>
                  <a:txBody>
                    <a:bodyPr/>
                    <a:lstStyle/>
                    <a:p>
                      <a:pPr algn="ctr"/>
                      <a:r>
                        <a:rPr sz="1400" b="1" dirty="0" err="1">
                          <a:solidFill>
                            <a:srgbClr val="FFFFFF"/>
                          </a:solidFill>
                          <a:latin typeface="Arial"/>
                        </a:rPr>
                        <a:t>Ejemplo</a:t>
                      </a:r>
                      <a:endParaRPr sz="1400" b="1" dirty="0">
                        <a:solidFill>
                          <a:srgbClr val="FFFFFF"/>
                        </a:solidFill>
                        <a:latin typeface="Arial"/>
                      </a:endParaRPr>
                    </a:p>
                  </a:txBody>
                  <a:tcPr marL="73152" marR="73152" marT="27432" marB="27432">
                    <a:solidFill>
                      <a:srgbClr val="1F3B73"/>
                    </a:solidFill>
                  </a:tcPr>
                </a:tc>
                <a:extLst>
                  <a:ext uri="{0D108BD9-81ED-4DB2-BD59-A6C34878D82A}">
                    <a16:rowId xmlns:a16="http://schemas.microsoft.com/office/drawing/2014/main" val="10000"/>
                  </a:ext>
                </a:extLst>
              </a:tr>
              <a:tr h="323556">
                <a:tc>
                  <a:txBody>
                    <a:bodyPr/>
                    <a:lstStyle/>
                    <a:p>
                      <a:pPr algn="ctr"/>
                      <a:r>
                        <a:rPr sz="1400" b="1">
                          <a:solidFill>
                            <a:srgbClr val="1A1A1A"/>
                          </a:solidFill>
                          <a:latin typeface="Arial"/>
                        </a:rPr>
                        <a:t>Seguridad</a:t>
                      </a:r>
                    </a:p>
                  </a:txBody>
                  <a:tcPr marL="73152" marR="73152" marT="27432" marB="27432">
                    <a:solidFill>
                      <a:srgbClr val="FFFFFF"/>
                    </a:solidFill>
                  </a:tcPr>
                </a:tc>
                <a:tc>
                  <a:txBody>
                    <a:bodyPr/>
                    <a:lstStyle/>
                    <a:p>
                      <a:pPr algn="ctr"/>
                      <a:r>
                        <a:rPr sz="1400" b="1">
                          <a:solidFill>
                            <a:srgbClr val="1A1A1A"/>
                          </a:solidFill>
                          <a:latin typeface="Arial"/>
                        </a:rPr>
                        <a:t>7</a:t>
                      </a:r>
                    </a:p>
                  </a:txBody>
                  <a:tcPr marL="73152" marR="73152" marT="27432" marB="27432">
                    <a:solidFill>
                      <a:srgbClr val="FFFFFF"/>
                    </a:solidFill>
                  </a:tcPr>
                </a:tc>
                <a:tc>
                  <a:txBody>
                    <a:bodyPr/>
                    <a:lstStyle/>
                    <a:p>
                      <a:pPr algn="ctr"/>
                      <a:r>
                        <a:rPr sz="1400" b="1">
                          <a:solidFill>
                            <a:srgbClr val="1A1A1A"/>
                          </a:solidFill>
                          <a:latin typeface="Arial"/>
                        </a:rPr>
                        <a:t>La autoría de un registro clínico se toma de la sesión y nunca del formulario</a:t>
                      </a:r>
                    </a:p>
                  </a:txBody>
                  <a:tcPr marL="73152" marR="73152" marT="27432" marB="27432">
                    <a:solidFill>
                      <a:srgbClr val="FFFFFF"/>
                    </a:solidFill>
                  </a:tcPr>
                </a:tc>
                <a:extLst>
                  <a:ext uri="{0D108BD9-81ED-4DB2-BD59-A6C34878D82A}">
                    <a16:rowId xmlns:a16="http://schemas.microsoft.com/office/drawing/2014/main" val="10001"/>
                  </a:ext>
                </a:extLst>
              </a:tr>
              <a:tr h="323556">
                <a:tc>
                  <a:txBody>
                    <a:bodyPr/>
                    <a:lstStyle/>
                    <a:p>
                      <a:pPr algn="ctr"/>
                      <a:r>
                        <a:rPr sz="1400" b="1">
                          <a:solidFill>
                            <a:srgbClr val="1A1A1A"/>
                          </a:solidFill>
                          <a:latin typeface="Arial"/>
                        </a:rPr>
                        <a:t>Fiabilidad</a:t>
                      </a:r>
                    </a:p>
                  </a:txBody>
                  <a:tcPr marL="73152" marR="73152" marT="27432" marB="27432">
                    <a:solidFill>
                      <a:srgbClr val="EFF3F9"/>
                    </a:solidFill>
                  </a:tcPr>
                </a:tc>
                <a:tc>
                  <a:txBody>
                    <a:bodyPr/>
                    <a:lstStyle/>
                    <a:p>
                      <a:pPr algn="ctr"/>
                      <a:r>
                        <a:rPr sz="1400" b="1">
                          <a:solidFill>
                            <a:srgbClr val="1A1A1A"/>
                          </a:solidFill>
                          <a:latin typeface="Arial"/>
                        </a:rPr>
                        <a:t>4</a:t>
                      </a:r>
                    </a:p>
                  </a:txBody>
                  <a:tcPr marL="73152" marR="73152" marT="27432" marB="27432">
                    <a:solidFill>
                      <a:srgbClr val="EFF3F9"/>
                    </a:solidFill>
                  </a:tcPr>
                </a:tc>
                <a:tc>
                  <a:txBody>
                    <a:bodyPr/>
                    <a:lstStyle/>
                    <a:p>
                      <a:pPr algn="ctr"/>
                      <a:r>
                        <a:rPr sz="1400" b="1">
                          <a:solidFill>
                            <a:srgbClr val="1A1A1A"/>
                          </a:solidFill>
                          <a:latin typeface="Arial"/>
                        </a:rPr>
                        <a:t>De dos reservas simultáneas del mismo turno solo una queda en firme</a:t>
                      </a:r>
                    </a:p>
                  </a:txBody>
                  <a:tcPr marL="73152" marR="73152" marT="27432" marB="27432">
                    <a:solidFill>
                      <a:srgbClr val="EFF3F9"/>
                    </a:solidFill>
                  </a:tcPr>
                </a:tc>
                <a:extLst>
                  <a:ext uri="{0D108BD9-81ED-4DB2-BD59-A6C34878D82A}">
                    <a16:rowId xmlns:a16="http://schemas.microsoft.com/office/drawing/2014/main" val="10002"/>
                  </a:ext>
                </a:extLst>
              </a:tr>
              <a:tr h="323556">
                <a:tc>
                  <a:txBody>
                    <a:bodyPr/>
                    <a:lstStyle/>
                    <a:p>
                      <a:pPr algn="ctr"/>
                      <a:r>
                        <a:rPr sz="1400" b="1">
                          <a:solidFill>
                            <a:srgbClr val="1A1A1A"/>
                          </a:solidFill>
                          <a:latin typeface="Arial"/>
                        </a:rPr>
                        <a:t>Usabilidad</a:t>
                      </a:r>
                    </a:p>
                  </a:txBody>
                  <a:tcPr marL="73152" marR="73152" marT="27432" marB="27432">
                    <a:solidFill>
                      <a:srgbClr val="FFFFFF"/>
                    </a:solidFill>
                  </a:tcPr>
                </a:tc>
                <a:tc>
                  <a:txBody>
                    <a:bodyPr/>
                    <a:lstStyle/>
                    <a:p>
                      <a:pPr algn="ctr"/>
                      <a:r>
                        <a:rPr sz="1400" b="1">
                          <a:solidFill>
                            <a:srgbClr val="1A1A1A"/>
                          </a:solidFill>
                          <a:latin typeface="Arial"/>
                        </a:rPr>
                        <a:t>4</a:t>
                      </a:r>
                    </a:p>
                  </a:txBody>
                  <a:tcPr marL="73152" marR="73152" marT="27432" marB="27432">
                    <a:solidFill>
                      <a:srgbClr val="FFFFFF"/>
                    </a:solidFill>
                  </a:tcPr>
                </a:tc>
                <a:tc>
                  <a:txBody>
                    <a:bodyPr/>
                    <a:lstStyle/>
                    <a:p>
                      <a:pPr algn="ctr"/>
                      <a:r>
                        <a:rPr sz="1400" b="1">
                          <a:solidFill>
                            <a:srgbClr val="1A1A1A"/>
                          </a:solidFill>
                          <a:latin typeface="Arial"/>
                        </a:rPr>
                        <a:t>El ingreso lleva directo al panel del rol, sin pedir que se elija perfil</a:t>
                      </a:r>
                    </a:p>
                  </a:txBody>
                  <a:tcPr marL="73152" marR="73152" marT="27432" marB="27432">
                    <a:solidFill>
                      <a:srgbClr val="FFFFFF"/>
                    </a:solidFill>
                  </a:tcPr>
                </a:tc>
                <a:extLst>
                  <a:ext uri="{0D108BD9-81ED-4DB2-BD59-A6C34878D82A}">
                    <a16:rowId xmlns:a16="http://schemas.microsoft.com/office/drawing/2014/main" val="10003"/>
                  </a:ext>
                </a:extLst>
              </a:tr>
              <a:tr h="323556">
                <a:tc>
                  <a:txBody>
                    <a:bodyPr/>
                    <a:lstStyle/>
                    <a:p>
                      <a:pPr algn="ctr"/>
                      <a:r>
                        <a:rPr sz="1400" b="1">
                          <a:solidFill>
                            <a:srgbClr val="1A1A1A"/>
                          </a:solidFill>
                          <a:latin typeface="Arial"/>
                        </a:rPr>
                        <a:t>Mantenibilidad</a:t>
                      </a:r>
                    </a:p>
                  </a:txBody>
                  <a:tcPr marL="73152" marR="73152" marT="27432" marB="27432">
                    <a:solidFill>
                      <a:srgbClr val="EFF3F9"/>
                    </a:solidFill>
                  </a:tcPr>
                </a:tc>
                <a:tc>
                  <a:txBody>
                    <a:bodyPr/>
                    <a:lstStyle/>
                    <a:p>
                      <a:pPr algn="ctr"/>
                      <a:r>
                        <a:rPr sz="1400" b="1">
                          <a:solidFill>
                            <a:srgbClr val="1A1A1A"/>
                          </a:solidFill>
                          <a:latin typeface="Arial"/>
                        </a:rPr>
                        <a:t>4</a:t>
                      </a:r>
                    </a:p>
                  </a:txBody>
                  <a:tcPr marL="73152" marR="73152" marT="27432" marB="27432">
                    <a:solidFill>
                      <a:srgbClr val="EFF3F9"/>
                    </a:solidFill>
                  </a:tcPr>
                </a:tc>
                <a:tc>
                  <a:txBody>
                    <a:bodyPr/>
                    <a:lstStyle/>
                    <a:p>
                      <a:pPr algn="ctr"/>
                      <a:r>
                        <a:rPr sz="1400" b="1">
                          <a:solidFill>
                            <a:srgbClr val="1A1A1A"/>
                          </a:solidFill>
                          <a:latin typeface="Arial"/>
                        </a:rPr>
                        <a:t>La comprobación del rol está implementada una sola vez, como decorador</a:t>
                      </a:r>
                    </a:p>
                  </a:txBody>
                  <a:tcPr marL="73152" marR="73152" marT="27432" marB="27432">
                    <a:solidFill>
                      <a:srgbClr val="EFF3F9"/>
                    </a:solidFill>
                  </a:tcPr>
                </a:tc>
                <a:extLst>
                  <a:ext uri="{0D108BD9-81ED-4DB2-BD59-A6C34878D82A}">
                    <a16:rowId xmlns:a16="http://schemas.microsoft.com/office/drawing/2014/main" val="10004"/>
                  </a:ext>
                </a:extLst>
              </a:tr>
              <a:tr h="323556">
                <a:tc>
                  <a:txBody>
                    <a:bodyPr/>
                    <a:lstStyle/>
                    <a:p>
                      <a:pPr algn="ctr"/>
                      <a:r>
                        <a:rPr sz="1400" b="1">
                          <a:solidFill>
                            <a:srgbClr val="1A1A1A"/>
                          </a:solidFill>
                          <a:latin typeface="Arial"/>
                        </a:rPr>
                        <a:t>Rendimiento</a:t>
                      </a:r>
                    </a:p>
                  </a:txBody>
                  <a:tcPr marL="73152" marR="73152" marT="27432" marB="27432">
                    <a:solidFill>
                      <a:srgbClr val="FFFFFF"/>
                    </a:solidFill>
                  </a:tcPr>
                </a:tc>
                <a:tc>
                  <a:txBody>
                    <a:bodyPr/>
                    <a:lstStyle/>
                    <a:p>
                      <a:pPr algn="ctr"/>
                      <a:r>
                        <a:rPr sz="1400" b="1">
                          <a:solidFill>
                            <a:srgbClr val="1A1A1A"/>
                          </a:solidFill>
                          <a:latin typeface="Arial"/>
                        </a:rPr>
                        <a:t>2</a:t>
                      </a:r>
                    </a:p>
                  </a:txBody>
                  <a:tcPr marL="73152" marR="73152" marT="27432" marB="27432">
                    <a:solidFill>
                      <a:srgbClr val="FFFFFF"/>
                    </a:solidFill>
                  </a:tcPr>
                </a:tc>
                <a:tc>
                  <a:txBody>
                    <a:bodyPr/>
                    <a:lstStyle/>
                    <a:p>
                      <a:pPr algn="ctr"/>
                      <a:r>
                        <a:rPr sz="1400" b="1">
                          <a:solidFill>
                            <a:srgbClr val="1A1A1A"/>
                          </a:solidFill>
                          <a:latin typeface="Arial"/>
                        </a:rPr>
                        <a:t>El calendario de un médico se arma en menos de dos segundos</a:t>
                      </a:r>
                    </a:p>
                  </a:txBody>
                  <a:tcPr marL="73152" marR="73152" marT="27432" marB="27432">
                    <a:solidFill>
                      <a:srgbClr val="FFFFFF"/>
                    </a:solidFill>
                  </a:tcPr>
                </a:tc>
                <a:extLst>
                  <a:ext uri="{0D108BD9-81ED-4DB2-BD59-A6C34878D82A}">
                    <a16:rowId xmlns:a16="http://schemas.microsoft.com/office/drawing/2014/main" val="10005"/>
                  </a:ext>
                </a:extLst>
              </a:tr>
              <a:tr h="323556">
                <a:tc>
                  <a:txBody>
                    <a:bodyPr/>
                    <a:lstStyle/>
                    <a:p>
                      <a:pPr algn="ctr"/>
                      <a:r>
                        <a:rPr sz="1400" b="1">
                          <a:solidFill>
                            <a:srgbClr val="1A1A1A"/>
                          </a:solidFill>
                          <a:latin typeface="Arial"/>
                        </a:rPr>
                        <a:t>Portabilidad</a:t>
                      </a:r>
                    </a:p>
                  </a:txBody>
                  <a:tcPr marL="73152" marR="73152" marT="27432" marB="27432">
                    <a:solidFill>
                      <a:srgbClr val="EFF3F9"/>
                    </a:solidFill>
                  </a:tcPr>
                </a:tc>
                <a:tc>
                  <a:txBody>
                    <a:bodyPr/>
                    <a:lstStyle/>
                    <a:p>
                      <a:pPr algn="ctr"/>
                      <a:r>
                        <a:rPr sz="1400" b="1">
                          <a:solidFill>
                            <a:srgbClr val="1A1A1A"/>
                          </a:solidFill>
                          <a:latin typeface="Arial"/>
                        </a:rPr>
                        <a:t>2</a:t>
                      </a:r>
                    </a:p>
                  </a:txBody>
                  <a:tcPr marL="73152" marR="73152" marT="27432" marB="27432">
                    <a:solidFill>
                      <a:srgbClr val="EFF3F9"/>
                    </a:solidFill>
                  </a:tcPr>
                </a:tc>
                <a:tc>
                  <a:txBody>
                    <a:bodyPr/>
                    <a:lstStyle/>
                    <a:p>
                      <a:pPr algn="ctr"/>
                      <a:r>
                        <a:rPr sz="1400" b="1">
                          <a:solidFill>
                            <a:srgbClr val="1A1A1A"/>
                          </a:solidFill>
                          <a:latin typeface="Arial"/>
                        </a:rPr>
                        <a:t>Opera desde cualquier sistema operativo con un navegador vigente</a:t>
                      </a:r>
                    </a:p>
                  </a:txBody>
                  <a:tcPr marL="73152" marR="73152" marT="27432" marB="27432">
                    <a:solidFill>
                      <a:srgbClr val="EFF3F9"/>
                    </a:solidFill>
                  </a:tcPr>
                </a:tc>
                <a:extLst>
                  <a:ext uri="{0D108BD9-81ED-4DB2-BD59-A6C34878D82A}">
                    <a16:rowId xmlns:a16="http://schemas.microsoft.com/office/drawing/2014/main" val="10006"/>
                  </a:ext>
                </a:extLst>
              </a:tr>
              <a:tr h="323556">
                <a:tc>
                  <a:txBody>
                    <a:bodyPr/>
                    <a:lstStyle/>
                    <a:p>
                      <a:pPr algn="ctr"/>
                      <a:r>
                        <a:rPr sz="1400" b="1">
                          <a:solidFill>
                            <a:srgbClr val="1A1A1A"/>
                          </a:solidFill>
                          <a:latin typeface="Arial"/>
                        </a:rPr>
                        <a:t>Escalabilidad</a:t>
                      </a:r>
                    </a:p>
                  </a:txBody>
                  <a:tcPr marL="73152" marR="73152" marT="27432" marB="27432">
                    <a:solidFill>
                      <a:srgbClr val="FFFFFF"/>
                    </a:solidFill>
                  </a:tcPr>
                </a:tc>
                <a:tc>
                  <a:txBody>
                    <a:bodyPr/>
                    <a:lstStyle/>
                    <a:p>
                      <a:pPr algn="ctr"/>
                      <a:r>
                        <a:rPr sz="1400" b="1">
                          <a:solidFill>
                            <a:srgbClr val="1A1A1A"/>
                          </a:solidFill>
                          <a:latin typeface="Arial"/>
                        </a:rPr>
                        <a:t>1</a:t>
                      </a:r>
                    </a:p>
                  </a:txBody>
                  <a:tcPr marL="73152" marR="73152" marT="27432" marB="27432">
                    <a:solidFill>
                      <a:srgbClr val="FFFFFF"/>
                    </a:solidFill>
                  </a:tcPr>
                </a:tc>
                <a:tc>
                  <a:txBody>
                    <a:bodyPr/>
                    <a:lstStyle/>
                    <a:p>
                      <a:pPr algn="ctr"/>
                      <a:r>
                        <a:rPr sz="1400" b="1">
                          <a:solidFill>
                            <a:srgbClr val="1A1A1A"/>
                          </a:solidFill>
                          <a:latin typeface="Arial"/>
                        </a:rPr>
                        <a:t>Admite nuevas especialidades y medicamentos sin cambios en el código</a:t>
                      </a:r>
                    </a:p>
                  </a:txBody>
                  <a:tcPr marL="73152" marR="73152" marT="27432" marB="27432">
                    <a:solidFill>
                      <a:srgbClr val="FFFFFF"/>
                    </a:solidFill>
                  </a:tcPr>
                </a:tc>
                <a:extLst>
                  <a:ext uri="{0D108BD9-81ED-4DB2-BD59-A6C34878D82A}">
                    <a16:rowId xmlns:a16="http://schemas.microsoft.com/office/drawing/2014/main" val="10007"/>
                  </a:ext>
                </a:extLst>
              </a:tr>
              <a:tr h="323556">
                <a:tc>
                  <a:txBody>
                    <a:bodyPr/>
                    <a:lstStyle/>
                    <a:p>
                      <a:pPr algn="ctr"/>
                      <a:r>
                        <a:rPr sz="1400" b="1">
                          <a:solidFill>
                            <a:srgbClr val="1A1A1A"/>
                          </a:solidFill>
                          <a:latin typeface="Arial"/>
                        </a:rPr>
                        <a:t>Total</a:t>
                      </a:r>
                    </a:p>
                  </a:txBody>
                  <a:tcPr marL="73152" marR="73152" marT="27432" marB="27432">
                    <a:solidFill>
                      <a:srgbClr val="EFF3F9"/>
                    </a:solidFill>
                  </a:tcPr>
                </a:tc>
                <a:tc>
                  <a:txBody>
                    <a:bodyPr/>
                    <a:lstStyle/>
                    <a:p>
                      <a:pPr algn="ctr"/>
                      <a:r>
                        <a:rPr sz="1400" b="1">
                          <a:solidFill>
                            <a:srgbClr val="1A1A1A"/>
                          </a:solidFill>
                          <a:latin typeface="Arial"/>
                        </a:rPr>
                        <a:t>24</a:t>
                      </a:r>
                    </a:p>
                  </a:txBody>
                  <a:tcPr marL="73152" marR="73152" marT="27432" marB="27432">
                    <a:solidFill>
                      <a:srgbClr val="EFF3F9"/>
                    </a:solidFill>
                  </a:tcPr>
                </a:tc>
                <a:tc>
                  <a:txBody>
                    <a:bodyPr/>
                    <a:lstStyle/>
                    <a:p>
                      <a:pPr algn="ctr"/>
                      <a:r>
                        <a:rPr sz="1400" b="1">
                          <a:solidFill>
                            <a:srgbClr val="1A1A1A"/>
                          </a:solidFill>
                          <a:latin typeface="Arial"/>
                        </a:rPr>
                        <a:t/>
                      </a:r>
                    </a:p>
                  </a:txBody>
                  <a:tcPr marL="73152" marR="73152" marT="27432" marB="27432">
                    <a:solidFill>
                      <a:srgbClr val="EFF3F9"/>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13958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2" name="Google Shape;282;p23">
            <a:extLst>
              <a:ext uri="{FF2B5EF4-FFF2-40B4-BE49-F238E27FC236}">
                <a16:creationId xmlns:a16="http://schemas.microsoft.com/office/drawing/2014/main" id="{A5A9BDB2-C597-8A4A-8476-8F00C90E6F0D}"/>
              </a:ext>
            </a:extLst>
          </p:cNvPr>
          <p:cNvSpPr txBox="1"/>
          <p:nvPr/>
        </p:nvSpPr>
        <p:spPr>
          <a:xfrm>
            <a:off x="3585431" y="2982671"/>
            <a:ext cx="5021137" cy="892658"/>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6000"/>
              <a:buFont typeface="Arial"/>
              <a:buNone/>
            </a:pPr>
            <a:r>
              <a:rPr lang="es-CO" sz="4800" b="1" i="0" u="none" strike="noStrike" cap="none" dirty="0">
                <a:solidFill>
                  <a:schemeClr val="lt1"/>
                </a:solidFill>
                <a:latin typeface="Arial"/>
                <a:ea typeface="Arial"/>
                <a:cs typeface="Arial"/>
                <a:sym typeface="Arial"/>
              </a:rPr>
              <a:t>III. DISEÑO</a:t>
            </a:r>
            <a:endParaRPr sz="4800" b="1" i="0" u="none" strike="noStrike" cap="none" dirty="0">
              <a:solidFill>
                <a:schemeClr val="lt1"/>
              </a:solidFill>
              <a:latin typeface="Arial"/>
              <a:ea typeface="Arial"/>
              <a:cs typeface="Arial"/>
              <a:sym typeface="Arial"/>
            </a:endParaRPr>
          </a:p>
        </p:txBody>
      </p:sp>
      <p:pic>
        <p:nvPicPr>
          <p:cNvPr id="3" name="Google Shape;84;p13" descr="image.png">
            <a:extLst>
              <a:ext uri="{FF2B5EF4-FFF2-40B4-BE49-F238E27FC236}">
                <a16:creationId xmlns:a16="http://schemas.microsoft.com/office/drawing/2014/main" id="{BBC8D485-FC01-5E30-AE40-B0421AADFC22}"/>
              </a:ext>
            </a:extLst>
          </p:cNvPr>
          <p:cNvPicPr preferRelativeResize="0"/>
          <p:nvPr/>
        </p:nvPicPr>
        <p:blipFill rotWithShape="1">
          <a:blip r:embed="rId4">
            <a:alphaModFix/>
          </a:blip>
          <a:srcRect t="99333"/>
          <a:stretch/>
        </p:blipFill>
        <p:spPr>
          <a:xfrm>
            <a:off x="0" y="6820763"/>
            <a:ext cx="12192000" cy="45719"/>
          </a:xfrm>
          <a:prstGeom prst="rect">
            <a:avLst/>
          </a:prstGeom>
          <a:noFill/>
          <a:ln>
            <a:noFill/>
          </a:ln>
        </p:spPr>
      </p:pic>
    </p:spTree>
    <p:extLst>
      <p:ext uri="{BB962C8B-B14F-4D97-AF65-F5344CB8AC3E}">
        <p14:creationId xmlns:p14="http://schemas.microsoft.com/office/powerpoint/2010/main" val="4218216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4">
            <a:alphaModFix/>
          </a:blip>
          <a:srcRect t="99333"/>
          <a:stretch/>
        </p:blipFill>
        <p:spPr>
          <a:xfrm>
            <a:off x="0" y="6820763"/>
            <a:ext cx="12192000" cy="45719"/>
          </a:xfrm>
          <a:prstGeom prst="rect">
            <a:avLst/>
          </a:prstGeom>
          <a:noFill/>
          <a:ln>
            <a:noFill/>
          </a:ln>
        </p:spPr>
      </p:pic>
      <p:sp>
        <p:nvSpPr>
          <p:cNvPr id="11" name="Google Shape;169;p17">
            <a:extLst>
              <a:ext uri="{FF2B5EF4-FFF2-40B4-BE49-F238E27FC236}">
                <a16:creationId xmlns:a16="http://schemas.microsoft.com/office/drawing/2014/main" id="{81F0DD6F-780A-27A8-380E-E1A99AFA476A}"/>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Google Shape;168;p17">
            <a:extLst>
              <a:ext uri="{FF2B5EF4-FFF2-40B4-BE49-F238E27FC236}">
                <a16:creationId xmlns:a16="http://schemas.microsoft.com/office/drawing/2014/main" id="{16D628CE-8029-6333-6103-2254556DB8BE}"/>
              </a:ext>
            </a:extLst>
          </p:cNvPr>
          <p:cNvSpPr txBox="1"/>
          <p:nvPr/>
        </p:nvSpPr>
        <p:spPr>
          <a:xfrm>
            <a:off x="571500" y="476250"/>
            <a:ext cx="10424160" cy="4286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b="0" i="0" u="none" strike="noStrike" cap="none" dirty="0">
                <a:solidFill>
                  <a:srgbClr val="1A1A1A"/>
                </a:solidFill>
                <a:latin typeface="Plus Jakarta Sans ExtraBold"/>
                <a:ea typeface="Plus Jakarta Sans ExtraBold"/>
                <a:cs typeface="Plus Jakarta Sans ExtraBold"/>
                <a:sym typeface="Plus Jakarta Sans ExtraBold"/>
              </a:rPr>
              <a:t>Panel del Administrador</a:t>
            </a:r>
            <a:endParaRPr dirty="0"/>
          </a:p>
        </p:txBody>
      </p:sp>
      <p:pic>
        <p:nvPicPr>
          <p:cNvPr id="13" name="Picture 12" descr="Mockup panel de control.png"/>
          <p:cNvPicPr>
            <a:picLocks noChangeAspect="1"/>
          </p:cNvPicPr>
          <p:nvPr/>
        </p:nvPicPr>
        <p:blipFill>
          <a:blip r:embed="rId6"/>
          <a:stretch>
            <a:fillRect/>
          </a:stretch>
        </p:blipFill>
        <p:spPr>
          <a:xfrm>
            <a:off x="1455079" y="1714026"/>
            <a:ext cx="9281841" cy="4297587"/>
          </a:xfrm>
          <a:prstGeom prst="rect">
            <a:avLst/>
          </a:prstGeom>
        </p:spPr>
      </p:pic>
    </p:spTree>
    <p:extLst>
      <p:ext uri="{BB962C8B-B14F-4D97-AF65-F5344CB8AC3E}">
        <p14:creationId xmlns:p14="http://schemas.microsoft.com/office/powerpoint/2010/main" val="1555803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4">
            <a:alphaModFix/>
          </a:blip>
          <a:srcRect t="99333"/>
          <a:stretch/>
        </p:blipFill>
        <p:spPr>
          <a:xfrm>
            <a:off x="0" y="6820763"/>
            <a:ext cx="12192000" cy="45719"/>
          </a:xfrm>
          <a:prstGeom prst="rect">
            <a:avLst/>
          </a:prstGeom>
          <a:noFill/>
          <a:ln>
            <a:noFill/>
          </a:ln>
        </p:spPr>
      </p:pic>
      <p:sp>
        <p:nvSpPr>
          <p:cNvPr id="11" name="Google Shape;169;p17">
            <a:extLst>
              <a:ext uri="{FF2B5EF4-FFF2-40B4-BE49-F238E27FC236}">
                <a16:creationId xmlns:a16="http://schemas.microsoft.com/office/drawing/2014/main" id="{81F0DD6F-780A-27A8-380E-E1A99AFA476A}"/>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Google Shape;168;p17">
            <a:extLst>
              <a:ext uri="{FF2B5EF4-FFF2-40B4-BE49-F238E27FC236}">
                <a16:creationId xmlns:a16="http://schemas.microsoft.com/office/drawing/2014/main" id="{16D628CE-8029-6333-6103-2254556DB8BE}"/>
              </a:ext>
            </a:extLst>
          </p:cNvPr>
          <p:cNvSpPr txBox="1"/>
          <p:nvPr/>
        </p:nvSpPr>
        <p:spPr>
          <a:xfrm>
            <a:off x="571500" y="476250"/>
            <a:ext cx="10424160" cy="4286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b="0" i="0" u="none" strike="noStrike" cap="none" dirty="0">
                <a:solidFill>
                  <a:srgbClr val="1A1A1A"/>
                </a:solidFill>
                <a:latin typeface="Plus Jakarta Sans ExtraBold"/>
                <a:ea typeface="Plus Jakarta Sans ExtraBold"/>
                <a:cs typeface="Plus Jakarta Sans ExtraBold"/>
                <a:sym typeface="Plus Jakarta Sans ExtraBold"/>
              </a:rPr>
              <a:t>Calendario de Disponibilidad</a:t>
            </a:r>
            <a:endParaRPr dirty="0"/>
          </a:p>
        </p:txBody>
      </p:sp>
      <p:pic>
        <p:nvPicPr>
          <p:cNvPr id="13" name="Picture 12" descr="Mockup crear nueva factura.png"/>
          <p:cNvPicPr>
            <a:picLocks noChangeAspect="1"/>
          </p:cNvPicPr>
          <p:nvPr/>
        </p:nvPicPr>
        <p:blipFill>
          <a:blip r:embed="rId6"/>
          <a:stretch>
            <a:fillRect/>
          </a:stretch>
        </p:blipFill>
        <p:spPr>
          <a:xfrm>
            <a:off x="1613519" y="1787385"/>
            <a:ext cx="8964961" cy="4150868"/>
          </a:xfrm>
          <a:prstGeom prst="rect">
            <a:avLst/>
          </a:prstGeom>
        </p:spPr>
      </p:pic>
    </p:spTree>
    <p:extLst>
      <p:ext uri="{BB962C8B-B14F-4D97-AF65-F5344CB8AC3E}">
        <p14:creationId xmlns:p14="http://schemas.microsoft.com/office/powerpoint/2010/main" val="1843877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5" name="Imagen 4">
            <a:extLst>
              <a:ext uri="{FF2B5EF4-FFF2-40B4-BE49-F238E27FC236}">
                <a16:creationId xmlns:a16="http://schemas.microsoft.com/office/drawing/2014/main" id="{1A326E8D-29DD-38AC-4B96-E1C57C900C5F}"/>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Modelo Físico de la Base de Datos</a:t>
            </a:r>
            <a:endParaRPr sz="2700" dirty="0">
              <a:solidFill>
                <a:srgbClr val="003366"/>
              </a:solidFill>
              <a:latin typeface="Plus Jakarta Sans ExtraBold"/>
              <a:cs typeface="Plus Jakarta Sans ExtraBold"/>
            </a:endParaRPr>
          </a:p>
        </p:txBody>
      </p:sp>
      <p:pic>
        <p:nvPicPr>
          <p:cNvPr id="4" name="Imagen 3">
            <a:extLst>
              <a:ext uri="{FF2B5EF4-FFF2-40B4-BE49-F238E27FC236}">
                <a16:creationId xmlns:a16="http://schemas.microsoft.com/office/drawing/2014/main" id="{472ED12C-0B50-0A52-324E-6BFBAFF57297}"/>
              </a:ext>
            </a:extLst>
          </p:cNvPr>
          <p:cNvPicPr>
            <a:picLocks noChangeAspect="1"/>
          </p:cNvPicPr>
          <p:nvPr/>
        </p:nvPicPr>
        <p:blipFill>
          <a:blip r:embed="rId7"/>
          <a:stretch>
            <a:fillRect/>
          </a:stretch>
        </p:blipFill>
        <p:spPr>
          <a:xfrm>
            <a:off x="992840" y="975079"/>
            <a:ext cx="10206318" cy="5775479"/>
          </a:xfrm>
          <a:prstGeom prst="rect">
            <a:avLst/>
          </a:prstGeom>
        </p:spPr>
      </p:pic>
    </p:spTree>
    <p:extLst>
      <p:ext uri="{BB962C8B-B14F-4D97-AF65-F5344CB8AC3E}">
        <p14:creationId xmlns:p14="http://schemas.microsoft.com/office/powerpoint/2010/main" val="1712759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5" name="Imagen 4">
            <a:extLst>
              <a:ext uri="{FF2B5EF4-FFF2-40B4-BE49-F238E27FC236}">
                <a16:creationId xmlns:a16="http://schemas.microsoft.com/office/drawing/2014/main" id="{1A326E8D-29DD-38AC-4B96-E1C57C900C5F}"/>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Modelo Entidad-Relación</a:t>
            </a:r>
            <a:endParaRPr sz="2700" dirty="0">
              <a:solidFill>
                <a:srgbClr val="003366"/>
              </a:solidFill>
              <a:latin typeface="Plus Jakarta Sans ExtraBold"/>
              <a:cs typeface="Plus Jakarta Sans ExtraBold"/>
            </a:endParaRPr>
          </a:p>
        </p:txBody>
      </p:sp>
      <p:pic>
        <p:nvPicPr>
          <p:cNvPr id="6" name="Imagen 5">
            <a:extLst>
              <a:ext uri="{FF2B5EF4-FFF2-40B4-BE49-F238E27FC236}">
                <a16:creationId xmlns:a16="http://schemas.microsoft.com/office/drawing/2014/main" id="{FE6C59F0-388E-9C42-1BC6-5E8BC8B70DBD}"/>
              </a:ext>
            </a:extLst>
          </p:cNvPr>
          <p:cNvPicPr>
            <a:picLocks noChangeAspect="1"/>
          </p:cNvPicPr>
          <p:nvPr/>
        </p:nvPicPr>
        <p:blipFill>
          <a:blip r:embed="rId7"/>
          <a:stretch>
            <a:fillRect/>
          </a:stretch>
        </p:blipFill>
        <p:spPr>
          <a:xfrm>
            <a:off x="3135806" y="1770263"/>
            <a:ext cx="5920385" cy="4267526"/>
          </a:xfrm>
          <a:prstGeom prst="rect">
            <a:avLst/>
          </a:prstGeom>
        </p:spPr>
      </p:pic>
    </p:spTree>
    <p:extLst>
      <p:ext uri="{BB962C8B-B14F-4D97-AF65-F5344CB8AC3E}">
        <p14:creationId xmlns:p14="http://schemas.microsoft.com/office/powerpoint/2010/main" val="807938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5" name="Imagen 4">
            <a:extLst>
              <a:ext uri="{FF2B5EF4-FFF2-40B4-BE49-F238E27FC236}">
                <a16:creationId xmlns:a16="http://schemas.microsoft.com/office/drawing/2014/main" id="{1A326E8D-29DD-38AC-4B96-E1C57C900C5F}"/>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Diccionario de Datos</a:t>
            </a:r>
            <a:endParaRPr sz="2700" dirty="0">
              <a:solidFill>
                <a:srgbClr val="003366"/>
              </a:solidFill>
              <a:latin typeface="Plus Jakarta Sans ExtraBold"/>
              <a:cs typeface="Plus Jakarta Sans ExtraBold"/>
            </a:endParaRPr>
          </a:p>
        </p:txBody>
      </p:sp>
      <p:graphicFrame>
        <p:nvGraphicFramePr>
          <p:cNvPr id="25" name="Table 24"/>
          <p:cNvGraphicFramePr>
            <a:graphicFrameLocks noGrp="1"/>
          </p:cNvGraphicFramePr>
          <p:nvPr>
            <p:extLst>
              <p:ext uri="{D42A27DB-BD31-4B8C-83A1-F6EECF244321}">
                <p14:modId xmlns:p14="http://schemas.microsoft.com/office/powerpoint/2010/main" val="2031243114"/>
              </p:ext>
            </p:extLst>
          </p:nvPr>
        </p:nvGraphicFramePr>
        <p:xfrm>
          <a:off x="678179" y="1817885"/>
          <a:ext cx="10835640" cy="4089868"/>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5257800">
                  <a:extLst>
                    <a:ext uri="{9D8B030D-6E8A-4147-A177-3AD203B41FA5}">
                      <a16:colId xmlns:a16="http://schemas.microsoft.com/office/drawing/2014/main" val="20003"/>
                    </a:ext>
                  </a:extLst>
                </a:gridCol>
              </a:tblGrid>
              <a:tr h="340821">
                <a:tc>
                  <a:txBody>
                    <a:bodyPr/>
                    <a:lstStyle/>
                    <a:p>
                      <a:pPr algn="ctr"/>
                      <a:r>
                        <a:rPr sz="1400" b="1" dirty="0">
                          <a:solidFill>
                            <a:srgbClr val="FFFFFF"/>
                          </a:solidFill>
                          <a:latin typeface="Arial"/>
                        </a:rPr>
                        <a:t>Campo</a:t>
                      </a:r>
                    </a:p>
                  </a:txBody>
                  <a:tcPr marL="73152" marR="73152" marT="27432" marB="27432">
                    <a:lnB w="12700" cap="flat" cmpd="sng" algn="ctr">
                      <a:noFill/>
                      <a:prstDash val="solid"/>
                      <a:round/>
                      <a:headEnd type="none" w="med" len="med"/>
                      <a:tailEnd type="none" w="med" len="med"/>
                    </a:lnB>
                    <a:solidFill>
                      <a:srgbClr val="1F3B73"/>
                    </a:solidFill>
                  </a:tcPr>
                </a:tc>
                <a:tc>
                  <a:txBody>
                    <a:bodyPr/>
                    <a:lstStyle/>
                    <a:p>
                      <a:pPr algn="ctr"/>
                      <a:r>
                        <a:rPr sz="1400" b="1">
                          <a:solidFill>
                            <a:srgbClr val="FFFFFF"/>
                          </a:solidFill>
                          <a:latin typeface="Arial"/>
                        </a:rPr>
                        <a:t>Tipo</a:t>
                      </a:r>
                    </a:p>
                  </a:txBody>
                  <a:tcPr marL="73152" marR="73152" marT="27432" marB="27432">
                    <a:lnB w="12700" cap="flat" cmpd="sng" algn="ctr">
                      <a:noFill/>
                      <a:prstDash val="solid"/>
                      <a:round/>
                      <a:headEnd type="none" w="med" len="med"/>
                      <a:tailEnd type="none" w="med" len="med"/>
                    </a:lnB>
                    <a:solidFill>
                      <a:srgbClr val="1F3B73"/>
                    </a:solidFill>
                  </a:tcPr>
                </a:tc>
                <a:tc>
                  <a:txBody>
                    <a:bodyPr/>
                    <a:lstStyle/>
                    <a:p>
                      <a:pPr algn="ctr"/>
                      <a:r>
                        <a:rPr sz="1400" b="1">
                          <a:solidFill>
                            <a:srgbClr val="FFFFFF"/>
                          </a:solidFill>
                          <a:latin typeface="Arial"/>
                        </a:rPr>
                        <a:t>Clave</a:t>
                      </a:r>
                    </a:p>
                  </a:txBody>
                  <a:tcPr marL="73152" marR="73152" marT="27432" marB="27432">
                    <a:lnB w="12700" cap="flat" cmpd="sng" algn="ctr">
                      <a:noFill/>
                      <a:prstDash val="solid"/>
                      <a:round/>
                      <a:headEnd type="none" w="med" len="med"/>
                      <a:tailEnd type="none" w="med" len="med"/>
                    </a:lnB>
                    <a:solidFill>
                      <a:srgbClr val="1F3B73"/>
                    </a:solidFill>
                  </a:tcPr>
                </a:tc>
                <a:tc>
                  <a:txBody>
                    <a:bodyPr/>
                    <a:lstStyle/>
                    <a:p>
                      <a:pPr algn="ctr"/>
                      <a:r>
                        <a:rPr sz="1400" b="1">
                          <a:solidFill>
                            <a:srgbClr val="FFFFFF"/>
                          </a:solidFill>
                          <a:latin typeface="Arial"/>
                        </a:rPr>
                        <a:t>Descripción</a:t>
                      </a:r>
                    </a:p>
                  </a:txBody>
                  <a:tcPr marL="73152" marR="73152" marT="27432" marB="27432">
                    <a:lnB w="12700" cap="flat" cmpd="sng" algn="ctr">
                      <a:noFill/>
                      <a:prstDash val="solid"/>
                      <a:round/>
                      <a:headEnd type="none" w="med" len="med"/>
                      <a:tailEnd type="none" w="med" len="med"/>
                    </a:lnB>
                    <a:solidFill>
                      <a:srgbClr val="1F3B73"/>
                    </a:solidFill>
                  </a:tcPr>
                </a:tc>
                <a:extLst>
                  <a:ext uri="{0D108BD9-81ED-4DB2-BD59-A6C34878D82A}">
                    <a16:rowId xmlns:a16="http://schemas.microsoft.com/office/drawing/2014/main" val="10000"/>
                  </a:ext>
                </a:extLst>
              </a:tr>
              <a:tr h="340821">
                <a:tc>
                  <a:txBody>
                    <a:bodyPr/>
                    <a:lstStyle/>
                    <a:p>
                      <a:pPr marR="0" algn="ctr" rtl="0">
                        <a:lnSpc>
                          <a:spcPct val="100000"/>
                        </a:lnSpc>
                        <a:spcBef>
                          <a:spcPts val="0"/>
                        </a:spcBef>
                        <a:spcAft>
                          <a:spcPts val="0"/>
                        </a:spcAft>
                        <a:buClr>
                          <a:srgbClr val="000000"/>
                        </a:buClr>
                        <a:buFont typeface="Arial"/>
                      </a:pPr>
                      <a:r>
                        <a:rPr lang="es-CO" sz="1400" b="1" i="0" u="none" strike="noStrike" cap="none" dirty="0" err="1">
                          <a:solidFill>
                            <a:srgbClr val="1A1A1A"/>
                          </a:solidFill>
                          <a:latin typeface="Arial"/>
                          <a:ea typeface="+mn-ea"/>
                          <a:cs typeface="+mn-cs"/>
                          <a:sym typeface="Arial"/>
                        </a:rPr>
                        <a:t>id_paciente</a:t>
                      </a:r>
                      <a:endParaRPr sz="1400" b="1" i="0" u="none" strike="noStrike" cap="none" dirty="0">
                        <a:solidFill>
                          <a:srgbClr val="33373D"/>
                        </a:solidFill>
                        <a:latin typeface="Arial"/>
                        <a:ea typeface="+mn-ea"/>
                        <a:cs typeface="+mn-cs"/>
                        <a:sym typeface="Arial"/>
                      </a:endParaRPr>
                    </a:p>
                  </a:txBody>
                  <a:tcPr marL="73152" marR="73152" marT="27432" marB="27432">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sz="1400" b="1" i="0" u="none" strike="noStrike" cap="none" dirty="0" err="1">
                          <a:solidFill>
                            <a:srgbClr val="1A1A1A"/>
                          </a:solidFill>
                          <a:latin typeface="Arial"/>
                          <a:ea typeface="+mn-ea"/>
                          <a:cs typeface="+mn-cs"/>
                          <a:sym typeface="Arial"/>
                        </a:rPr>
                        <a:t>Entero (11)</a:t>
                      </a:r>
                    </a:p>
                  </a:txBody>
                  <a:tcPr marL="73152" marR="73152" marT="27432" marB="27432">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sz="1400" b="1" i="0" u="none" strike="noStrike" cap="none">
                          <a:solidFill>
                            <a:srgbClr val="1A1A1A"/>
                          </a:solidFill>
                          <a:latin typeface="Arial"/>
                          <a:ea typeface="+mn-ea"/>
                          <a:cs typeface="+mn-cs"/>
                          <a:sym typeface="Arial"/>
                        </a:rPr>
                        <a:t>PK</a:t>
                      </a:r>
                    </a:p>
                  </a:txBody>
                  <a:tcPr marL="73152" marR="73152" marT="27432" marB="27432">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Identificador interno del paciente</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40821">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nombre</a:t>
                      </a:r>
                      <a:endParaRPr sz="1400" b="1" i="0" u="none" strike="noStrike" cap="none" dirty="0">
                        <a:solidFill>
                          <a:srgbClr val="33373D"/>
                        </a:solidFill>
                        <a:latin typeface="Arial"/>
                        <a:ea typeface="+mn-ea"/>
                        <a:cs typeface="+mn-cs"/>
                        <a:sym typeface="Arial"/>
                      </a:endParaRPr>
                    </a:p>
                  </a:txBody>
                  <a:tcPr marL="73152" marR="73152" marT="27432" marB="27432">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Texto (100)</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No aplica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Nombre completo de la persona atendida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F3F9"/>
                    </a:solidFill>
                  </a:tcPr>
                </a:tc>
                <a:extLst>
                  <a:ext uri="{0D108BD9-81ED-4DB2-BD59-A6C34878D82A}">
                    <a16:rowId xmlns:a16="http://schemas.microsoft.com/office/drawing/2014/main" val="10002"/>
                  </a:ext>
                </a:extLst>
              </a:tr>
              <a:tr h="340821">
                <a:tc>
                  <a:txBody>
                    <a:bodyPr/>
                    <a:lstStyle/>
                    <a:p>
                      <a:pPr marR="0" algn="ctr" rtl="0">
                        <a:lnSpc>
                          <a:spcPct val="100000"/>
                        </a:lnSpc>
                        <a:spcBef>
                          <a:spcPts val="0"/>
                        </a:spcBef>
                        <a:spcAft>
                          <a:spcPts val="0"/>
                        </a:spcAft>
                        <a:buClr>
                          <a:srgbClr val="000000"/>
                        </a:buClr>
                        <a:buFont typeface="Arial"/>
                      </a:pPr>
                      <a:r>
                        <a:rPr lang="es-CO" sz="1400" b="1" i="0" u="none" strike="noStrike" cap="none" dirty="0" err="1">
                          <a:solidFill>
                            <a:srgbClr val="1A1A1A"/>
                          </a:solidFill>
                          <a:latin typeface="Arial"/>
                          <a:ea typeface="+mn-ea"/>
                          <a:cs typeface="+mn-cs"/>
                          <a:sym typeface="Arial"/>
                        </a:rPr>
                        <a:t>tipo_documento</a:t>
                      </a:r>
                      <a:endParaRPr sz="1400" b="1" i="0" u="none" strike="noStrike" cap="none" dirty="0">
                        <a:solidFill>
                          <a:srgbClr val="33373D"/>
                        </a:solidFill>
                        <a:latin typeface="Arial"/>
                        <a:ea typeface="+mn-ea"/>
                        <a:cs typeface="+mn-cs"/>
                        <a:sym typeface="Arial"/>
                      </a:endParaRPr>
                    </a:p>
                  </a:txBody>
                  <a:tcPr marL="73152" marR="73152" marT="27432" marB="27432">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Texto (20)</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sz="1400" b="1" i="0" u="none" strike="noStrike" cap="none" dirty="0">
                          <a:solidFill>
                            <a:srgbClr val="1A1A1A"/>
                          </a:solidFill>
                          <a:latin typeface="Arial"/>
                          <a:ea typeface="+mn-ea"/>
                          <a:cs typeface="+mn-cs"/>
                          <a:sym typeface="Arial"/>
                        </a:rPr>
                        <a:t>No aplica</a:t>
                      </a: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Clase de documento de identidad presentado</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40821">
                <a:tc>
                  <a:txBody>
                    <a:bodyPr/>
                    <a:lstStyle/>
                    <a:p>
                      <a:pPr marR="0" algn="ctr" rtl="0">
                        <a:lnSpc>
                          <a:spcPct val="100000"/>
                        </a:lnSpc>
                        <a:spcBef>
                          <a:spcPts val="0"/>
                        </a:spcBef>
                        <a:spcAft>
                          <a:spcPts val="0"/>
                        </a:spcAft>
                        <a:buClr>
                          <a:srgbClr val="000000"/>
                        </a:buClr>
                        <a:buFont typeface="Arial"/>
                      </a:pPr>
                      <a:r>
                        <a:rPr lang="es-CO" sz="1400" b="1" i="0" u="none" strike="noStrike" cap="none" dirty="0" err="1">
                          <a:solidFill>
                            <a:srgbClr val="1A1A1A"/>
                          </a:solidFill>
                          <a:latin typeface="Arial"/>
                          <a:ea typeface="+mn-ea"/>
                          <a:cs typeface="+mn-cs"/>
                          <a:sym typeface="Arial"/>
                        </a:rPr>
                        <a:t>numero_documento</a:t>
                      </a:r>
                      <a:endParaRPr sz="1400" b="1" i="0" u="none" strike="noStrike" cap="none" dirty="0">
                        <a:solidFill>
                          <a:srgbClr val="33373D"/>
                        </a:solidFill>
                        <a:latin typeface="Arial"/>
                        <a:ea typeface="+mn-ea"/>
                        <a:cs typeface="+mn-cs"/>
                        <a:sym typeface="Arial"/>
                      </a:endParaRPr>
                    </a:p>
                  </a:txBody>
                  <a:tcPr marL="73152" marR="73152" marT="27432" marB="27432">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Texto (30)</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Única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Número del documento; impide registrar dos veces a la misma persona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F3F9"/>
                    </a:solidFill>
                  </a:tcPr>
                </a:tc>
                <a:extLst>
                  <a:ext uri="{0D108BD9-81ED-4DB2-BD59-A6C34878D82A}">
                    <a16:rowId xmlns:a16="http://schemas.microsoft.com/office/drawing/2014/main" val="10004"/>
                  </a:ext>
                </a:extLst>
              </a:tr>
              <a:tr h="340821">
                <a:tc>
                  <a:txBody>
                    <a:bodyPr/>
                    <a:lstStyle/>
                    <a:p>
                      <a:pPr marR="0" algn="ctr" rtl="0">
                        <a:lnSpc>
                          <a:spcPct val="100000"/>
                        </a:lnSpc>
                        <a:spcBef>
                          <a:spcPts val="0"/>
                        </a:spcBef>
                        <a:spcAft>
                          <a:spcPts val="0"/>
                        </a:spcAft>
                        <a:buClr>
                          <a:srgbClr val="000000"/>
                        </a:buClr>
                        <a:buFont typeface="Arial"/>
                      </a:pPr>
                      <a:r>
                        <a:rPr lang="es-CO" sz="1400" b="1" i="0" u="none" strike="noStrike" cap="none" dirty="0" err="1">
                          <a:solidFill>
                            <a:srgbClr val="1A1A1A"/>
                          </a:solidFill>
                          <a:latin typeface="Arial"/>
                          <a:ea typeface="+mn-ea"/>
                          <a:cs typeface="+mn-cs"/>
                          <a:sym typeface="Arial"/>
                        </a:rPr>
                        <a:t>fecha_nacimiento</a:t>
                      </a:r>
                      <a:endParaRPr sz="1400" b="1" i="0" u="none" strike="noStrike" cap="none" dirty="0">
                        <a:solidFill>
                          <a:srgbClr val="33373D"/>
                        </a:solidFill>
                        <a:latin typeface="Arial"/>
                        <a:ea typeface="+mn-ea"/>
                        <a:cs typeface="+mn-cs"/>
                        <a:sym typeface="Arial"/>
                      </a:endParaRPr>
                    </a:p>
                  </a:txBody>
                  <a:tcPr marL="73152" marR="73152" marT="27432" marB="27432">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Fecha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sz="1400" b="1" i="0" u="none" strike="noStrike" cap="none" dirty="0" err="1">
                          <a:solidFill>
                            <a:srgbClr val="1A1A1A"/>
                          </a:solidFill>
                          <a:latin typeface="Arial"/>
                          <a:ea typeface="+mn-ea"/>
                          <a:cs typeface="+mn-cs"/>
                          <a:sym typeface="Arial"/>
                        </a:rPr>
                        <a:t>No aplica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Fecha de nacimiento, de la que se deriva la edad</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340821">
                <a:tc>
                  <a:txBody>
                    <a:bodyPr/>
                    <a:lstStyle/>
                    <a:p>
                      <a:pPr marR="0" algn="ctr" rtl="0">
                        <a:lnSpc>
                          <a:spcPct val="100000"/>
                        </a:lnSpc>
                        <a:spcBef>
                          <a:spcPts val="0"/>
                        </a:spcBef>
                        <a:spcAft>
                          <a:spcPts val="0"/>
                        </a:spcAft>
                        <a:buClr>
                          <a:srgbClr val="000000"/>
                        </a:buClr>
                        <a:buFont typeface="Arial"/>
                      </a:pPr>
                      <a:r>
                        <a:rPr lang="es-CO" sz="1400" b="1" i="0" u="none" strike="noStrike" cap="none" dirty="0" err="1">
                          <a:solidFill>
                            <a:srgbClr val="1A1A1A"/>
                          </a:solidFill>
                          <a:latin typeface="Arial"/>
                          <a:ea typeface="+mn-ea"/>
                          <a:cs typeface="+mn-cs"/>
                          <a:sym typeface="Arial"/>
                        </a:rPr>
                        <a:t>telefono</a:t>
                      </a:r>
                      <a:endParaRPr sz="1400" b="1" i="0" u="none" strike="noStrike" cap="none" dirty="0">
                        <a:solidFill>
                          <a:srgbClr val="33373D"/>
                        </a:solidFill>
                        <a:latin typeface="Arial"/>
                        <a:ea typeface="+mn-ea"/>
                        <a:cs typeface="+mn-cs"/>
                        <a:sym typeface="Arial"/>
                      </a:endParaRPr>
                    </a:p>
                  </a:txBody>
                  <a:tcPr marL="73152" marR="73152" marT="27432" marB="27432">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Texto (20)</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No aplica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Número de contacto para avisos sobre la cita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F3F9"/>
                    </a:solidFill>
                  </a:tcPr>
                </a:tc>
                <a:extLst>
                  <a:ext uri="{0D108BD9-81ED-4DB2-BD59-A6C34878D82A}">
                    <a16:rowId xmlns:a16="http://schemas.microsoft.com/office/drawing/2014/main" val="10006"/>
                  </a:ext>
                </a:extLst>
              </a:tr>
              <a:tr h="340821">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direccion</a:t>
                      </a:r>
                      <a:endParaRPr sz="1400" b="1" i="0" u="none" strike="noStrike" cap="none" dirty="0">
                        <a:solidFill>
                          <a:srgbClr val="33373D"/>
                        </a:solidFill>
                        <a:latin typeface="Arial"/>
                        <a:ea typeface="+mn-ea"/>
                        <a:cs typeface="+mn-cs"/>
                        <a:sym typeface="Arial"/>
                      </a:endParaRPr>
                    </a:p>
                  </a:txBody>
                  <a:tcPr marL="73152" marR="73152" marT="27432" marB="27432">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Texto (150)</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No aplica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Dirección de residencia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40821">
                <a:tc>
                  <a:txBody>
                    <a:bodyPr/>
                    <a:lstStyle/>
                    <a:p>
                      <a:pPr marR="0" algn="ctr" rtl="0">
                        <a:lnSpc>
                          <a:spcPct val="100000"/>
                        </a:lnSpc>
                        <a:spcBef>
                          <a:spcPts val="0"/>
                        </a:spcBef>
                        <a:spcAft>
                          <a:spcPts val="0"/>
                        </a:spcAft>
                        <a:buClr>
                          <a:srgbClr val="000000"/>
                        </a:buClr>
                        <a:buFont typeface="Arial"/>
                      </a:pPr>
                      <a:r>
                        <a:rPr lang="es-CO" sz="1400" b="1" i="0" u="none" strike="noStrike" cap="none" dirty="0" err="1">
                          <a:solidFill>
                            <a:srgbClr val="1A1A1A"/>
                          </a:solidFill>
                          <a:latin typeface="Arial"/>
                          <a:ea typeface="+mn-ea"/>
                          <a:cs typeface="+mn-cs"/>
                          <a:sym typeface="Arial"/>
                        </a:rPr>
                        <a:t>email</a:t>
                      </a:r>
                      <a:endParaRPr sz="1400" b="1" i="0" u="none" strike="noStrike" cap="none" dirty="0">
                        <a:solidFill>
                          <a:srgbClr val="33373D"/>
                        </a:solidFill>
                        <a:latin typeface="Arial"/>
                        <a:ea typeface="+mn-ea"/>
                        <a:cs typeface="+mn-cs"/>
                        <a:sym typeface="Arial"/>
                      </a:endParaRPr>
                    </a:p>
                  </a:txBody>
                  <a:tcPr marL="73152" marR="73152" marT="27432" marB="27432">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Texto (120)</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No aplica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Correo de contacto del paciente</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F3F9"/>
                    </a:solidFill>
                  </a:tcPr>
                </a:tc>
                <a:extLst>
                  <a:ext uri="{0D108BD9-81ED-4DB2-BD59-A6C34878D82A}">
                    <a16:rowId xmlns:a16="http://schemas.microsoft.com/office/drawing/2014/main" val="10008"/>
                  </a:ext>
                </a:extLst>
              </a:tr>
              <a:tr h="340821">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id_usuario</a:t>
                      </a:r>
                      <a:endParaRPr sz="1400" b="1" i="0" u="none" strike="noStrike" cap="none" dirty="0">
                        <a:solidFill>
                          <a:srgbClr val="33373D"/>
                        </a:solidFill>
                        <a:latin typeface="Arial"/>
                        <a:ea typeface="+mn-ea"/>
                        <a:cs typeface="+mn-cs"/>
                        <a:sym typeface="Arial"/>
                      </a:endParaRPr>
                    </a:p>
                  </a:txBody>
                  <a:tcPr marL="73152" marR="73152" marT="27432" marB="27432">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Entero (11)</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FK</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Cuenta con la que el paciente ingresa a consultar lo suyo</a:t>
                      </a:r>
                    </a:p>
                  </a:txBody>
                  <a:tcPr marL="73152" marR="73152" marT="27432" marB="27432">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340829">
                <a:tc>
                  <a:txBody>
                    <a:bodyPr/>
                    <a:lstStyle/>
                    <a:p>
                      <a:pPr marR="0" algn="ctr" rtl="0">
                        <a:lnSpc>
                          <a:spcPct val="100000"/>
                        </a:lnSpc>
                        <a:spcBef>
                          <a:spcPts val="0"/>
                        </a:spcBef>
                        <a:spcAft>
                          <a:spcPts val="0"/>
                        </a:spcAft>
                        <a:buClr>
                          <a:srgbClr val="000000"/>
                        </a:buClr>
                        <a:buFont typeface="Arial"/>
                      </a:pPr>
                      <a:r>
                        <a:rPr lang="es-CO" sz="1400" b="1" i="0" u="none" strike="noStrike" cap="none" dirty="0" err="1">
                          <a:solidFill>
                            <a:srgbClr val="1A1A1A"/>
                          </a:solidFill>
                          <a:latin typeface="Arial"/>
                          <a:ea typeface="+mn-ea"/>
                          <a:cs typeface="+mn-cs"/>
                          <a:sym typeface="Arial"/>
                        </a:rPr>
                        <a:t>estado</a:t>
                      </a:r>
                      <a:endParaRPr sz="1400" b="1" i="0" u="none" strike="noStrike" cap="none" dirty="0">
                        <a:solidFill>
                          <a:srgbClr val="33373D"/>
                        </a:solidFill>
                        <a:latin typeface="Arial"/>
                        <a:ea typeface="+mn-ea"/>
                        <a:cs typeface="+mn-cs"/>
                        <a:sym typeface="Arial"/>
                      </a:endParaRPr>
                    </a:p>
                  </a:txBody>
                  <a:tcPr marL="73152" marR="73152" marT="27432" marB="27432">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Texto (20)</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No aplica</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FF3F9"/>
                    </a:solidFill>
                  </a:tcPr>
                </a:tc>
                <a:tc>
                  <a:txBody>
                    <a:bodyPr/>
                    <a:lstStyle/>
                    <a:p>
                      <a:pPr marR="0" algn="ctr" rtl="0">
                        <a:lnSpc>
                          <a:spcPct val="100000"/>
                        </a:lnSpc>
                        <a:spcBef>
                          <a:spcPts val="0"/>
                        </a:spcBef>
                        <a:spcAft>
                          <a:spcPts val="0"/>
                        </a:spcAft>
                        <a:buClr>
                          <a:srgbClr val="000000"/>
                        </a:buClr>
                        <a:buFont typeface="Arial"/>
                      </a:pPr>
                      <a:r>
                        <a:rPr lang="es-CO" sz="1400" b="1" i="0" u="none" strike="noStrike" cap="none" dirty="0">
                          <a:solidFill>
                            <a:srgbClr val="1A1A1A"/>
                          </a:solidFill>
                          <a:latin typeface="Arial"/>
                          <a:ea typeface="+mn-ea"/>
                          <a:cs typeface="+mn-cs"/>
                          <a:sym typeface="Arial"/>
                        </a:rPr>
                        <a:t>Activo o inactivo; la baja es lógica y conserva el historial</a:t>
                      </a:r>
                      <a:endParaRPr sz="1400" b="1" i="0" u="none" strike="noStrike" cap="none" dirty="0">
                        <a:solidFill>
                          <a:srgbClr val="33373D"/>
                        </a:solidFill>
                        <a:latin typeface="Arial"/>
                        <a:ea typeface="+mn-ea"/>
                        <a:cs typeface="+mn-cs"/>
                        <a:sym typeface="Arial"/>
                      </a:endParaRPr>
                    </a:p>
                  </a:txBody>
                  <a:tcPr marL="73152" marR="73152" marT="27432" marB="27432">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F3F9"/>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370714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5" name="Imagen 4">
            <a:extLst>
              <a:ext uri="{FF2B5EF4-FFF2-40B4-BE49-F238E27FC236}">
                <a16:creationId xmlns:a16="http://schemas.microsoft.com/office/drawing/2014/main" id="{17AA0D39-E2EC-02DC-5EF0-8FAFFA955D29}"/>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Casos de Uso</a:t>
            </a:r>
            <a:endParaRPr sz="2700" dirty="0">
              <a:solidFill>
                <a:srgbClr val="003366"/>
              </a:solidFill>
              <a:latin typeface="Plus Jakarta Sans ExtraBold"/>
              <a:cs typeface="Plus Jakarta Sans ExtraBold"/>
            </a:endParaRPr>
          </a:p>
        </p:txBody>
      </p:sp>
      <p:sp>
        <p:nvSpPr>
          <p:cNvPr id="24" name="TextBox 23"/>
          <p:cNvSpPr txBox="1"/>
          <p:nvPr/>
        </p:nvSpPr>
        <p:spPr>
          <a:xfrm>
            <a:off x="777240" y="1280160"/>
            <a:ext cx="10607040" cy="923330"/>
          </a:xfrm>
          <a:prstGeom prst="rect">
            <a:avLst/>
          </a:prstGeom>
          <a:noFill/>
        </p:spPr>
        <p:txBody>
          <a:bodyPr wrap="square">
            <a:spAutoFit/>
          </a:bodyPr>
          <a:lstStyle/>
          <a:p>
            <a:pPr algn="l"/>
            <a:r>
              <a:rPr sz="1800" b="0" dirty="0">
                <a:solidFill>
                  <a:srgbClr val="1A1A1A"/>
                </a:solidFill>
                <a:latin typeface="Arial"/>
              </a:rPr>
              <a:t>El análisis identificó 60 casos de uso agrupados en los diez módulos del sistema, con cuatro actores. Uno de ellos no es una persona, ya que es el propio sistema el que aplica por su cuenta las dos reglas de la agenda.</a:t>
            </a:r>
          </a:p>
        </p:txBody>
      </p:sp>
      <p:pic>
        <p:nvPicPr>
          <p:cNvPr id="25" name="Picture 24" descr="DCU-00 general.png"/>
          <p:cNvPicPr>
            <a:picLocks noChangeAspect="1"/>
          </p:cNvPicPr>
          <p:nvPr/>
        </p:nvPicPr>
        <p:blipFill>
          <a:blip r:embed="rId7"/>
          <a:srcRect t="1665"/>
          <a:stretch/>
        </p:blipFill>
        <p:spPr>
          <a:xfrm>
            <a:off x="4252888" y="2103119"/>
            <a:ext cx="3655744" cy="4571677"/>
          </a:xfrm>
          <a:prstGeom prst="rect">
            <a:avLst/>
          </a:prstGeom>
        </p:spPr>
      </p:pic>
    </p:spTree>
    <p:extLst>
      <p:ext uri="{BB962C8B-B14F-4D97-AF65-F5344CB8AC3E}">
        <p14:creationId xmlns:p14="http://schemas.microsoft.com/office/powerpoint/2010/main" val="3038931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5" name="Imagen 4">
            <a:extLst>
              <a:ext uri="{FF2B5EF4-FFF2-40B4-BE49-F238E27FC236}">
                <a16:creationId xmlns:a16="http://schemas.microsoft.com/office/drawing/2014/main" id="{1A326E8D-29DD-38AC-4B96-E1C57C900C5F}"/>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Documentación de Casos de Uso</a:t>
            </a:r>
            <a:endParaRPr sz="2700" dirty="0">
              <a:solidFill>
                <a:srgbClr val="003366"/>
              </a:solidFill>
              <a:latin typeface="Plus Jakarta Sans ExtraBold"/>
              <a:cs typeface="Plus Jakarta Sans ExtraBold"/>
            </a:endParaRPr>
          </a:p>
        </p:txBody>
      </p:sp>
      <p:graphicFrame>
        <p:nvGraphicFramePr>
          <p:cNvPr id="24" name="Table 23"/>
          <p:cNvGraphicFramePr>
            <a:graphicFrameLocks noGrp="1"/>
          </p:cNvGraphicFramePr>
          <p:nvPr>
            <p:extLst>
              <p:ext uri="{D42A27DB-BD31-4B8C-83A1-F6EECF244321}">
                <p14:modId xmlns:p14="http://schemas.microsoft.com/office/powerpoint/2010/main" val="3208978875"/>
              </p:ext>
            </p:extLst>
          </p:nvPr>
        </p:nvGraphicFramePr>
        <p:xfrm>
          <a:off x="678179" y="1896859"/>
          <a:ext cx="10835640" cy="39319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8549640">
                  <a:extLst>
                    <a:ext uri="{9D8B030D-6E8A-4147-A177-3AD203B41FA5}">
                      <a16:colId xmlns:a16="http://schemas.microsoft.com/office/drawing/2014/main" val="20001"/>
                    </a:ext>
                  </a:extLst>
                </a:gridCol>
              </a:tblGrid>
              <a:tr h="491490">
                <a:tc>
                  <a:txBody>
                    <a:bodyPr/>
                    <a:lstStyle/>
                    <a:p>
                      <a:pPr algn="ctr"/>
                      <a:r>
                        <a:rPr sz="1600" b="1">
                          <a:solidFill>
                            <a:srgbClr val="FFFFFF"/>
                          </a:solidFill>
                          <a:latin typeface="Arial"/>
                        </a:rPr>
                        <a:t>CU-24</a:t>
                      </a:r>
                    </a:p>
                  </a:txBody>
                  <a:tcPr marL="73152" marR="73152" marT="27432" marB="27432">
                    <a:solidFill>
                      <a:srgbClr val="1F3B73"/>
                    </a:solidFill>
                  </a:tcPr>
                </a:tc>
                <a:tc>
                  <a:txBody>
                    <a:bodyPr/>
                    <a:lstStyle/>
                    <a:p>
                      <a:pPr algn="ctr"/>
                      <a:r>
                        <a:rPr sz="1600" b="1">
                          <a:solidFill>
                            <a:srgbClr val="FFFFFF"/>
                          </a:solidFill>
                          <a:latin typeface="Arial"/>
                        </a:rPr>
                        <a:t>Reservar una cita desde el calendario</a:t>
                      </a:r>
                    </a:p>
                  </a:txBody>
                  <a:tcPr marL="73152" marR="73152" marT="27432" marB="27432">
                    <a:solidFill>
                      <a:srgbClr val="1F3B73"/>
                    </a:solidFill>
                  </a:tcPr>
                </a:tc>
                <a:extLst>
                  <a:ext uri="{0D108BD9-81ED-4DB2-BD59-A6C34878D82A}">
                    <a16:rowId xmlns:a16="http://schemas.microsoft.com/office/drawing/2014/main" val="10000"/>
                  </a:ext>
                </a:extLst>
              </a:tr>
              <a:tr h="491490">
                <a:tc>
                  <a:txBody>
                    <a:bodyPr/>
                    <a:lstStyle/>
                    <a:p>
                      <a:pPr algn="ctr"/>
                      <a:r>
                        <a:rPr sz="1600" b="0">
                          <a:solidFill>
                            <a:srgbClr val="1A1A1A"/>
                          </a:solidFill>
                          <a:latin typeface="Arial"/>
                        </a:rPr>
                        <a:t>Actores</a:t>
                      </a:r>
                    </a:p>
                  </a:txBody>
                  <a:tcPr marL="73152" marR="73152" marT="27432" marB="27432">
                    <a:solidFill>
                      <a:srgbClr val="FFFFFF"/>
                    </a:solidFill>
                  </a:tcPr>
                </a:tc>
                <a:tc>
                  <a:txBody>
                    <a:bodyPr/>
                    <a:lstStyle/>
                    <a:p>
                      <a:pPr algn="ctr"/>
                      <a:r>
                        <a:rPr sz="1600" b="0">
                          <a:solidFill>
                            <a:srgbClr val="1A1A1A"/>
                          </a:solidFill>
                          <a:latin typeface="Arial"/>
                        </a:rPr>
                        <a:t>Paciente, Sistema</a:t>
                      </a:r>
                    </a:p>
                  </a:txBody>
                  <a:tcPr marL="73152" marR="73152" marT="27432" marB="27432">
                    <a:solidFill>
                      <a:srgbClr val="FFFFFF"/>
                    </a:solidFill>
                  </a:tcPr>
                </a:tc>
                <a:extLst>
                  <a:ext uri="{0D108BD9-81ED-4DB2-BD59-A6C34878D82A}">
                    <a16:rowId xmlns:a16="http://schemas.microsoft.com/office/drawing/2014/main" val="10001"/>
                  </a:ext>
                </a:extLst>
              </a:tr>
              <a:tr h="491490">
                <a:tc>
                  <a:txBody>
                    <a:bodyPr/>
                    <a:lstStyle/>
                    <a:p>
                      <a:pPr algn="ctr"/>
                      <a:r>
                        <a:rPr sz="1600" b="0">
                          <a:solidFill>
                            <a:srgbClr val="1A1A1A"/>
                          </a:solidFill>
                          <a:latin typeface="Arial"/>
                        </a:rPr>
                        <a:t>Precondición</a:t>
                      </a:r>
                    </a:p>
                  </a:txBody>
                  <a:tcPr marL="73152" marR="73152" marT="27432" marB="27432">
                    <a:solidFill>
                      <a:srgbClr val="EFF3F9"/>
                    </a:solidFill>
                  </a:tcPr>
                </a:tc>
                <a:tc>
                  <a:txBody>
                    <a:bodyPr/>
                    <a:lstStyle/>
                    <a:p>
                      <a:pPr algn="ctr"/>
                      <a:r>
                        <a:rPr sz="1600" b="0">
                          <a:solidFill>
                            <a:srgbClr val="1A1A1A"/>
                          </a:solidFill>
                          <a:latin typeface="Arial"/>
                        </a:rPr>
                        <a:t>El paciente tiene sesión iniciada y el médico tiene disponibilidad cargada</a:t>
                      </a:r>
                    </a:p>
                  </a:txBody>
                  <a:tcPr marL="73152" marR="73152" marT="27432" marB="27432">
                    <a:solidFill>
                      <a:srgbClr val="EFF3F9"/>
                    </a:solidFill>
                  </a:tcPr>
                </a:tc>
                <a:extLst>
                  <a:ext uri="{0D108BD9-81ED-4DB2-BD59-A6C34878D82A}">
                    <a16:rowId xmlns:a16="http://schemas.microsoft.com/office/drawing/2014/main" val="10002"/>
                  </a:ext>
                </a:extLst>
              </a:tr>
              <a:tr h="491490">
                <a:tc>
                  <a:txBody>
                    <a:bodyPr/>
                    <a:lstStyle/>
                    <a:p>
                      <a:pPr algn="ctr"/>
                      <a:r>
                        <a:rPr sz="1600" b="0">
                          <a:solidFill>
                            <a:srgbClr val="1A1A1A"/>
                          </a:solidFill>
                          <a:latin typeface="Arial"/>
                        </a:rPr>
                        <a:t>Pasos 1 a 3</a:t>
                      </a:r>
                    </a:p>
                  </a:txBody>
                  <a:tcPr marL="73152" marR="73152" marT="27432" marB="27432">
                    <a:solidFill>
                      <a:srgbClr val="FFFFFF"/>
                    </a:solidFill>
                  </a:tcPr>
                </a:tc>
                <a:tc>
                  <a:txBody>
                    <a:bodyPr/>
                    <a:lstStyle/>
                    <a:p>
                      <a:pPr algn="ctr"/>
                      <a:r>
                        <a:rPr sz="1600" b="0">
                          <a:solidFill>
                            <a:srgbClr val="1A1A1A"/>
                          </a:solidFill>
                          <a:latin typeface="Arial"/>
                        </a:rPr>
                        <a:t>Elige médico y semana, el sistema muestra los turnos libres de treinta minutos y el paciente escoge uno</a:t>
                      </a:r>
                    </a:p>
                  </a:txBody>
                  <a:tcPr marL="73152" marR="73152" marT="27432" marB="27432">
                    <a:solidFill>
                      <a:srgbClr val="FFFFFF"/>
                    </a:solidFill>
                  </a:tcPr>
                </a:tc>
                <a:extLst>
                  <a:ext uri="{0D108BD9-81ED-4DB2-BD59-A6C34878D82A}">
                    <a16:rowId xmlns:a16="http://schemas.microsoft.com/office/drawing/2014/main" val="10003"/>
                  </a:ext>
                </a:extLst>
              </a:tr>
              <a:tr h="491490">
                <a:tc>
                  <a:txBody>
                    <a:bodyPr/>
                    <a:lstStyle/>
                    <a:p>
                      <a:pPr algn="ctr"/>
                      <a:r>
                        <a:rPr sz="1600" b="0">
                          <a:solidFill>
                            <a:srgbClr val="1A1A1A"/>
                          </a:solidFill>
                          <a:latin typeface="Arial"/>
                        </a:rPr>
                        <a:t>Pasos 4 a 6</a:t>
                      </a:r>
                    </a:p>
                  </a:txBody>
                  <a:tcPr marL="73152" marR="73152" marT="27432" marB="27432">
                    <a:solidFill>
                      <a:srgbClr val="EFF3F9"/>
                    </a:solidFill>
                  </a:tcPr>
                </a:tc>
                <a:tc>
                  <a:txBody>
                    <a:bodyPr/>
                    <a:lstStyle/>
                    <a:p>
                      <a:pPr algn="ctr"/>
                      <a:r>
                        <a:rPr sz="1600" b="0">
                          <a:solidFill>
                            <a:srgbClr val="1A1A1A"/>
                          </a:solidFill>
                          <a:latin typeface="Arial"/>
                        </a:rPr>
                        <a:t>El servidor toma la identidad de la sesión, comprueba la separación mínima y el máximo de una cita al día</a:t>
                      </a:r>
                    </a:p>
                  </a:txBody>
                  <a:tcPr marL="73152" marR="73152" marT="27432" marB="27432">
                    <a:solidFill>
                      <a:srgbClr val="EFF3F9"/>
                    </a:solidFill>
                  </a:tcPr>
                </a:tc>
                <a:extLst>
                  <a:ext uri="{0D108BD9-81ED-4DB2-BD59-A6C34878D82A}">
                    <a16:rowId xmlns:a16="http://schemas.microsoft.com/office/drawing/2014/main" val="10004"/>
                  </a:ext>
                </a:extLst>
              </a:tr>
              <a:tr h="491490">
                <a:tc>
                  <a:txBody>
                    <a:bodyPr/>
                    <a:lstStyle/>
                    <a:p>
                      <a:pPr algn="ctr"/>
                      <a:r>
                        <a:rPr sz="1600" b="0">
                          <a:solidFill>
                            <a:srgbClr val="1A1A1A"/>
                          </a:solidFill>
                          <a:latin typeface="Arial"/>
                        </a:rPr>
                        <a:t>Paso 7</a:t>
                      </a:r>
                    </a:p>
                  </a:txBody>
                  <a:tcPr marL="73152" marR="73152" marT="27432" marB="27432">
                    <a:solidFill>
                      <a:srgbClr val="FFFFFF"/>
                    </a:solidFill>
                  </a:tcPr>
                </a:tc>
                <a:tc>
                  <a:txBody>
                    <a:bodyPr/>
                    <a:lstStyle/>
                    <a:p>
                      <a:pPr algn="ctr"/>
                      <a:r>
                        <a:rPr sz="1600" b="0">
                          <a:solidFill>
                            <a:srgbClr val="1A1A1A"/>
                          </a:solidFill>
                          <a:latin typeface="Arial"/>
                        </a:rPr>
                        <a:t>Guarda la cita en estado agendada y la muestra en el panel del paciente</a:t>
                      </a:r>
                    </a:p>
                  </a:txBody>
                  <a:tcPr marL="73152" marR="73152" marT="27432" marB="27432">
                    <a:solidFill>
                      <a:srgbClr val="FFFFFF"/>
                    </a:solidFill>
                  </a:tcPr>
                </a:tc>
                <a:extLst>
                  <a:ext uri="{0D108BD9-81ED-4DB2-BD59-A6C34878D82A}">
                    <a16:rowId xmlns:a16="http://schemas.microsoft.com/office/drawing/2014/main" val="10005"/>
                  </a:ext>
                </a:extLst>
              </a:tr>
              <a:tr h="491490">
                <a:tc>
                  <a:txBody>
                    <a:bodyPr/>
                    <a:lstStyle/>
                    <a:p>
                      <a:pPr algn="ctr"/>
                      <a:r>
                        <a:rPr sz="1600" b="0">
                          <a:solidFill>
                            <a:srgbClr val="1A1A1A"/>
                          </a:solidFill>
                          <a:latin typeface="Arial"/>
                        </a:rPr>
                        <a:t>Postcondición</a:t>
                      </a:r>
                    </a:p>
                  </a:txBody>
                  <a:tcPr marL="73152" marR="73152" marT="27432" marB="27432">
                    <a:solidFill>
                      <a:srgbClr val="EFF3F9"/>
                    </a:solidFill>
                  </a:tcPr>
                </a:tc>
                <a:tc>
                  <a:txBody>
                    <a:bodyPr/>
                    <a:lstStyle/>
                    <a:p>
                      <a:pPr algn="ctr"/>
                      <a:r>
                        <a:rPr sz="1600" b="0">
                          <a:solidFill>
                            <a:srgbClr val="1A1A1A"/>
                          </a:solidFill>
                          <a:latin typeface="Arial"/>
                        </a:rPr>
                        <a:t>Existe una cita a nombre de quien la pidió y el turno deja de ofrecerse</a:t>
                      </a:r>
                    </a:p>
                  </a:txBody>
                  <a:tcPr marL="73152" marR="73152" marT="27432" marB="27432">
                    <a:solidFill>
                      <a:srgbClr val="EFF3F9"/>
                    </a:solidFill>
                  </a:tcPr>
                </a:tc>
                <a:extLst>
                  <a:ext uri="{0D108BD9-81ED-4DB2-BD59-A6C34878D82A}">
                    <a16:rowId xmlns:a16="http://schemas.microsoft.com/office/drawing/2014/main" val="10006"/>
                  </a:ext>
                </a:extLst>
              </a:tr>
              <a:tr h="491490">
                <a:tc>
                  <a:txBody>
                    <a:bodyPr/>
                    <a:lstStyle/>
                    <a:p>
                      <a:pPr algn="ctr"/>
                      <a:r>
                        <a:rPr sz="1600" b="0">
                          <a:solidFill>
                            <a:srgbClr val="1A1A1A"/>
                          </a:solidFill>
                          <a:latin typeface="Arial"/>
                        </a:rPr>
                        <a:t>Excepción</a:t>
                      </a:r>
                    </a:p>
                  </a:txBody>
                  <a:tcPr marL="73152" marR="73152" marT="27432" marB="27432">
                    <a:solidFill>
                      <a:srgbClr val="FFFFFF"/>
                    </a:solidFill>
                  </a:tcPr>
                </a:tc>
                <a:tc>
                  <a:txBody>
                    <a:bodyPr/>
                    <a:lstStyle/>
                    <a:p>
                      <a:pPr algn="ctr"/>
                      <a:r>
                        <a:rPr sz="1600" b="0" dirty="0">
                          <a:solidFill>
                            <a:srgbClr val="1A1A1A"/>
                          </a:solidFill>
                          <a:latin typeface="Arial"/>
                        </a:rPr>
                        <a:t>Si el turno cae dentro de los treinta minutos de otra cita del mismo médico, se rechaza</a:t>
                      </a:r>
                      <a:endParaRPr sz="1600" b="0" dirty="0">
                        <a:solidFill>
                          <a:srgbClr val="33373D"/>
                        </a:solidFill>
                        <a:latin typeface="Arial"/>
                      </a:endParaRPr>
                    </a:p>
                  </a:txBody>
                  <a:tcPr marL="73152" marR="73152" marT="27432" marB="27432">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287915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13" name="Imagen 12">
            <a:extLst>
              <a:ext uri="{FF2B5EF4-FFF2-40B4-BE49-F238E27FC236}">
                <a16:creationId xmlns:a16="http://schemas.microsoft.com/office/drawing/2014/main" id="{A5E5D415-B509-BDF6-3699-3CAA5A9D86C8}"/>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11" name="Google Shape;169;p17">
            <a:extLst>
              <a:ext uri="{FF2B5EF4-FFF2-40B4-BE49-F238E27FC236}">
                <a16:creationId xmlns:a16="http://schemas.microsoft.com/office/drawing/2014/main" id="{81F0DD6F-780A-27A8-380E-E1A99AFA476A}"/>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Google Shape;168;p17">
            <a:extLst>
              <a:ext uri="{FF2B5EF4-FFF2-40B4-BE49-F238E27FC236}">
                <a16:creationId xmlns:a16="http://schemas.microsoft.com/office/drawing/2014/main" id="{16D628CE-8029-6333-6103-2254556DB8BE}"/>
              </a:ext>
            </a:extLst>
          </p:cNvPr>
          <p:cNvSpPr txBox="1"/>
          <p:nvPr/>
        </p:nvSpPr>
        <p:spPr>
          <a:xfrm>
            <a:off x="571500" y="476250"/>
            <a:ext cx="10424160" cy="4286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b="0" i="0" u="none" strike="noStrike" cap="none" dirty="0" err="1">
                <a:solidFill>
                  <a:srgbClr val="1A1A1A"/>
                </a:solidFill>
                <a:latin typeface="Plus Jakarta Sans ExtraBold"/>
                <a:ea typeface="Plus Jakarta Sans ExtraBold"/>
                <a:cs typeface="Plus Jakarta Sans ExtraBold"/>
                <a:sym typeface="Plus Jakarta Sans ExtraBold"/>
              </a:rPr>
              <a:t>Metodología de Desarrollo</a:t>
            </a:r>
            <a:endParaRPr dirty="0"/>
          </a:p>
        </p:txBody>
      </p:sp>
      <p:sp>
        <p:nvSpPr>
          <p:cNvPr id="14" name="TextBox 13"/>
          <p:cNvSpPr txBox="1"/>
          <p:nvPr/>
        </p:nvSpPr>
        <p:spPr>
          <a:xfrm>
            <a:off x="777240" y="1280160"/>
            <a:ext cx="10607040" cy="731520"/>
          </a:xfrm>
          <a:prstGeom prst="rect">
            <a:avLst/>
          </a:prstGeom>
          <a:noFill/>
        </p:spPr>
        <p:txBody>
          <a:bodyPr wrap="square">
            <a:spAutoFit/>
          </a:bodyPr>
          <a:lstStyle/>
          <a:p>
            <a:pPr algn="l"/>
            <a:r>
              <a:rPr sz="1800" b="0">
                <a:solidFill>
                  <a:srgbClr val="1A1A1A"/>
                </a:solidFill>
                <a:latin typeface="Arial"/>
              </a:rPr>
              <a:t>Scrum, con diez sprints de dos semanas, aproximadamente uno por cada módulo del sistema. Cada sprint cerró con un módulo utilizable y no con una parte de varios.</a:t>
            </a:r>
          </a:p>
        </p:txBody>
      </p:sp>
      <p:pic>
        <p:nvPicPr>
          <p:cNvPr id="15" name="Picture 14" descr="FIG-scrum.png"/>
          <p:cNvPicPr>
            <a:picLocks noChangeAspect="1"/>
          </p:cNvPicPr>
          <p:nvPr/>
        </p:nvPicPr>
        <p:blipFill>
          <a:blip r:embed="rId7"/>
          <a:stretch>
            <a:fillRect/>
          </a:stretch>
        </p:blipFill>
        <p:spPr>
          <a:xfrm>
            <a:off x="1935235" y="1978921"/>
            <a:ext cx="8321529" cy="4402829"/>
          </a:xfrm>
          <a:prstGeom prst="rect">
            <a:avLst/>
          </a:prstGeom>
        </p:spPr>
      </p:pic>
    </p:spTree>
    <p:extLst>
      <p:ext uri="{BB962C8B-B14F-4D97-AF65-F5344CB8AC3E}">
        <p14:creationId xmlns:p14="http://schemas.microsoft.com/office/powerpoint/2010/main" val="24431547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2" name="Google Shape;363;p33">
            <a:extLst>
              <a:ext uri="{FF2B5EF4-FFF2-40B4-BE49-F238E27FC236}">
                <a16:creationId xmlns:a16="http://schemas.microsoft.com/office/drawing/2014/main" id="{138F84EF-3724-48DD-F366-6C02647240C4}"/>
              </a:ext>
            </a:extLst>
          </p:cNvPr>
          <p:cNvSpPr txBox="1"/>
          <p:nvPr/>
        </p:nvSpPr>
        <p:spPr>
          <a:xfrm>
            <a:off x="2733120" y="3034882"/>
            <a:ext cx="6725759" cy="78823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6000"/>
              <a:buFont typeface="Arial"/>
              <a:buNone/>
            </a:pPr>
            <a:r>
              <a:rPr lang="es-CO" sz="4800" b="1" dirty="0">
                <a:solidFill>
                  <a:schemeClr val="lt1"/>
                </a:solidFill>
                <a:latin typeface="Arial"/>
                <a:ea typeface="Arial"/>
                <a:cs typeface="Arial"/>
                <a:sym typeface="Arial"/>
              </a:rPr>
              <a:t>IV. DESARROLLO</a:t>
            </a:r>
            <a:endParaRPr sz="4800" b="1" dirty="0">
              <a:solidFill>
                <a:schemeClr val="lt1"/>
              </a:solidFill>
              <a:latin typeface="Arial"/>
              <a:ea typeface="Arial"/>
              <a:cs typeface="Arial"/>
              <a:sym typeface="Arial"/>
            </a:endParaRPr>
          </a:p>
        </p:txBody>
      </p:sp>
      <p:pic>
        <p:nvPicPr>
          <p:cNvPr id="3" name="Google Shape;84;p13" descr="image.png">
            <a:extLst>
              <a:ext uri="{FF2B5EF4-FFF2-40B4-BE49-F238E27FC236}">
                <a16:creationId xmlns:a16="http://schemas.microsoft.com/office/drawing/2014/main" id="{F351DA7C-7126-24E6-81C6-B3EC476DDC59}"/>
              </a:ext>
            </a:extLst>
          </p:cNvPr>
          <p:cNvPicPr preferRelativeResize="0"/>
          <p:nvPr/>
        </p:nvPicPr>
        <p:blipFill rotWithShape="1">
          <a:blip r:embed="rId4">
            <a:alphaModFix/>
          </a:blip>
          <a:srcRect t="99333"/>
          <a:stretch/>
        </p:blipFill>
        <p:spPr>
          <a:xfrm>
            <a:off x="0" y="6820763"/>
            <a:ext cx="12192000" cy="45719"/>
          </a:xfrm>
          <a:prstGeom prst="rect">
            <a:avLst/>
          </a:prstGeom>
          <a:noFill/>
          <a:ln>
            <a:noFill/>
          </a:ln>
        </p:spPr>
      </p:pic>
    </p:spTree>
    <p:extLst>
      <p:ext uri="{BB962C8B-B14F-4D97-AF65-F5344CB8AC3E}">
        <p14:creationId xmlns:p14="http://schemas.microsoft.com/office/powerpoint/2010/main" val="643411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4">
            <a:alphaModFix/>
          </a:blip>
          <a:srcRect t="99333"/>
          <a:stretch/>
        </p:blipFill>
        <p:spPr>
          <a:xfrm>
            <a:off x="0" y="6820763"/>
            <a:ext cx="12192000" cy="45719"/>
          </a:xfrm>
          <a:prstGeom prst="rect">
            <a:avLst/>
          </a:prstGeom>
          <a:noFill/>
          <a:ln>
            <a:noFill/>
          </a:ln>
        </p:spPr>
      </p:pic>
      <p:sp>
        <p:nvSpPr>
          <p:cNvPr id="15" name="Google Shape;213;p19">
            <a:extLst>
              <a:ext uri="{FF2B5EF4-FFF2-40B4-BE49-F238E27FC236}">
                <a16:creationId xmlns:a16="http://schemas.microsoft.com/office/drawing/2014/main" id="{674911B7-95B5-712F-35A8-57FEC42F3B04}"/>
              </a:ext>
            </a:extLst>
          </p:cNvPr>
          <p:cNvSpPr/>
          <p:nvPr/>
        </p:nvSpPr>
        <p:spPr>
          <a:xfrm>
            <a:off x="416066" y="846872"/>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8" name="Google Shape;369;p34">
            <a:extLst>
              <a:ext uri="{FF2B5EF4-FFF2-40B4-BE49-F238E27FC236}">
                <a16:creationId xmlns:a16="http://schemas.microsoft.com/office/drawing/2014/main" id="{03B7E3F0-3B02-36F5-11B8-4870F2E887D0}"/>
              </a:ext>
            </a:extLst>
          </p:cNvPr>
          <p:cNvGraphicFramePr/>
          <p:nvPr>
            <p:extLst>
              <p:ext uri="{D42A27DB-BD31-4B8C-83A1-F6EECF244321}">
                <p14:modId xmlns:p14="http://schemas.microsoft.com/office/powerpoint/2010/main" val="1154801657"/>
              </p:ext>
            </p:extLst>
          </p:nvPr>
        </p:nvGraphicFramePr>
        <p:xfrm>
          <a:off x="672362" y="1209675"/>
          <a:ext cx="10847275" cy="5385500"/>
        </p:xfrm>
        <a:graphic>
          <a:graphicData uri="http://schemas.openxmlformats.org/drawingml/2006/table">
            <a:tbl>
              <a:tblPr firstRow="1" bandRow="1">
                <a:noFill/>
              </a:tblPr>
              <a:tblGrid>
                <a:gridCol w="1479175">
                  <a:extLst>
                    <a:ext uri="{9D8B030D-6E8A-4147-A177-3AD203B41FA5}">
                      <a16:colId xmlns:a16="http://schemas.microsoft.com/office/drawing/2014/main" val="20000"/>
                    </a:ext>
                  </a:extLst>
                </a:gridCol>
                <a:gridCol w="2474250">
                  <a:extLst>
                    <a:ext uri="{9D8B030D-6E8A-4147-A177-3AD203B41FA5}">
                      <a16:colId xmlns:a16="http://schemas.microsoft.com/office/drawing/2014/main" val="20001"/>
                    </a:ext>
                  </a:extLst>
                </a:gridCol>
                <a:gridCol w="6893850">
                  <a:extLst>
                    <a:ext uri="{9D8B030D-6E8A-4147-A177-3AD203B41FA5}">
                      <a16:colId xmlns:a16="http://schemas.microsoft.com/office/drawing/2014/main" val="20002"/>
                    </a:ext>
                  </a:extLst>
                </a:gridCol>
              </a:tblGrid>
              <a:tr h="358600">
                <a:tc>
                  <a:txBody>
                    <a:bodyPr/>
                    <a:lstStyle/>
                    <a:p>
                      <a:pPr marL="0" marR="0" lvl="0" indent="0" algn="ctr" rtl="0">
                        <a:lnSpc>
                          <a:spcPct val="100000"/>
                        </a:lnSpc>
                        <a:spcBef>
                          <a:spcPts val="0"/>
                        </a:spcBef>
                        <a:spcAft>
                          <a:spcPts val="0"/>
                        </a:spcAft>
                        <a:buClr>
                          <a:srgbClr val="000000"/>
                        </a:buClr>
                        <a:buFont typeface="Arial"/>
                        <a:buNone/>
                      </a:pPr>
                      <a:r>
                        <a:rPr lang="es-CO" sz="1350" b="1" i="0" u="none" strike="noStrike" cap="none" dirty="0">
                          <a:solidFill>
                            <a:srgbClr val="1A1A1A"/>
                          </a:solidFill>
                          <a:latin typeface="Plus Jakarta Sans"/>
                          <a:ea typeface="Arial"/>
                          <a:cs typeface="Plus Jakarta Sans"/>
                          <a:sym typeface="Arial"/>
                        </a:rPr>
                        <a:t>NOMBRE</a:t>
                      </a:r>
                      <a:endParaRPr sz="1350" b="1" i="0" u="none" strike="noStrike" cap="none" dirty="0">
                        <a:solidFill>
                          <a:srgbClr val="003366"/>
                        </a:solidFill>
                        <a:latin typeface="Plus Jakarta Sans"/>
                        <a:ea typeface="Arial"/>
                        <a:cs typeface="Plus Jakarta Sans"/>
                        <a:sym typeface="Arial"/>
                      </a:endParaRPr>
                    </a:p>
                  </a:txBody>
                  <a:tcPr marL="91450" marR="91450" marT="45725" marB="45725"/>
                </a:tc>
                <a:tc>
                  <a:txBody>
                    <a:bodyPr/>
                    <a:lstStyle/>
                    <a:p>
                      <a:pPr marL="0" marR="0" lvl="0" indent="0" algn="ctr" rtl="0">
                        <a:lnSpc>
                          <a:spcPct val="100000"/>
                        </a:lnSpc>
                        <a:spcBef>
                          <a:spcPts val="0"/>
                        </a:spcBef>
                        <a:spcAft>
                          <a:spcPts val="0"/>
                        </a:spcAft>
                        <a:buClr>
                          <a:srgbClr val="000000"/>
                        </a:buClr>
                        <a:buFont typeface="Arial"/>
                        <a:buNone/>
                      </a:pPr>
                      <a:r>
                        <a:rPr lang="es-CO" sz="1350" b="1" i="0" u="none" strike="noStrike" cap="none" dirty="0">
                          <a:solidFill>
                            <a:srgbClr val="1A1A1A"/>
                          </a:solidFill>
                          <a:latin typeface="Plus Jakarta Sans"/>
                          <a:ea typeface="Arial"/>
                          <a:cs typeface="Plus Jakarta Sans"/>
                          <a:sym typeface="Arial"/>
                        </a:rPr>
                        <a:t>LOGO</a:t>
                      </a:r>
                      <a:endParaRPr sz="1350" b="1" i="0" u="none" strike="noStrike" cap="none" dirty="0">
                        <a:solidFill>
                          <a:srgbClr val="003366"/>
                        </a:solidFill>
                        <a:latin typeface="Plus Jakarta Sans"/>
                        <a:ea typeface="Arial"/>
                        <a:cs typeface="Plus Jakarta Sans"/>
                        <a:sym typeface="Arial"/>
                      </a:endParaRPr>
                    </a:p>
                  </a:txBody>
                  <a:tcPr marL="91450" marR="91450" marT="45725" marB="45725"/>
                </a:tc>
                <a:tc>
                  <a:txBody>
                    <a:bodyPr/>
                    <a:lstStyle/>
                    <a:p>
                      <a:pPr marL="0" marR="0" lvl="0" indent="0" algn="ctr" rtl="0">
                        <a:lnSpc>
                          <a:spcPct val="100000"/>
                        </a:lnSpc>
                        <a:spcBef>
                          <a:spcPts val="0"/>
                        </a:spcBef>
                        <a:spcAft>
                          <a:spcPts val="0"/>
                        </a:spcAft>
                        <a:buClr>
                          <a:srgbClr val="000000"/>
                        </a:buClr>
                        <a:buFont typeface="Arial"/>
                        <a:buNone/>
                      </a:pPr>
                      <a:r>
                        <a:rPr lang="es-CO" sz="1350" b="1" i="0" u="none" strike="noStrike" cap="none" dirty="0">
                          <a:solidFill>
                            <a:srgbClr val="1A1A1A"/>
                          </a:solidFill>
                          <a:latin typeface="Plus Jakarta Sans"/>
                          <a:ea typeface="Arial"/>
                          <a:cs typeface="Plus Jakarta Sans"/>
                          <a:sym typeface="Arial"/>
                        </a:rPr>
                        <a:t>DESCRIPCION</a:t>
                      </a:r>
                      <a:endParaRPr sz="1350" b="1" i="0" u="none" strike="noStrike" cap="none" dirty="0">
                        <a:solidFill>
                          <a:srgbClr val="003366"/>
                        </a:solidFill>
                        <a:latin typeface="Plus Jakarta Sans"/>
                        <a:ea typeface="Arial"/>
                        <a:cs typeface="Plus Jakarta Sans"/>
                        <a:sym typeface="Arial"/>
                      </a:endParaRPr>
                    </a:p>
                  </a:txBody>
                  <a:tcPr marL="91450" marR="91450" marT="45725" marB="45725"/>
                </a:tc>
                <a:extLst>
                  <a:ext uri="{0D108BD9-81ED-4DB2-BD59-A6C34878D82A}">
                    <a16:rowId xmlns:a16="http://schemas.microsoft.com/office/drawing/2014/main" val="10000"/>
                  </a:ext>
                </a:extLst>
              </a:tr>
              <a:tr h="1203075">
                <a:tc>
                  <a:txBody>
                    <a:bodyPr/>
                    <a:lstStyle/>
                    <a:p>
                      <a:pPr marL="0" marR="0" lvl="0" indent="0" algn="ctr" rtl="0">
                        <a:spcBef>
                          <a:spcPts val="0"/>
                        </a:spcBef>
                        <a:spcAft>
                          <a:spcPts val="0"/>
                        </a:spcAft>
                        <a:buNone/>
                      </a:pPr>
                      <a:endParaRPr dirty="0">
                        <a:highlight>
                          <a:srgbClr val="C0C0C0"/>
                        </a:highlight>
                      </a:endParaRPr>
                    </a:p>
                  </a:txBody>
                  <a:tcPr marL="91450" marR="91450" marT="45725" marB="45725">
                    <a:solidFill>
                      <a:schemeClr val="bg1">
                        <a:lumMod val="85000"/>
                      </a:schemeClr>
                    </a:solidFill>
                  </a:tcPr>
                </a:tc>
                <a:tc>
                  <a:txBody>
                    <a:bodyPr/>
                    <a:lstStyle/>
                    <a:p>
                      <a:pPr marL="0" marR="0" lvl="0" indent="0" algn="ctr" rtl="0">
                        <a:spcBef>
                          <a:spcPts val="0"/>
                        </a:spcBef>
                        <a:spcAft>
                          <a:spcPts val="0"/>
                        </a:spcAft>
                        <a:buNone/>
                      </a:pPr>
                      <a:endParaRPr sz="1800" dirty="0">
                        <a:solidFill>
                          <a:schemeClr val="accent5"/>
                        </a:solidFill>
                        <a:latin typeface="Arial"/>
                        <a:ea typeface="Arial"/>
                        <a:cs typeface="Arial"/>
                        <a:sym typeface="Arial"/>
                      </a:endParaRPr>
                    </a:p>
                  </a:txBody>
                  <a:tcPr marL="91450" marR="91450" marT="45725" marB="45725">
                    <a:solidFill>
                      <a:schemeClr val="bg1">
                        <a:lumMod val="85000"/>
                      </a:schemeClr>
                    </a:solidFill>
                  </a:tcPr>
                </a:tc>
                <a:tc>
                  <a:txBody>
                    <a:bodyPr/>
                    <a:lstStyle/>
                    <a:p>
                      <a:pPr marL="0" marR="0" lvl="0" indent="0" algn="ctr" rtl="0">
                        <a:spcBef>
                          <a:spcPts val="0"/>
                        </a:spcBef>
                        <a:spcAft>
                          <a:spcPts val="0"/>
                        </a:spcAft>
                        <a:buNone/>
                      </a:pPr>
                      <a:endParaRPr sz="1800" dirty="0">
                        <a:solidFill>
                          <a:schemeClr val="accent5"/>
                        </a:solidFill>
                        <a:latin typeface="Arial"/>
                        <a:ea typeface="Arial"/>
                        <a:cs typeface="Arial"/>
                        <a:sym typeface="Arial"/>
                      </a:endParaRPr>
                    </a:p>
                  </a:txBody>
                  <a:tcPr marL="91450" marR="91450" marT="45725" marB="45725">
                    <a:solidFill>
                      <a:schemeClr val="bg1">
                        <a:lumMod val="85000"/>
                      </a:schemeClr>
                    </a:solidFill>
                  </a:tcPr>
                </a:tc>
                <a:extLst>
                  <a:ext uri="{0D108BD9-81ED-4DB2-BD59-A6C34878D82A}">
                    <a16:rowId xmlns:a16="http://schemas.microsoft.com/office/drawing/2014/main" val="10001"/>
                  </a:ext>
                </a:extLst>
              </a:tr>
              <a:tr h="1302950">
                <a:tc>
                  <a:txBody>
                    <a:bodyPr/>
                    <a:lstStyle/>
                    <a:p>
                      <a:pPr marL="0" marR="0" lvl="0" indent="0" algn="ctr" rtl="0">
                        <a:spcBef>
                          <a:spcPts val="0"/>
                        </a:spcBef>
                        <a:spcAft>
                          <a:spcPts val="0"/>
                        </a:spcAft>
                        <a:buNone/>
                      </a:pPr>
                      <a:endParaRPr sz="2000" b="1" dirty="0">
                        <a:solidFill>
                          <a:schemeClr val="accent5"/>
                        </a:solidFill>
                        <a:latin typeface="Arial"/>
                        <a:ea typeface="Arial"/>
                        <a:cs typeface="Arial"/>
                        <a:sym typeface="Arial"/>
                      </a:endParaRPr>
                    </a:p>
                  </a:txBody>
                  <a:tcPr marL="91450" marR="91450" marT="45725" marB="45725">
                    <a:solidFill>
                      <a:schemeClr val="bg1">
                        <a:lumMod val="95000"/>
                      </a:schemeClr>
                    </a:solidFill>
                  </a:tcPr>
                </a:tc>
                <a:tc>
                  <a:txBody>
                    <a:bodyPr/>
                    <a:lstStyle/>
                    <a:p>
                      <a:pPr marL="0" marR="0" lvl="0" indent="0" algn="ctr" rtl="0">
                        <a:spcBef>
                          <a:spcPts val="0"/>
                        </a:spcBef>
                        <a:spcAft>
                          <a:spcPts val="0"/>
                        </a:spcAft>
                        <a:buNone/>
                      </a:pPr>
                      <a:endParaRPr sz="1800" dirty="0">
                        <a:solidFill>
                          <a:schemeClr val="accent5"/>
                        </a:solidFill>
                        <a:latin typeface="Arial"/>
                        <a:ea typeface="Arial"/>
                        <a:cs typeface="Arial"/>
                        <a:sym typeface="Arial"/>
                      </a:endParaRPr>
                    </a:p>
                  </a:txBody>
                  <a:tcPr marL="91450" marR="91450" marT="45725" marB="45725">
                    <a:solidFill>
                      <a:schemeClr val="bg1">
                        <a:lumMod val="95000"/>
                      </a:schemeClr>
                    </a:solidFill>
                  </a:tcPr>
                </a:tc>
                <a:tc>
                  <a:txBody>
                    <a:bodyPr/>
                    <a:lstStyle/>
                    <a:p>
                      <a:pPr marL="0" marR="0" lvl="0" indent="0" algn="ctr" rtl="0">
                        <a:spcBef>
                          <a:spcPts val="0"/>
                        </a:spcBef>
                        <a:spcAft>
                          <a:spcPts val="0"/>
                        </a:spcAft>
                        <a:buNone/>
                      </a:pPr>
                      <a:endParaRPr sz="1800" dirty="0">
                        <a:solidFill>
                          <a:schemeClr val="accent5"/>
                        </a:solidFill>
                        <a:latin typeface="Arial"/>
                        <a:ea typeface="Arial"/>
                        <a:cs typeface="Arial"/>
                        <a:sym typeface="Arial"/>
                      </a:endParaRPr>
                    </a:p>
                  </a:txBody>
                  <a:tcPr marL="91450" marR="91450" marT="45725" marB="45725">
                    <a:solidFill>
                      <a:schemeClr val="bg1">
                        <a:lumMod val="95000"/>
                      </a:schemeClr>
                    </a:solidFill>
                  </a:tcPr>
                </a:tc>
                <a:extLst>
                  <a:ext uri="{0D108BD9-81ED-4DB2-BD59-A6C34878D82A}">
                    <a16:rowId xmlns:a16="http://schemas.microsoft.com/office/drawing/2014/main" val="10002"/>
                  </a:ext>
                </a:extLst>
              </a:tr>
              <a:tr h="1346500">
                <a:tc>
                  <a:txBody>
                    <a:bodyPr/>
                    <a:lstStyle/>
                    <a:p>
                      <a:pPr marL="0" marR="0" lvl="0" indent="0" algn="ctr" rtl="0">
                        <a:spcBef>
                          <a:spcPts val="0"/>
                        </a:spcBef>
                        <a:spcAft>
                          <a:spcPts val="0"/>
                        </a:spcAft>
                        <a:buNone/>
                      </a:pPr>
                      <a:endParaRPr dirty="0">
                        <a:highlight>
                          <a:srgbClr val="C0C0C0"/>
                        </a:highlight>
                      </a:endParaRPr>
                    </a:p>
                  </a:txBody>
                  <a:tcPr marL="91450" marR="91450" marT="45725" marB="45725">
                    <a:solidFill>
                      <a:schemeClr val="bg1">
                        <a:lumMod val="85000"/>
                      </a:schemeClr>
                    </a:solidFill>
                  </a:tcPr>
                </a:tc>
                <a:tc>
                  <a:txBody>
                    <a:bodyPr/>
                    <a:lstStyle/>
                    <a:p>
                      <a:pPr marL="0" marR="0" lvl="0" indent="0" algn="ctr" rtl="0">
                        <a:spcBef>
                          <a:spcPts val="0"/>
                        </a:spcBef>
                        <a:spcAft>
                          <a:spcPts val="0"/>
                        </a:spcAft>
                        <a:buNone/>
                      </a:pPr>
                      <a:endParaRPr sz="1800" dirty="0">
                        <a:solidFill>
                          <a:schemeClr val="accent5"/>
                        </a:solidFill>
                        <a:latin typeface="Arial"/>
                        <a:ea typeface="Arial"/>
                        <a:cs typeface="Arial"/>
                        <a:sym typeface="Arial"/>
                      </a:endParaRPr>
                    </a:p>
                  </a:txBody>
                  <a:tcPr marL="91450" marR="91450" marT="45725" marB="45725">
                    <a:solidFill>
                      <a:schemeClr val="bg1">
                        <a:lumMod val="85000"/>
                      </a:schemeClr>
                    </a:solidFill>
                  </a:tcPr>
                </a:tc>
                <a:tc>
                  <a:txBody>
                    <a:bodyPr/>
                    <a:lstStyle/>
                    <a:p>
                      <a:pPr marL="0" marR="0" lvl="0" indent="0" algn="ctr" rtl="0">
                        <a:spcBef>
                          <a:spcPts val="0"/>
                        </a:spcBef>
                        <a:spcAft>
                          <a:spcPts val="0"/>
                        </a:spcAft>
                        <a:buNone/>
                      </a:pPr>
                      <a:endParaRPr sz="1800" dirty="0">
                        <a:solidFill>
                          <a:schemeClr val="accent5"/>
                        </a:solidFill>
                        <a:latin typeface="Arial"/>
                        <a:ea typeface="Arial"/>
                        <a:cs typeface="Arial"/>
                        <a:sym typeface="Arial"/>
                      </a:endParaRPr>
                    </a:p>
                  </a:txBody>
                  <a:tcPr marL="91450" marR="91450" marT="45725" marB="45725">
                    <a:solidFill>
                      <a:schemeClr val="bg1">
                        <a:lumMod val="85000"/>
                      </a:schemeClr>
                    </a:solidFill>
                  </a:tcPr>
                </a:tc>
                <a:extLst>
                  <a:ext uri="{0D108BD9-81ED-4DB2-BD59-A6C34878D82A}">
                    <a16:rowId xmlns:a16="http://schemas.microsoft.com/office/drawing/2014/main" val="10003"/>
                  </a:ext>
                </a:extLst>
              </a:tr>
              <a:tr h="1174375">
                <a:tc>
                  <a:txBody>
                    <a:bodyPr/>
                    <a:lstStyle/>
                    <a:p>
                      <a:pPr marL="0" marR="0" lvl="0" indent="0" algn="ctr" rtl="0">
                        <a:spcBef>
                          <a:spcPts val="0"/>
                        </a:spcBef>
                        <a:spcAft>
                          <a:spcPts val="0"/>
                        </a:spcAft>
                        <a:buNone/>
                      </a:pPr>
                      <a:endParaRPr dirty="0"/>
                    </a:p>
                  </a:txBody>
                  <a:tcPr marL="91450" marR="91450" marT="45725" marB="45725">
                    <a:solidFill>
                      <a:schemeClr val="bg1">
                        <a:lumMod val="95000"/>
                      </a:schemeClr>
                    </a:solidFill>
                  </a:tcPr>
                </a:tc>
                <a:tc>
                  <a:txBody>
                    <a:bodyPr/>
                    <a:lstStyle/>
                    <a:p>
                      <a:pPr marL="0" marR="0" lvl="0" indent="0" algn="ctr" rtl="0">
                        <a:spcBef>
                          <a:spcPts val="0"/>
                        </a:spcBef>
                        <a:spcAft>
                          <a:spcPts val="0"/>
                        </a:spcAft>
                        <a:buNone/>
                      </a:pPr>
                      <a:endParaRPr sz="1800" dirty="0">
                        <a:solidFill>
                          <a:schemeClr val="accent5"/>
                        </a:solidFill>
                        <a:latin typeface="Arial"/>
                        <a:ea typeface="Arial"/>
                        <a:cs typeface="Arial"/>
                        <a:sym typeface="Arial"/>
                      </a:endParaRPr>
                    </a:p>
                  </a:txBody>
                  <a:tcPr marL="91450" marR="91450" marT="45725" marB="45725">
                    <a:solidFill>
                      <a:schemeClr val="bg1">
                        <a:lumMod val="95000"/>
                      </a:schemeClr>
                    </a:solidFill>
                  </a:tcPr>
                </a:tc>
                <a:tc>
                  <a:txBody>
                    <a:bodyPr/>
                    <a:lstStyle/>
                    <a:p>
                      <a:pPr marL="0" marR="0" lvl="0" indent="0" algn="ctr" rtl="0">
                        <a:spcBef>
                          <a:spcPts val="0"/>
                        </a:spcBef>
                        <a:spcAft>
                          <a:spcPts val="0"/>
                        </a:spcAft>
                        <a:buNone/>
                      </a:pPr>
                      <a:endParaRPr sz="1800" dirty="0">
                        <a:solidFill>
                          <a:schemeClr val="accent5"/>
                        </a:solidFill>
                        <a:latin typeface="Arial"/>
                        <a:ea typeface="Arial"/>
                        <a:cs typeface="Arial"/>
                        <a:sym typeface="Arial"/>
                      </a:endParaRPr>
                    </a:p>
                  </a:txBody>
                  <a:tcPr marL="91450" marR="91450" marT="45725" marB="45725">
                    <a:solidFill>
                      <a:schemeClr val="bg1">
                        <a:lumMod val="95000"/>
                      </a:schemeClr>
                    </a:solidFill>
                  </a:tcPr>
                </a:tc>
                <a:extLst>
                  <a:ext uri="{0D108BD9-81ED-4DB2-BD59-A6C34878D82A}">
                    <a16:rowId xmlns:a16="http://schemas.microsoft.com/office/drawing/2014/main" val="10004"/>
                  </a:ext>
                </a:extLst>
              </a:tr>
            </a:tbl>
          </a:graphicData>
        </a:graphic>
      </p:graphicFrame>
      <p:sp>
        <p:nvSpPr>
          <p:cNvPr id="3" name="Google Shape;192;p18">
            <a:extLst>
              <a:ext uri="{FF2B5EF4-FFF2-40B4-BE49-F238E27FC236}">
                <a16:creationId xmlns:a16="http://schemas.microsoft.com/office/drawing/2014/main" id="{D93CB84A-018B-D336-DE20-54CF3DE4976B}"/>
              </a:ext>
            </a:extLst>
          </p:cNvPr>
          <p:cNvSpPr txBox="1"/>
          <p:nvPr/>
        </p:nvSpPr>
        <p:spPr>
          <a:xfrm>
            <a:off x="375882" y="418247"/>
            <a:ext cx="10424160" cy="4286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b="0" i="0" u="none" strike="noStrike" cap="none" dirty="0" err="1">
                <a:solidFill>
                  <a:srgbClr val="1A1A1A"/>
                </a:solidFill>
                <a:latin typeface="Plus Jakarta Sans ExtraBold"/>
                <a:ea typeface="Plus Jakarta Sans ExtraBold"/>
                <a:cs typeface="Plus Jakarta Sans ExtraBold"/>
                <a:sym typeface="Plus Jakarta Sans ExtraBold"/>
              </a:rPr>
              <a:t>Herramientas de Backend, Base de Datos y Web</a:t>
            </a:r>
            <a:endParaRPr dirty="0"/>
          </a:p>
        </p:txBody>
      </p:sp>
      <p:pic>
        <p:nvPicPr>
          <p:cNvPr id="5" name="Imagen 4">
            <a:extLst>
              <a:ext uri="{FF2B5EF4-FFF2-40B4-BE49-F238E27FC236}">
                <a16:creationId xmlns:a16="http://schemas.microsoft.com/office/drawing/2014/main" id="{DB4794E1-CF16-E507-6236-947F0502DFC1}"/>
              </a:ext>
            </a:extLst>
          </p:cNvPr>
          <p:cNvPicPr>
            <a:picLocks noChangeAspect="1"/>
          </p:cNvPicPr>
          <p:nvPr/>
        </p:nvPicPr>
        <p:blipFill>
          <a:blip r:embed="rId6">
            <a:alphaModFix/>
          </a:blip>
          <a:stretch>
            <a:fillRect/>
          </a:stretch>
        </p:blipFill>
        <p:spPr>
          <a:xfrm>
            <a:off x="976882" y="3001135"/>
            <a:ext cx="836219" cy="855730"/>
          </a:xfrm>
          <a:prstGeom prst="rect">
            <a:avLst/>
          </a:prstGeom>
          <a:noFill/>
          <a:ln>
            <a:noFill/>
          </a:ln>
        </p:spPr>
      </p:pic>
      <p:pic>
        <p:nvPicPr>
          <p:cNvPr id="6" name="Google Shape;189;p18" descr="image.png">
            <a:extLst>
              <a:ext uri="{FF2B5EF4-FFF2-40B4-BE49-F238E27FC236}">
                <a16:creationId xmlns:a16="http://schemas.microsoft.com/office/drawing/2014/main" id="{4FEBBEC8-0141-3C90-2E15-08B2F7C13ADC}"/>
              </a:ext>
            </a:extLst>
          </p:cNvPr>
          <p:cNvPicPr preferRelativeResize="0"/>
          <p:nvPr/>
        </p:nvPicPr>
        <p:blipFill rotWithShape="1">
          <a:blip r:embed="rId7">
            <a:alphaModFix/>
          </a:blip>
          <a:srcRect/>
          <a:stretch/>
        </p:blipFill>
        <p:spPr>
          <a:xfrm>
            <a:off x="774876" y="4513521"/>
            <a:ext cx="361950" cy="476250"/>
          </a:xfrm>
          <a:prstGeom prst="rect">
            <a:avLst/>
          </a:prstGeom>
          <a:noFill/>
          <a:ln>
            <a:noFill/>
          </a:ln>
        </p:spPr>
      </p:pic>
      <p:pic>
        <p:nvPicPr>
          <p:cNvPr id="7" name="Google Shape;190;p18" descr="image.png">
            <a:extLst>
              <a:ext uri="{FF2B5EF4-FFF2-40B4-BE49-F238E27FC236}">
                <a16:creationId xmlns:a16="http://schemas.microsoft.com/office/drawing/2014/main" id="{CB7BA741-7142-72B7-51B6-CFA76538A06A}"/>
              </a:ext>
            </a:extLst>
          </p:cNvPr>
          <p:cNvPicPr preferRelativeResize="0"/>
          <p:nvPr/>
        </p:nvPicPr>
        <p:blipFill rotWithShape="1">
          <a:blip r:embed="rId8">
            <a:alphaModFix/>
          </a:blip>
          <a:srcRect/>
          <a:stretch/>
        </p:blipFill>
        <p:spPr>
          <a:xfrm>
            <a:off x="1203501" y="4513521"/>
            <a:ext cx="361950" cy="476250"/>
          </a:xfrm>
          <a:prstGeom prst="rect">
            <a:avLst/>
          </a:prstGeom>
          <a:noFill/>
          <a:ln>
            <a:noFill/>
          </a:ln>
        </p:spPr>
      </p:pic>
      <p:pic>
        <p:nvPicPr>
          <p:cNvPr id="8" name="Google Shape;191;p18" descr="image.png">
            <a:extLst>
              <a:ext uri="{FF2B5EF4-FFF2-40B4-BE49-F238E27FC236}">
                <a16:creationId xmlns:a16="http://schemas.microsoft.com/office/drawing/2014/main" id="{18D8E3B5-0E01-F98D-D66D-0E43963D8938}"/>
              </a:ext>
            </a:extLst>
          </p:cNvPr>
          <p:cNvPicPr preferRelativeResize="0"/>
          <p:nvPr/>
        </p:nvPicPr>
        <p:blipFill rotWithShape="1">
          <a:blip r:embed="rId9">
            <a:alphaModFix/>
          </a:blip>
          <a:srcRect/>
          <a:stretch/>
        </p:blipFill>
        <p:spPr>
          <a:xfrm>
            <a:off x="1614806" y="4513521"/>
            <a:ext cx="419100" cy="476250"/>
          </a:xfrm>
          <a:prstGeom prst="rect">
            <a:avLst/>
          </a:prstGeom>
          <a:noFill/>
          <a:ln>
            <a:noFill/>
          </a:ln>
        </p:spPr>
      </p:pic>
      <p:pic>
        <p:nvPicPr>
          <p:cNvPr id="9" name="Google Shape;194;p18">
            <a:extLst>
              <a:ext uri="{FF2B5EF4-FFF2-40B4-BE49-F238E27FC236}">
                <a16:creationId xmlns:a16="http://schemas.microsoft.com/office/drawing/2014/main" id="{7D86662D-56E2-D9D7-D15B-060FFB696D65}"/>
              </a:ext>
            </a:extLst>
          </p:cNvPr>
          <p:cNvPicPr preferRelativeResize="0"/>
          <p:nvPr/>
        </p:nvPicPr>
        <p:blipFill>
          <a:blip r:embed="rId10">
            <a:alphaModFix/>
          </a:blip>
          <a:stretch>
            <a:fillRect/>
          </a:stretch>
        </p:blipFill>
        <p:spPr>
          <a:xfrm>
            <a:off x="928416" y="5544320"/>
            <a:ext cx="933149" cy="933149"/>
          </a:xfrm>
          <a:prstGeom prst="rect">
            <a:avLst/>
          </a:prstGeom>
          <a:noFill/>
          <a:ln>
            <a:noFill/>
          </a:ln>
        </p:spPr>
      </p:pic>
      <p:sp>
        <p:nvSpPr>
          <p:cNvPr id="10" name="Google Shape;179;p18">
            <a:extLst>
              <a:ext uri="{FF2B5EF4-FFF2-40B4-BE49-F238E27FC236}">
                <a16:creationId xmlns:a16="http://schemas.microsoft.com/office/drawing/2014/main" id="{7FA6E4FA-849F-7242-4DD4-B79BC9680F1C}"/>
              </a:ext>
            </a:extLst>
          </p:cNvPr>
          <p:cNvSpPr txBox="1"/>
          <p:nvPr/>
        </p:nvSpPr>
        <p:spPr>
          <a:xfrm>
            <a:off x="2411122" y="2063799"/>
            <a:ext cx="1875235" cy="230832"/>
          </a:xfrm>
          <a:prstGeom prst="rect">
            <a:avLst/>
          </a:prstGeom>
          <a:noFill/>
          <a:ln>
            <a:noFill/>
          </a:ln>
        </p:spPr>
        <p:txBody>
          <a:bodyPr spcFirstLastPara="1" wrap="square" lIns="0" tIns="0" rIns="0" bIns="0" anchor="t" anchorCtr="0">
            <a:spAutoFit/>
          </a:bodyPr>
          <a:lstStyle/>
          <a:p>
            <a:pPr algn="ctr"/>
            <a:r>
              <a:rPr lang="en-US" sz="1500" b="1" dirty="0">
                <a:solidFill>
                  <a:srgbClr val="3369CD"/>
                </a:solidFill>
                <a:ea typeface="+mn-ea"/>
                <a:cs typeface="+mn-cs"/>
                <a:sym typeface="Plus Jakarta Sans"/>
              </a:rPr>
              <a:t>Python con Flask</a:t>
            </a:r>
            <a:endParaRPr sz="1500" b="1" dirty="0">
              <a:solidFill>
                <a:srgbClr val="1F3B73"/>
              </a:solidFill>
              <a:ea typeface="+mn-ea"/>
              <a:cs typeface="+mn-cs"/>
            </a:endParaRPr>
          </a:p>
        </p:txBody>
      </p:sp>
      <p:sp>
        <p:nvSpPr>
          <p:cNvPr id="11" name="Google Shape;181;p18">
            <a:extLst>
              <a:ext uri="{FF2B5EF4-FFF2-40B4-BE49-F238E27FC236}">
                <a16:creationId xmlns:a16="http://schemas.microsoft.com/office/drawing/2014/main" id="{D6966D3D-7FE9-763C-8FB5-72EA12BC27A2}"/>
              </a:ext>
            </a:extLst>
          </p:cNvPr>
          <p:cNvSpPr txBox="1"/>
          <p:nvPr/>
        </p:nvSpPr>
        <p:spPr>
          <a:xfrm>
            <a:off x="2808674" y="3325125"/>
            <a:ext cx="1080135" cy="20774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dirty="0">
                <a:solidFill>
                  <a:srgbClr val="1A1A1A"/>
                </a:solidFill>
                <a:latin typeface="Plus Jakarta Sans"/>
                <a:ea typeface="Plus Jakarta Sans"/>
                <a:cs typeface="Plus Jakarta Sans"/>
                <a:sym typeface="Plus Jakarta Sans"/>
              </a:rPr>
              <a:t>MySQL / MariaDB</a:t>
            </a:r>
            <a:endParaRPr dirty="0"/>
          </a:p>
        </p:txBody>
      </p:sp>
      <p:sp>
        <p:nvSpPr>
          <p:cNvPr id="12" name="Google Shape;183;p18">
            <a:extLst>
              <a:ext uri="{FF2B5EF4-FFF2-40B4-BE49-F238E27FC236}">
                <a16:creationId xmlns:a16="http://schemas.microsoft.com/office/drawing/2014/main" id="{AE8E8D92-0E30-06D2-639B-4BEC87153D25}"/>
              </a:ext>
            </a:extLst>
          </p:cNvPr>
          <p:cNvSpPr txBox="1"/>
          <p:nvPr/>
        </p:nvSpPr>
        <p:spPr>
          <a:xfrm>
            <a:off x="2328613" y="4642108"/>
            <a:ext cx="2040255"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dirty="0">
                <a:solidFill>
                  <a:srgbClr val="1A1A1A"/>
                </a:solidFill>
                <a:latin typeface="Plus Jakarta Sans"/>
                <a:ea typeface="Plus Jakarta Sans"/>
                <a:cs typeface="Plus Jakarta Sans"/>
                <a:sym typeface="Plus Jakarta Sans"/>
              </a:rPr>
              <a:t>HTML, CSS y JavaScript</a:t>
            </a:r>
            <a:endParaRPr dirty="0"/>
          </a:p>
        </p:txBody>
      </p:sp>
      <p:sp>
        <p:nvSpPr>
          <p:cNvPr id="13" name="Google Shape;185;p18">
            <a:extLst>
              <a:ext uri="{FF2B5EF4-FFF2-40B4-BE49-F238E27FC236}">
                <a16:creationId xmlns:a16="http://schemas.microsoft.com/office/drawing/2014/main" id="{49BF5F14-A201-FA4C-9BEA-C612C4078AF5}"/>
              </a:ext>
            </a:extLst>
          </p:cNvPr>
          <p:cNvSpPr txBox="1"/>
          <p:nvPr/>
        </p:nvSpPr>
        <p:spPr>
          <a:xfrm>
            <a:off x="2938689" y="5901358"/>
            <a:ext cx="820102"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dirty="0">
                <a:solidFill>
                  <a:srgbClr val="1A1A1A"/>
                </a:solidFill>
                <a:latin typeface="Plus Jakarta Sans"/>
                <a:ea typeface="Plus Jakarta Sans"/>
                <a:cs typeface="Plus Jakarta Sans"/>
                <a:sym typeface="Plus Jakarta Sans"/>
              </a:rPr>
              <a:t>PyCharm</a:t>
            </a:r>
            <a:endParaRPr dirty="0"/>
          </a:p>
        </p:txBody>
      </p:sp>
      <p:sp>
        <p:nvSpPr>
          <p:cNvPr id="14" name="Google Shape;180;p18">
            <a:extLst>
              <a:ext uri="{FF2B5EF4-FFF2-40B4-BE49-F238E27FC236}">
                <a16:creationId xmlns:a16="http://schemas.microsoft.com/office/drawing/2014/main" id="{B06F346E-BCBE-44F9-D1D7-C4A1D8FBBB80}"/>
              </a:ext>
            </a:extLst>
          </p:cNvPr>
          <p:cNvSpPr txBox="1"/>
          <p:nvPr/>
        </p:nvSpPr>
        <p:spPr>
          <a:xfrm>
            <a:off x="5185480" y="1937869"/>
            <a:ext cx="5787319" cy="415498"/>
          </a:xfrm>
          <a:prstGeom prst="rect">
            <a:avLst/>
          </a:prstGeom>
          <a:noFill/>
          <a:ln>
            <a:noFill/>
          </a:ln>
        </p:spPr>
        <p:txBody>
          <a:bodyPr spcFirstLastPara="1" wrap="square" lIns="0" tIns="0" rIns="0" bIns="0" anchor="t" anchorCtr="0">
            <a:spAutoFit/>
          </a:bodyPr>
          <a:lstStyle/>
          <a:p>
            <a:pPr algn="ctr"/>
            <a:r>
              <a:rPr sz="1500">
                <a:solidFill>
                  <a:srgbClr val="1A1A1A"/>
                </a:solidFill>
                <a:latin typeface="Arial"/>
              </a:rPr>
              <a:t>Lenguaje y framework del servidor. Resuelve el enrutamiento, la sesión y las reglas de la agenda antes de escribir en la base.</a:t>
            </a:r>
            <a:endParaRPr sz="1350" b="1" dirty="0">
              <a:solidFill>
                <a:srgbClr val="003366"/>
              </a:solidFill>
              <a:latin typeface="Plus Jakarta Sans"/>
              <a:cs typeface="Plus Jakarta Sans"/>
            </a:endParaRPr>
          </a:p>
        </p:txBody>
      </p:sp>
      <p:sp>
        <p:nvSpPr>
          <p:cNvPr id="16" name="Google Shape;182;p18">
            <a:extLst>
              <a:ext uri="{FF2B5EF4-FFF2-40B4-BE49-F238E27FC236}">
                <a16:creationId xmlns:a16="http://schemas.microsoft.com/office/drawing/2014/main" id="{E5F35F2E-E15D-32B4-EFE9-854E706A4D7C}"/>
              </a:ext>
            </a:extLst>
          </p:cNvPr>
          <p:cNvSpPr txBox="1"/>
          <p:nvPr/>
        </p:nvSpPr>
        <p:spPr>
          <a:xfrm>
            <a:off x="5264501" y="3214070"/>
            <a:ext cx="5787319" cy="415498"/>
          </a:xfrm>
          <a:prstGeom prst="rect">
            <a:avLst/>
          </a:prstGeom>
          <a:noFill/>
          <a:ln>
            <a:noFill/>
          </a:ln>
        </p:spPr>
        <p:txBody>
          <a:bodyPr spcFirstLastPara="1" wrap="square" lIns="0" tIns="0" rIns="0" bIns="0" anchor="t" anchorCtr="0">
            <a:spAutoFit/>
          </a:bodyPr>
          <a:lstStyle/>
          <a:p>
            <a:pPr algn="ctr"/>
            <a:r>
              <a:rPr sz="1500">
                <a:solidFill>
                  <a:srgbClr val="1A1A1A"/>
                </a:solidFill>
                <a:latin typeface="Arial"/>
              </a:rPr>
              <a:t>Gestor relacional con once tablas, sesenta y tres columnas y catorce claves foráneas, con acceso mediante consultas SQL explícitas.</a:t>
            </a:r>
            <a:endParaRPr sz="1350" b="1" dirty="0">
              <a:solidFill>
                <a:srgbClr val="003366"/>
              </a:solidFill>
              <a:latin typeface="Plus Jakarta Sans"/>
              <a:cs typeface="Plus Jakarta Sans"/>
            </a:endParaRPr>
          </a:p>
        </p:txBody>
      </p:sp>
      <p:sp>
        <p:nvSpPr>
          <p:cNvPr id="19" name="Google Shape;184;p18">
            <a:extLst>
              <a:ext uri="{FF2B5EF4-FFF2-40B4-BE49-F238E27FC236}">
                <a16:creationId xmlns:a16="http://schemas.microsoft.com/office/drawing/2014/main" id="{A0DC273B-02A0-08EC-448F-6B6D27AB28B5}"/>
              </a:ext>
            </a:extLst>
          </p:cNvPr>
          <p:cNvSpPr txBox="1"/>
          <p:nvPr/>
        </p:nvSpPr>
        <p:spPr>
          <a:xfrm>
            <a:off x="5724878" y="4490271"/>
            <a:ext cx="4708524" cy="415498"/>
          </a:xfrm>
          <a:prstGeom prst="rect">
            <a:avLst/>
          </a:prstGeom>
          <a:noFill/>
          <a:ln>
            <a:noFill/>
          </a:ln>
        </p:spPr>
        <p:txBody>
          <a:bodyPr spcFirstLastPara="1" wrap="square" lIns="0" tIns="0" rIns="0" bIns="0" anchor="t" anchorCtr="0">
            <a:spAutoFit/>
          </a:bodyPr>
          <a:lstStyle/>
          <a:p>
            <a:pPr algn="ctr"/>
            <a:r>
              <a:rPr sz="1500">
                <a:solidFill>
                  <a:srgbClr val="1A1A1A"/>
                </a:solidFill>
                <a:latin typeface="Arial"/>
              </a:rPr>
              <a:t>Plantillas Jinja2 con Bootstrap 5 para las tres vistas de rol y el calendario de disponibilidad.</a:t>
            </a:r>
            <a:endParaRPr sz="1350" b="1" dirty="0">
              <a:solidFill>
                <a:srgbClr val="003366"/>
              </a:solidFill>
              <a:latin typeface="Plus Jakarta Sans"/>
              <a:cs typeface="Plus Jakarta Sans"/>
            </a:endParaRPr>
          </a:p>
        </p:txBody>
      </p:sp>
      <p:sp>
        <p:nvSpPr>
          <p:cNvPr id="20" name="Google Shape;186;p18">
            <a:extLst>
              <a:ext uri="{FF2B5EF4-FFF2-40B4-BE49-F238E27FC236}">
                <a16:creationId xmlns:a16="http://schemas.microsoft.com/office/drawing/2014/main" id="{AF261DFC-D721-ED25-DE9B-C426812B8699}"/>
              </a:ext>
            </a:extLst>
          </p:cNvPr>
          <p:cNvSpPr txBox="1"/>
          <p:nvPr/>
        </p:nvSpPr>
        <p:spPr>
          <a:xfrm>
            <a:off x="5751496" y="5699271"/>
            <a:ext cx="4813331" cy="623248"/>
          </a:xfrm>
          <a:prstGeom prst="rect">
            <a:avLst/>
          </a:prstGeom>
          <a:noFill/>
          <a:ln>
            <a:noFill/>
          </a:ln>
        </p:spPr>
        <p:txBody>
          <a:bodyPr spcFirstLastPara="1" wrap="square" lIns="0" tIns="0" rIns="0" bIns="0" anchor="t" anchorCtr="0">
            <a:spAutoFit/>
          </a:bodyPr>
          <a:lstStyle/>
          <a:p>
            <a:pPr algn="ctr"/>
            <a:r>
              <a:rPr sz="1500">
                <a:solidFill>
                  <a:srgbClr val="1A1A1A"/>
                </a:solidFill>
                <a:latin typeface="Arial"/>
              </a:rPr>
              <a:t>Entorno de desarrollo usado para escribir, depurar y mantener el código.</a:t>
            </a:r>
            <a:endParaRPr sz="1350" b="1" dirty="0">
              <a:solidFill>
                <a:srgbClr val="003366"/>
              </a:solidFill>
              <a:latin typeface="Plus Jakarta Sans"/>
              <a:cs typeface="Plus Jakarta Sans"/>
            </a:endParaRPr>
          </a:p>
        </p:txBody>
      </p:sp>
    </p:spTree>
    <p:extLst>
      <p:ext uri="{BB962C8B-B14F-4D97-AF65-F5344CB8AC3E}">
        <p14:creationId xmlns:p14="http://schemas.microsoft.com/office/powerpoint/2010/main" val="27865072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4">
            <a:alphaModFix/>
          </a:blip>
          <a:srcRect t="99333"/>
          <a:stretch/>
        </p:blipFill>
        <p:spPr>
          <a:xfrm>
            <a:off x="0" y="6820763"/>
            <a:ext cx="12192000" cy="45719"/>
          </a:xfrm>
          <a:prstGeom prst="rect">
            <a:avLst/>
          </a:prstGeom>
          <a:noFill/>
          <a:ln>
            <a:noFill/>
          </a:ln>
        </p:spPr>
      </p:pic>
      <p:sp>
        <p:nvSpPr>
          <p:cNvPr id="15" name="Google Shape;213;p19">
            <a:extLst>
              <a:ext uri="{FF2B5EF4-FFF2-40B4-BE49-F238E27FC236}">
                <a16:creationId xmlns:a16="http://schemas.microsoft.com/office/drawing/2014/main" id="{674911B7-95B5-712F-35A8-57FEC42F3B04}"/>
              </a:ext>
            </a:extLst>
          </p:cNvPr>
          <p:cNvSpPr/>
          <p:nvPr/>
        </p:nvSpPr>
        <p:spPr>
          <a:xfrm>
            <a:off x="481189" y="836930"/>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 name="Google Shape;212;p19">
            <a:extLst>
              <a:ext uri="{FF2B5EF4-FFF2-40B4-BE49-F238E27FC236}">
                <a16:creationId xmlns:a16="http://schemas.microsoft.com/office/drawing/2014/main" id="{DA5B7F3C-C4E1-2C3C-A80A-D53E220848D0}"/>
              </a:ext>
            </a:extLst>
          </p:cNvPr>
          <p:cNvSpPr txBox="1"/>
          <p:nvPr/>
        </p:nvSpPr>
        <p:spPr>
          <a:xfrm>
            <a:off x="481189" y="408305"/>
            <a:ext cx="10424160" cy="4286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700" b="0" i="0" u="none" strike="noStrike" cap="none" dirty="0" err="1">
                <a:solidFill>
                  <a:srgbClr val="1A1A1A"/>
                </a:solidFill>
                <a:latin typeface="Plus Jakarta Sans ExtraBold"/>
                <a:ea typeface="Plus Jakarta Sans ExtraBold"/>
                <a:cs typeface="Plus Jakarta Sans ExtraBold"/>
                <a:sym typeface="Plus Jakarta Sans ExtraBold"/>
              </a:rPr>
              <a:t>Herramientas de Apoyo, Pruebas y Control de Versiones</a:t>
            </a:r>
            <a:endParaRPr dirty="0"/>
          </a:p>
        </p:txBody>
      </p:sp>
      <p:graphicFrame>
        <p:nvGraphicFramePr>
          <p:cNvPr id="18" name="Google Shape;369;p34">
            <a:extLst>
              <a:ext uri="{FF2B5EF4-FFF2-40B4-BE49-F238E27FC236}">
                <a16:creationId xmlns:a16="http://schemas.microsoft.com/office/drawing/2014/main" id="{03B7E3F0-3B02-36F5-11B8-4870F2E887D0}"/>
              </a:ext>
            </a:extLst>
          </p:cNvPr>
          <p:cNvGraphicFramePr/>
          <p:nvPr>
            <p:extLst>
              <p:ext uri="{D42A27DB-BD31-4B8C-83A1-F6EECF244321}">
                <p14:modId xmlns:p14="http://schemas.microsoft.com/office/powerpoint/2010/main" val="2673232546"/>
              </p:ext>
            </p:extLst>
          </p:nvPr>
        </p:nvGraphicFramePr>
        <p:xfrm>
          <a:off x="672362" y="1209675"/>
          <a:ext cx="10847275" cy="5385498"/>
        </p:xfrm>
        <a:graphic>
          <a:graphicData uri="http://schemas.openxmlformats.org/drawingml/2006/table">
            <a:tbl>
              <a:tblPr firstRow="1" bandRow="1">
                <a:noFill/>
              </a:tblPr>
              <a:tblGrid>
                <a:gridCol w="1479175">
                  <a:extLst>
                    <a:ext uri="{9D8B030D-6E8A-4147-A177-3AD203B41FA5}">
                      <a16:colId xmlns:a16="http://schemas.microsoft.com/office/drawing/2014/main" val="20000"/>
                    </a:ext>
                  </a:extLst>
                </a:gridCol>
                <a:gridCol w="2474250">
                  <a:extLst>
                    <a:ext uri="{9D8B030D-6E8A-4147-A177-3AD203B41FA5}">
                      <a16:colId xmlns:a16="http://schemas.microsoft.com/office/drawing/2014/main" val="20001"/>
                    </a:ext>
                  </a:extLst>
                </a:gridCol>
                <a:gridCol w="6893850">
                  <a:extLst>
                    <a:ext uri="{9D8B030D-6E8A-4147-A177-3AD203B41FA5}">
                      <a16:colId xmlns:a16="http://schemas.microsoft.com/office/drawing/2014/main" val="20002"/>
                    </a:ext>
                  </a:extLst>
                </a:gridCol>
              </a:tblGrid>
              <a:tr h="640080">
                <a:tc>
                  <a:txBody>
                    <a:bodyPr/>
                    <a:lstStyle/>
                    <a:p>
                      <a:pPr marL="0" marR="0" lvl="0" indent="0" algn="ctr" rtl="0">
                        <a:lnSpc>
                          <a:spcPct val="100000"/>
                        </a:lnSpc>
                        <a:spcBef>
                          <a:spcPts val="0"/>
                        </a:spcBef>
                        <a:spcAft>
                          <a:spcPts val="0"/>
                        </a:spcAft>
                        <a:buClr>
                          <a:srgbClr val="000000"/>
                        </a:buClr>
                        <a:buFont typeface="Arial"/>
                        <a:buNone/>
                      </a:pPr>
                      <a:r>
                        <a:rPr lang="es-CO" sz="1350" b="1" i="0" u="none" strike="noStrike" cap="none" dirty="0">
                          <a:solidFill>
                            <a:srgbClr val="1A1A1A"/>
                          </a:solidFill>
                          <a:latin typeface="Plus Jakarta Sans"/>
                          <a:ea typeface="Arial"/>
                          <a:cs typeface="Plus Jakarta Sans"/>
                          <a:sym typeface="Arial"/>
                        </a:rPr>
                        <a:t>NOMBRE</a:t>
                      </a:r>
                      <a:endParaRPr sz="1350" b="1" i="0" u="none" strike="noStrike" cap="none" dirty="0">
                        <a:solidFill>
                          <a:srgbClr val="003366"/>
                        </a:solidFill>
                        <a:latin typeface="Plus Jakarta Sans"/>
                        <a:ea typeface="Arial"/>
                        <a:cs typeface="Plus Jakarta Sans"/>
                        <a:sym typeface="Arial"/>
                      </a:endParaRPr>
                    </a:p>
                  </a:txBody>
                  <a:tcPr marL="91450" marR="91450" marT="45725" marB="45725"/>
                </a:tc>
                <a:tc>
                  <a:txBody>
                    <a:bodyPr/>
                    <a:lstStyle/>
                    <a:p>
                      <a:pPr marL="0" marR="0" lvl="0" indent="0" algn="ctr" rtl="0">
                        <a:lnSpc>
                          <a:spcPct val="100000"/>
                        </a:lnSpc>
                        <a:spcBef>
                          <a:spcPts val="0"/>
                        </a:spcBef>
                        <a:spcAft>
                          <a:spcPts val="0"/>
                        </a:spcAft>
                        <a:buClr>
                          <a:srgbClr val="000000"/>
                        </a:buClr>
                        <a:buFont typeface="Arial"/>
                        <a:buNone/>
                      </a:pPr>
                      <a:r>
                        <a:rPr lang="es-CO" sz="1350" b="1" i="0" u="none" strike="noStrike" cap="none" dirty="0">
                          <a:solidFill>
                            <a:srgbClr val="1A1A1A"/>
                          </a:solidFill>
                          <a:latin typeface="Plus Jakarta Sans"/>
                          <a:ea typeface="Arial"/>
                          <a:cs typeface="Plus Jakarta Sans"/>
                          <a:sym typeface="Arial"/>
                        </a:rPr>
                        <a:t>LOGO</a:t>
                      </a:r>
                      <a:endParaRPr sz="1350" b="1" i="0" u="none" strike="noStrike" cap="none" dirty="0">
                        <a:solidFill>
                          <a:srgbClr val="003366"/>
                        </a:solidFill>
                        <a:latin typeface="Plus Jakarta Sans"/>
                        <a:ea typeface="Arial"/>
                        <a:cs typeface="Plus Jakarta Sans"/>
                        <a:sym typeface="Arial"/>
                      </a:endParaRPr>
                    </a:p>
                  </a:txBody>
                  <a:tcPr marL="91450" marR="91450" marT="45725" marB="45725"/>
                </a:tc>
                <a:tc>
                  <a:txBody>
                    <a:bodyPr/>
                    <a:lstStyle/>
                    <a:p>
                      <a:pPr marL="0" marR="0" lvl="0" indent="0" algn="ctr" rtl="0">
                        <a:lnSpc>
                          <a:spcPct val="100000"/>
                        </a:lnSpc>
                        <a:spcBef>
                          <a:spcPts val="0"/>
                        </a:spcBef>
                        <a:spcAft>
                          <a:spcPts val="0"/>
                        </a:spcAft>
                        <a:buClr>
                          <a:srgbClr val="000000"/>
                        </a:buClr>
                        <a:buFont typeface="Arial"/>
                        <a:buNone/>
                      </a:pPr>
                      <a:r>
                        <a:rPr lang="es-CO" sz="1350" b="1" i="0" u="none" strike="noStrike" cap="none" dirty="0">
                          <a:solidFill>
                            <a:srgbClr val="1A1A1A"/>
                          </a:solidFill>
                          <a:latin typeface="Plus Jakarta Sans"/>
                          <a:ea typeface="Arial"/>
                          <a:cs typeface="Plus Jakarta Sans"/>
                          <a:sym typeface="Arial"/>
                        </a:rPr>
                        <a:t>DESCRIPCION</a:t>
                      </a:r>
                      <a:endParaRPr sz="1350" b="1" i="0" u="none" strike="noStrike" cap="none" dirty="0">
                        <a:solidFill>
                          <a:srgbClr val="003366"/>
                        </a:solidFill>
                        <a:latin typeface="Plus Jakarta Sans"/>
                        <a:ea typeface="Arial"/>
                        <a:cs typeface="Plus Jakarta Sans"/>
                        <a:sym typeface="Arial"/>
                      </a:endParaRPr>
                    </a:p>
                  </a:txBody>
                  <a:tcPr marL="91450" marR="91450" marT="45725" marB="45725"/>
                </a:tc>
                <a:extLst>
                  <a:ext uri="{0D108BD9-81ED-4DB2-BD59-A6C34878D82A}">
                    <a16:rowId xmlns:a16="http://schemas.microsoft.com/office/drawing/2014/main" val="10000"/>
                  </a:ext>
                </a:extLst>
              </a:tr>
              <a:tr h="1581806">
                <a:tc>
                  <a:txBody>
                    <a:bodyPr/>
                    <a:lstStyle/>
                    <a:p>
                      <a:pPr marL="0" marR="0" lvl="0" indent="0" algn="ctr" rtl="0">
                        <a:spcBef>
                          <a:spcPts val="0"/>
                        </a:spcBef>
                        <a:spcAft>
                          <a:spcPts val="0"/>
                        </a:spcAft>
                        <a:buNone/>
                      </a:pPr>
                      <a:r>
                        <a:rPr>
                          <a:solidFill/>
                        </a:rPr>
                        <a:t/>
                      </a:r>
                      <a:endParaRPr dirty="0">
                        <a:highlight>
                          <a:srgbClr val="C0C0C0"/>
                        </a:highlight>
                      </a:endParaRPr>
                    </a:p>
                  </a:txBody>
                  <a:tcPr marL="91450" marR="91450" marT="45725" marB="45725">
                    <a:solidFill>
                      <a:schemeClr val="bg1">
                        <a:lumMod val="85000"/>
                      </a:schemeClr>
                    </a:solidFill>
                  </a:tcPr>
                </a:tc>
                <a:tc>
                  <a:txBody>
                    <a:bodyPr/>
                    <a:lstStyle/>
                    <a:p>
                      <a:pPr marL="0" marR="0" lvl="0" indent="0" algn="ctr" rtl="0">
                        <a:spcBef>
                          <a:spcPts val="0"/>
                        </a:spcBef>
                        <a:spcAft>
                          <a:spcPts val="0"/>
                        </a:spcAft>
                        <a:buNone/>
                      </a:pPr>
                      <a:r>
                        <a:rPr>
                          <a:solidFill/>
                        </a:rPr>
                        <a:t>  Claude AI</a:t>
                      </a:r>
                      <a:endParaRPr lang="es-CO" sz="1500" b="1" dirty="0">
                        <a:solidFill>
                          <a:srgbClr val="1F3B73"/>
                        </a:solidFill>
                        <a:latin typeface="Arial"/>
                      </a:endParaRPr>
                    </a:p>
                  </a:txBody>
                  <a:tcPr marL="91450" marR="91450" marT="45725" marB="45725">
                    <a:solidFill>
                      <a:schemeClr val="bg1">
                        <a:lumMod val="85000"/>
                      </a:schemeClr>
                    </a:solidFill>
                  </a:tcPr>
                </a:tc>
                <a:tc>
                  <a:txBody>
                    <a:bodyPr/>
                    <a:lstStyle/>
                    <a:p>
                      <a:pPr marL="0" marR="0" lvl="0" indent="0" algn="ctr" rtl="0">
                        <a:spcBef>
                          <a:spcPts val="0"/>
                        </a:spcBef>
                        <a:spcAft>
                          <a:spcPts val="0"/>
                        </a:spcAft>
                        <a:buNone/>
                      </a:pPr>
                      <a:r>
                        <a:rPr>
                          <a:solidFill/>
                        </a:rPr>
                        <a:t>  Asistente empleado para revisar código, contrastar decisiones de diseño y redactar documentación.</a:t>
                      </a:r>
                      <a:endParaRPr lang="es-CO" sz="1500" b="0" dirty="0">
                        <a:solidFill>
                          <a:srgbClr val="33373D"/>
                        </a:solidFill>
                        <a:latin typeface="Arial"/>
                      </a:endParaRPr>
                    </a:p>
                  </a:txBody>
                  <a:tcPr marL="91450" marR="91450" marT="45725" marB="45725">
                    <a:solidFill>
                      <a:schemeClr val="bg1">
                        <a:lumMod val="85000"/>
                      </a:schemeClr>
                    </a:solidFill>
                  </a:tcPr>
                </a:tc>
                <a:extLst>
                  <a:ext uri="{0D108BD9-81ED-4DB2-BD59-A6C34878D82A}">
                    <a16:rowId xmlns:a16="http://schemas.microsoft.com/office/drawing/2014/main" val="10001"/>
                  </a:ext>
                </a:extLst>
              </a:tr>
              <a:tr h="1581806">
                <a:tc>
                  <a:txBody>
                    <a:bodyPr/>
                    <a:lstStyle/>
                    <a:p>
                      <a:pPr marL="0" marR="0" lvl="0" indent="0" algn="ctr" rtl="0">
                        <a:lnSpc>
                          <a:spcPct val="100000"/>
                        </a:lnSpc>
                        <a:spcBef>
                          <a:spcPts val="0"/>
                        </a:spcBef>
                        <a:spcAft>
                          <a:spcPts val="0"/>
                        </a:spcAft>
                        <a:buClr>
                          <a:srgbClr val="000000"/>
                        </a:buClr>
                        <a:buFont typeface="Arial"/>
                        <a:buNone/>
                      </a:pPr>
                      <a:r>
                        <a:rPr>
                          <a:solidFill/>
                        </a:rPr>
                        <a:t/>
                      </a:r>
                      <a:endParaRPr sz="1400" b="0" i="0" u="none" strike="noStrike" cap="none" dirty="0">
                        <a:solidFill>
                          <a:schemeClr val="tx1"/>
                        </a:solidFill>
                        <a:highlight>
                          <a:srgbClr val="C0C0C0"/>
                        </a:highlight>
                        <a:latin typeface="+mn-lt"/>
                        <a:ea typeface="+mn-ea"/>
                        <a:cs typeface="+mn-cs"/>
                        <a:sym typeface="Arial"/>
                      </a:endParaRPr>
                    </a:p>
                  </a:txBody>
                  <a:tcPr marL="91450" marR="91450" marT="45725" marB="45725">
                    <a:solidFill>
                      <a:schemeClr val="bg1">
                        <a:lumMod val="95000"/>
                      </a:schemeClr>
                    </a:solidFill>
                  </a:tcPr>
                </a:tc>
                <a:tc>
                  <a:txBody>
                    <a:bodyPr/>
                    <a:lstStyle/>
                    <a:p>
                      <a:pPr marL="0" marR="0" lvl="0" indent="0" algn="ctr" rtl="0">
                        <a:lnSpc>
                          <a:spcPct val="100000"/>
                        </a:lnSpc>
                        <a:spcBef>
                          <a:spcPts val="0"/>
                        </a:spcBef>
                        <a:spcAft>
                          <a:spcPts val="0"/>
                        </a:spcAft>
                        <a:buClr>
                          <a:srgbClr val="000000"/>
                        </a:buClr>
                        <a:buFont typeface="Arial"/>
                        <a:buNone/>
                      </a:pPr>
                      <a:r>
                        <a:rPr>
                          <a:solidFill/>
                        </a:rPr>
                        <a:t>  Git y GitHub</a:t>
                      </a:r>
                      <a:endParaRPr lang="es-CO" sz="1500" b="1" dirty="0">
                        <a:solidFill>
                          <a:srgbClr val="1F3B73"/>
                        </a:solidFill>
                        <a:latin typeface="Arial"/>
                      </a:endParaRPr>
                    </a:p>
                  </a:txBody>
                  <a:tcPr marL="91450" marR="91450" marT="45725" marB="45725">
                    <a:solidFill>
                      <a:schemeClr val="bg1">
                        <a:lumMod val="95000"/>
                      </a:schemeClr>
                    </a:solidFill>
                  </a:tcPr>
                </a:tc>
                <a:tc>
                  <a:txBody>
                    <a:bodyPr/>
                    <a:lstStyle/>
                    <a:p>
                      <a:pPr marL="0" marR="0" lvl="0" indent="0" algn="ctr" rtl="0">
                        <a:lnSpc>
                          <a:spcPct val="100000"/>
                        </a:lnSpc>
                        <a:spcBef>
                          <a:spcPts val="0"/>
                        </a:spcBef>
                        <a:spcAft>
                          <a:spcPts val="0"/>
                        </a:spcAft>
                        <a:buClr>
                          <a:srgbClr val="000000"/>
                        </a:buClr>
                        <a:buFont typeface="Arial"/>
                        <a:buNone/>
                      </a:pPr>
                      <a:r>
                        <a:rPr>
                          <a:solidFill/>
                        </a:rPr>
                        <a:t>  Control de versiones y alojamiento remoto para el trabajo colaborativo del equipo.</a:t>
                      </a:r>
                      <a:endParaRPr lang="es-CO" sz="1500" b="0" dirty="0">
                        <a:solidFill>
                          <a:srgbClr val="33373D"/>
                        </a:solidFill>
                        <a:latin typeface="Arial"/>
                      </a:endParaRPr>
                    </a:p>
                  </a:txBody>
                  <a:tcPr marL="91450" marR="91450" marT="45725" marB="45725">
                    <a:solidFill>
                      <a:schemeClr val="bg1">
                        <a:lumMod val="95000"/>
                      </a:schemeClr>
                    </a:solidFill>
                  </a:tcPr>
                </a:tc>
                <a:extLst>
                  <a:ext uri="{0D108BD9-81ED-4DB2-BD59-A6C34878D82A}">
                    <a16:rowId xmlns:a16="http://schemas.microsoft.com/office/drawing/2014/main" val="10002"/>
                  </a:ext>
                </a:extLst>
              </a:tr>
              <a:tr h="1581806">
                <a:tc>
                  <a:txBody>
                    <a:bodyPr/>
                    <a:lstStyle/>
                    <a:p>
                      <a:pPr marL="0" marR="0" lvl="0" indent="0" algn="ctr" rtl="0">
                        <a:spcBef>
                          <a:spcPts val="0"/>
                        </a:spcBef>
                        <a:spcAft>
                          <a:spcPts val="0"/>
                        </a:spcAft>
                        <a:buNone/>
                      </a:pPr>
                      <a:r>
                        <a:rPr>
                          <a:solidFill/>
                        </a:rPr>
                        <a:t/>
                      </a:r>
                      <a:endParaRPr dirty="0"/>
                    </a:p>
                  </a:txBody>
                  <a:tcPr marL="91450" marR="91450" marT="45725" marB="45725">
                    <a:solidFill>
                      <a:schemeClr val="bg1">
                        <a:lumMod val="85000"/>
                      </a:schemeClr>
                    </a:solidFill>
                  </a:tcPr>
                </a:tc>
                <a:tc>
                  <a:txBody>
                    <a:bodyPr/>
                    <a:lstStyle/>
                    <a:p>
                      <a:pPr marL="0" marR="0" lvl="0" indent="0" algn="ctr" rtl="0">
                        <a:spcBef>
                          <a:spcPts val="0"/>
                        </a:spcBef>
                        <a:spcAft>
                          <a:spcPts val="0"/>
                        </a:spcAft>
                        <a:buNone/>
                      </a:pPr>
                      <a:r>
                        <a:rPr>
                          <a:solidFill/>
                        </a:rPr>
                        <a:t>  pytest</a:t>
                      </a:r>
                      <a:endParaRPr lang="es-CO" sz="1500" b="1" dirty="0">
                        <a:solidFill>
                          <a:srgbClr val="1F3B73"/>
                        </a:solidFill>
                        <a:latin typeface="Arial"/>
                      </a:endParaRPr>
                    </a:p>
                  </a:txBody>
                  <a:tcPr marL="91450" marR="91450" marT="45725" marB="45725">
                    <a:solidFill>
                      <a:schemeClr val="bg1">
                        <a:lumMod val="85000"/>
                      </a:schemeClr>
                    </a:solidFill>
                  </a:tcPr>
                </a:tc>
                <a:tc>
                  <a:txBody>
                    <a:bodyPr/>
                    <a:lstStyle/>
                    <a:p>
                      <a:pPr marL="0" marR="0" lvl="0" indent="0" algn="ctr" rtl="0">
                        <a:spcBef>
                          <a:spcPts val="0"/>
                        </a:spcBef>
                        <a:spcAft>
                          <a:spcPts val="0"/>
                        </a:spcAft>
                        <a:buNone/>
                      </a:pPr>
                      <a:r>
                        <a:rPr>
                          <a:solidFill/>
                        </a:rPr>
                        <a:t>  Ejecuta las 91 pruebas automatizadas del proyecto en 6,9 segundos.</a:t>
                      </a:r>
                      <a:endParaRPr lang="es-CO" sz="1500" b="0" dirty="0">
                        <a:solidFill>
                          <a:srgbClr val="33373D"/>
                        </a:solidFill>
                        <a:latin typeface="Arial"/>
                      </a:endParaRPr>
                    </a:p>
                  </a:txBody>
                  <a:tcPr marL="91450" marR="91450" marT="45725" marB="45725">
                    <a:solidFill>
                      <a:schemeClr val="bg1">
                        <a:lumMod val="85000"/>
                      </a:schemeClr>
                    </a:solidFill>
                  </a:tcPr>
                </a:tc>
                <a:extLst>
                  <a:ext uri="{0D108BD9-81ED-4DB2-BD59-A6C34878D82A}">
                    <a16:rowId xmlns:a16="http://schemas.microsoft.com/office/drawing/2014/main" val="10003"/>
                  </a:ext>
                </a:extLst>
              </a:tr>
            </a:tbl>
          </a:graphicData>
        </a:graphic>
      </p:graphicFrame>
      <p:pic>
        <p:nvPicPr>
          <p:cNvPr id="19" name="Google Shape;214;p19">
            <a:extLst>
              <a:ext uri="{FF2B5EF4-FFF2-40B4-BE49-F238E27FC236}">
                <a16:creationId xmlns:a16="http://schemas.microsoft.com/office/drawing/2014/main" id="{BB405D65-7548-5574-5245-4B8612EEC6C1}"/>
              </a:ext>
            </a:extLst>
          </p:cNvPr>
          <p:cNvPicPr preferRelativeResize="0"/>
          <p:nvPr/>
        </p:nvPicPr>
        <p:blipFill>
          <a:blip r:embed="rId5">
            <a:alphaModFix/>
          </a:blip>
          <a:stretch>
            <a:fillRect/>
          </a:stretch>
        </p:blipFill>
        <p:spPr>
          <a:xfrm>
            <a:off x="882719" y="2157464"/>
            <a:ext cx="966387" cy="966387"/>
          </a:xfrm>
          <a:prstGeom prst="rect">
            <a:avLst/>
          </a:prstGeom>
          <a:noFill/>
          <a:ln>
            <a:noFill/>
          </a:ln>
        </p:spPr>
      </p:pic>
      <p:pic>
        <p:nvPicPr>
          <p:cNvPr id="21" name="Google Shape;210;p19" descr="image.png">
            <a:extLst>
              <a:ext uri="{FF2B5EF4-FFF2-40B4-BE49-F238E27FC236}">
                <a16:creationId xmlns:a16="http://schemas.microsoft.com/office/drawing/2014/main" id="{F5A32B8F-B913-5C82-028A-AF747D09BF81}"/>
              </a:ext>
            </a:extLst>
          </p:cNvPr>
          <p:cNvPicPr preferRelativeResize="0"/>
          <p:nvPr/>
        </p:nvPicPr>
        <p:blipFill rotWithShape="1">
          <a:blip r:embed="rId7">
            <a:alphaModFix/>
          </a:blip>
          <a:srcRect/>
          <a:stretch/>
        </p:blipFill>
        <p:spPr>
          <a:xfrm>
            <a:off x="882719" y="3993864"/>
            <a:ext cx="457200" cy="457200"/>
          </a:xfrm>
          <a:prstGeom prst="rect">
            <a:avLst/>
          </a:prstGeom>
          <a:noFill/>
          <a:ln>
            <a:noFill/>
          </a:ln>
        </p:spPr>
      </p:pic>
      <p:pic>
        <p:nvPicPr>
          <p:cNvPr id="22" name="Google Shape;211;p19" descr="image.png">
            <a:extLst>
              <a:ext uri="{FF2B5EF4-FFF2-40B4-BE49-F238E27FC236}">
                <a16:creationId xmlns:a16="http://schemas.microsoft.com/office/drawing/2014/main" id="{85243684-8CB1-3508-B1BA-C5247D4660EB}"/>
              </a:ext>
            </a:extLst>
          </p:cNvPr>
          <p:cNvPicPr preferRelativeResize="0"/>
          <p:nvPr/>
        </p:nvPicPr>
        <p:blipFill rotWithShape="1">
          <a:blip r:embed="rId8">
            <a:alphaModFix/>
          </a:blip>
          <a:srcRect/>
          <a:stretch/>
        </p:blipFill>
        <p:spPr>
          <a:xfrm>
            <a:off x="1492319" y="3993864"/>
            <a:ext cx="457200" cy="457200"/>
          </a:xfrm>
          <a:prstGeom prst="rect">
            <a:avLst/>
          </a:prstGeom>
          <a:noFill/>
          <a:ln>
            <a:noFill/>
          </a:ln>
        </p:spPr>
      </p:pic>
      <p:pic>
        <p:nvPicPr>
          <p:cNvPr id="1026" name="Picture 2" descr="Pytest IntelliSense - Visual Studio Marketplace">
            <a:extLst>
              <a:ext uri="{FF2B5EF4-FFF2-40B4-BE49-F238E27FC236}">
                <a16:creationId xmlns:a16="http://schemas.microsoft.com/office/drawing/2014/main" id="{A7E67D01-D353-132A-38B7-B5E0779F3C9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1053" y="5375644"/>
            <a:ext cx="857251" cy="857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0761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3" name="Google Shape;390;p36">
            <a:extLst>
              <a:ext uri="{FF2B5EF4-FFF2-40B4-BE49-F238E27FC236}">
                <a16:creationId xmlns:a16="http://schemas.microsoft.com/office/drawing/2014/main" id="{71AE5CF3-DBC4-BAE8-C6EE-F8876AFE298A}"/>
              </a:ext>
            </a:extLst>
          </p:cNvPr>
          <p:cNvSpPr txBox="1"/>
          <p:nvPr/>
        </p:nvSpPr>
        <p:spPr>
          <a:xfrm>
            <a:off x="1914676" y="3034882"/>
            <a:ext cx="8362648" cy="78823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6000"/>
              <a:buFont typeface="Arial"/>
              <a:buNone/>
            </a:pPr>
            <a:r>
              <a:rPr lang="es-CO" sz="4800" b="1" dirty="0">
                <a:solidFill>
                  <a:schemeClr val="lt1"/>
                </a:solidFill>
                <a:latin typeface="Arial"/>
                <a:ea typeface="Arial"/>
                <a:cs typeface="Arial"/>
                <a:sym typeface="Arial"/>
              </a:rPr>
              <a:t>V. IMPLEMENTACIÓN</a:t>
            </a:r>
            <a:endParaRPr sz="4800" b="1" dirty="0">
              <a:solidFill>
                <a:schemeClr val="lt1"/>
              </a:solidFill>
              <a:latin typeface="Arial"/>
              <a:ea typeface="Arial"/>
              <a:cs typeface="Arial"/>
              <a:sym typeface="Arial"/>
            </a:endParaRPr>
          </a:p>
        </p:txBody>
      </p:sp>
      <p:pic>
        <p:nvPicPr>
          <p:cNvPr id="2" name="Google Shape;84;p13" descr="image.png">
            <a:extLst>
              <a:ext uri="{FF2B5EF4-FFF2-40B4-BE49-F238E27FC236}">
                <a16:creationId xmlns:a16="http://schemas.microsoft.com/office/drawing/2014/main" id="{9E110A48-56E6-3553-9070-E94091458B65}"/>
              </a:ext>
            </a:extLst>
          </p:cNvPr>
          <p:cNvPicPr preferRelativeResize="0"/>
          <p:nvPr/>
        </p:nvPicPr>
        <p:blipFill rotWithShape="1">
          <a:blip r:embed="rId4">
            <a:alphaModFix/>
          </a:blip>
          <a:srcRect t="99333"/>
          <a:stretch/>
        </p:blipFill>
        <p:spPr>
          <a:xfrm>
            <a:off x="0" y="6820763"/>
            <a:ext cx="12192000" cy="45719"/>
          </a:xfrm>
          <a:prstGeom prst="rect">
            <a:avLst/>
          </a:prstGeom>
          <a:noFill/>
          <a:ln>
            <a:noFill/>
          </a:ln>
        </p:spPr>
      </p:pic>
    </p:spTree>
    <p:extLst>
      <p:ext uri="{BB962C8B-B14F-4D97-AF65-F5344CB8AC3E}">
        <p14:creationId xmlns:p14="http://schemas.microsoft.com/office/powerpoint/2010/main" val="2216588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3" name="Imagen 2">
            <a:extLst>
              <a:ext uri="{FF2B5EF4-FFF2-40B4-BE49-F238E27FC236}">
                <a16:creationId xmlns:a16="http://schemas.microsoft.com/office/drawing/2014/main" id="{B6CCC5A5-4DB2-FC14-B379-DB735B3B5E46}"/>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Pruebas del Sistema</a:t>
            </a:r>
            <a:endParaRPr sz="2700" dirty="0">
              <a:solidFill>
                <a:srgbClr val="003366"/>
              </a:solidFill>
              <a:latin typeface="Plus Jakarta Sans ExtraBold"/>
              <a:cs typeface="Plus Jakarta Sans ExtraBold"/>
            </a:endParaRPr>
          </a:p>
        </p:txBody>
      </p:sp>
      <p:sp>
        <p:nvSpPr>
          <p:cNvPr id="24" name="TextBox 23"/>
          <p:cNvSpPr txBox="1"/>
          <p:nvPr/>
        </p:nvSpPr>
        <p:spPr>
          <a:xfrm>
            <a:off x="792480" y="1631683"/>
            <a:ext cx="10607040" cy="731520"/>
          </a:xfrm>
          <a:prstGeom prst="rect">
            <a:avLst/>
          </a:prstGeom>
          <a:noFill/>
        </p:spPr>
        <p:txBody>
          <a:bodyPr wrap="square">
            <a:spAutoFit/>
          </a:bodyPr>
          <a:lstStyle/>
          <a:p>
            <a:pPr algn="l"/>
            <a:r>
              <a:rPr sz="2000" b="1">
                <a:solidFill>
                  <a:srgbClr val="3369CD"/>
                </a:solidFill>
                <a:latin typeface="Arial"/>
              </a:rPr>
              <a:t>91 pruebas automatizadas en 6,9 segundos, más pruebas funcionales sobre la interfaz.</a:t>
            </a:r>
          </a:p>
        </p:txBody>
      </p:sp>
      <p:sp>
        <p:nvSpPr>
          <p:cNvPr id="25" name="TextBox 24"/>
          <p:cNvSpPr txBox="1"/>
          <p:nvPr/>
        </p:nvSpPr>
        <p:spPr>
          <a:xfrm>
            <a:off x="838200" y="2546083"/>
            <a:ext cx="4937760" cy="365760"/>
          </a:xfrm>
          <a:prstGeom prst="rect">
            <a:avLst/>
          </a:prstGeom>
          <a:noFill/>
        </p:spPr>
        <p:txBody>
          <a:bodyPr wrap="square">
            <a:spAutoFit/>
          </a:bodyPr>
          <a:lstStyle/>
          <a:p>
            <a:pPr algn="l"/>
            <a:r>
              <a:rPr sz="2000" b="1">
                <a:solidFill>
                  <a:srgbClr val="3369CD"/>
                </a:solidFill>
                <a:latin typeface="Arial"/>
              </a:rPr>
              <a:t>Qué se comprueba</a:t>
            </a:r>
          </a:p>
        </p:txBody>
      </p:sp>
      <p:sp>
        <p:nvSpPr>
          <p:cNvPr id="26" name="TextBox 25"/>
          <p:cNvSpPr txBox="1"/>
          <p:nvPr/>
        </p:nvSpPr>
        <p:spPr>
          <a:xfrm>
            <a:off x="838200" y="3094723"/>
            <a:ext cx="4937760" cy="749808"/>
          </a:xfrm>
          <a:prstGeom prst="rect">
            <a:avLst/>
          </a:prstGeom>
          <a:noFill/>
        </p:spPr>
        <p:txBody>
          <a:bodyPr wrap="square">
            <a:spAutoFit/>
          </a:bodyPr>
          <a:lstStyle/>
          <a:p>
            <a:r>
              <a:rPr sz="1600">
                <a:solidFill>
                  <a:srgbClr val="1A1A1A"/>
                </a:solidFill>
                <a:latin typeface="Arial"/>
              </a:rPr>
              <a:t>Que la separación mínima de treinta minutos se aplique en el servidor y no solo en el calendario.</a:t>
            </a:r>
          </a:p>
        </p:txBody>
      </p:sp>
      <p:sp>
        <p:nvSpPr>
          <p:cNvPr id="27" name="TextBox 26"/>
          <p:cNvSpPr txBox="1"/>
          <p:nvPr/>
        </p:nvSpPr>
        <p:spPr>
          <a:xfrm>
            <a:off x="838200" y="3844531"/>
            <a:ext cx="4937760" cy="749808"/>
          </a:xfrm>
          <a:prstGeom prst="rect">
            <a:avLst/>
          </a:prstGeom>
          <a:noFill/>
        </p:spPr>
        <p:txBody>
          <a:bodyPr wrap="square">
            <a:spAutoFit/>
          </a:bodyPr>
          <a:lstStyle/>
          <a:p>
            <a:r>
              <a:rPr sz="1600">
                <a:solidFill>
                  <a:srgbClr val="1A1A1A"/>
                </a:solidFill>
                <a:latin typeface="Arial"/>
              </a:rPr>
              <a:t>Que de dos reservas simultáneas del mismo turno quede una sola cita en firme.</a:t>
            </a:r>
          </a:p>
        </p:txBody>
      </p:sp>
      <p:sp>
        <p:nvSpPr>
          <p:cNvPr id="28" name="TextBox 27"/>
          <p:cNvSpPr txBox="1"/>
          <p:nvPr/>
        </p:nvSpPr>
        <p:spPr>
          <a:xfrm>
            <a:off x="838200" y="4594339"/>
            <a:ext cx="4937760" cy="749808"/>
          </a:xfrm>
          <a:prstGeom prst="rect">
            <a:avLst/>
          </a:prstGeom>
          <a:noFill/>
        </p:spPr>
        <p:txBody>
          <a:bodyPr wrap="square">
            <a:spAutoFit/>
          </a:bodyPr>
          <a:lstStyle/>
          <a:p>
            <a:r>
              <a:rPr sz="1600">
                <a:solidFill>
                  <a:srgbClr val="1A1A1A"/>
                </a:solidFill>
                <a:latin typeface="Arial"/>
              </a:rPr>
              <a:t>Que la autoría de un registro clínico salga de la sesión y nunca del formulario.</a:t>
            </a:r>
          </a:p>
        </p:txBody>
      </p:sp>
      <p:sp>
        <p:nvSpPr>
          <p:cNvPr id="29" name="TextBox 28"/>
          <p:cNvSpPr txBox="1"/>
          <p:nvPr/>
        </p:nvSpPr>
        <p:spPr>
          <a:xfrm>
            <a:off x="838200" y="5344147"/>
            <a:ext cx="4937760" cy="749808"/>
          </a:xfrm>
          <a:prstGeom prst="rect">
            <a:avLst/>
          </a:prstGeom>
          <a:noFill/>
        </p:spPr>
        <p:txBody>
          <a:bodyPr wrap="square">
            <a:spAutoFit/>
          </a:bodyPr>
          <a:lstStyle/>
          <a:p>
            <a:r>
              <a:rPr sz="1600">
                <a:solidFill>
                  <a:srgbClr val="1A1A1A"/>
                </a:solidFill>
                <a:latin typeface="Arial"/>
              </a:rPr>
              <a:t>Que el control de acceso impida a cada rol lo que no le corresponde.</a:t>
            </a:r>
          </a:p>
        </p:txBody>
      </p:sp>
      <p:sp>
        <p:nvSpPr>
          <p:cNvPr id="30" name="TextBox 29"/>
          <p:cNvSpPr txBox="1"/>
          <p:nvPr/>
        </p:nvSpPr>
        <p:spPr>
          <a:xfrm>
            <a:off x="6324600" y="2546083"/>
            <a:ext cx="5029200" cy="365760"/>
          </a:xfrm>
          <a:prstGeom prst="rect">
            <a:avLst/>
          </a:prstGeom>
          <a:noFill/>
        </p:spPr>
        <p:txBody>
          <a:bodyPr wrap="square">
            <a:spAutoFit/>
          </a:bodyPr>
          <a:lstStyle/>
          <a:p>
            <a:pPr algn="l"/>
            <a:r>
              <a:rPr sz="2000" b="1">
                <a:solidFill>
                  <a:srgbClr val="3369CD"/>
                </a:solidFill>
                <a:latin typeface="Arial"/>
              </a:rPr>
              <a:t>Qué quedó fuera</a:t>
            </a:r>
          </a:p>
        </p:txBody>
      </p:sp>
      <p:sp>
        <p:nvSpPr>
          <p:cNvPr id="31" name="TextBox 30"/>
          <p:cNvSpPr txBox="1"/>
          <p:nvPr/>
        </p:nvSpPr>
        <p:spPr>
          <a:xfrm>
            <a:off x="6324600" y="3094723"/>
            <a:ext cx="5029200" cy="1188720"/>
          </a:xfrm>
          <a:prstGeom prst="rect">
            <a:avLst/>
          </a:prstGeom>
          <a:noFill/>
        </p:spPr>
        <p:txBody>
          <a:bodyPr wrap="square">
            <a:spAutoFit/>
          </a:bodyPr>
          <a:lstStyle/>
          <a:p>
            <a:r>
              <a:rPr sz="1600">
                <a:solidFill>
                  <a:srgbClr val="1A1A1A"/>
                </a:solidFill>
                <a:latin typeface="Arial"/>
              </a:rPr>
              <a:t>La carga sostenida, que exige una infraestructura de producción.</a:t>
            </a:r>
          </a:p>
        </p:txBody>
      </p:sp>
      <p:sp>
        <p:nvSpPr>
          <p:cNvPr id="32" name="TextBox 31"/>
          <p:cNvSpPr txBox="1"/>
          <p:nvPr/>
        </p:nvSpPr>
        <p:spPr>
          <a:xfrm>
            <a:off x="6324600" y="4283443"/>
            <a:ext cx="5029200" cy="1188720"/>
          </a:xfrm>
          <a:prstGeom prst="rect">
            <a:avLst/>
          </a:prstGeom>
          <a:noFill/>
        </p:spPr>
        <p:txBody>
          <a:bodyPr wrap="square">
            <a:spAutoFit/>
          </a:bodyPr>
          <a:lstStyle/>
          <a:p>
            <a:r>
              <a:rPr sz="1600">
                <a:solidFill>
                  <a:srgbClr val="1A1A1A"/>
                </a:solidFill>
                <a:latin typeface="Arial"/>
              </a:rPr>
              <a:t>El cifrado en tránsito, que depende del despliegue y no del programa.</a:t>
            </a:r>
          </a:p>
        </p:txBody>
      </p:sp>
    </p:spTree>
    <p:extLst>
      <p:ext uri="{BB962C8B-B14F-4D97-AF65-F5344CB8AC3E}">
        <p14:creationId xmlns:p14="http://schemas.microsoft.com/office/powerpoint/2010/main" val="2049687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3" name="Imagen 2">
            <a:extLst>
              <a:ext uri="{FF2B5EF4-FFF2-40B4-BE49-F238E27FC236}">
                <a16:creationId xmlns:a16="http://schemas.microsoft.com/office/drawing/2014/main" id="{12C5FE9B-108E-14D0-F5FE-5D0F8BF3B5C6}"/>
              </a:ext>
            </a:extLst>
          </p:cNvPr>
          <p:cNvPicPr>
            <a:picLocks noChangeAspect="1"/>
          </p:cNvPicPr>
          <p:nvPr/>
        </p:nvPicPr>
        <p:blipFill>
          <a:blip r:embed="rId4"/>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Evidencia de Pruebas</a:t>
            </a:r>
            <a:endParaRPr sz="2700" dirty="0">
              <a:solidFill>
                <a:srgbClr val="003366"/>
              </a:solidFill>
              <a:latin typeface="Plus Jakarta Sans ExtraBold"/>
              <a:cs typeface="Plus Jakarta Sans ExtraBold"/>
            </a:endParaRPr>
          </a:p>
        </p:txBody>
      </p:sp>
      <p:sp>
        <p:nvSpPr>
          <p:cNvPr id="24" name="TextBox 23"/>
          <p:cNvSpPr txBox="1"/>
          <p:nvPr/>
        </p:nvSpPr>
        <p:spPr>
          <a:xfrm>
            <a:off x="777240" y="1234440"/>
            <a:ext cx="10607040" cy="365760"/>
          </a:xfrm>
          <a:prstGeom prst="rect">
            <a:avLst/>
          </a:prstGeom>
          <a:noFill/>
        </p:spPr>
        <p:txBody>
          <a:bodyPr wrap="square">
            <a:spAutoFit/>
          </a:bodyPr>
          <a:lstStyle/>
          <a:p>
            <a:pPr algn="l"/>
            <a:r>
              <a:rPr sz="1900" b="1">
                <a:solidFill>
                  <a:srgbClr val="3369CD"/>
                </a:solidFill>
                <a:latin typeface="Arial"/>
              </a:rPr>
              <a:t>RF 6.1. Creación del registro de historia clínica</a:t>
            </a:r>
          </a:p>
        </p:txBody>
      </p:sp>
      <p:sp>
        <p:nvSpPr>
          <p:cNvPr id="25" name="TextBox 24"/>
          <p:cNvSpPr txBox="1"/>
          <p:nvPr/>
        </p:nvSpPr>
        <p:spPr>
          <a:xfrm>
            <a:off x="822960" y="1867369"/>
            <a:ext cx="4937760" cy="274320"/>
          </a:xfrm>
          <a:prstGeom prst="rect">
            <a:avLst/>
          </a:prstGeom>
          <a:noFill/>
        </p:spPr>
        <p:txBody>
          <a:bodyPr wrap="square">
            <a:spAutoFit/>
          </a:bodyPr>
          <a:lstStyle/>
          <a:p>
            <a:pPr algn="l"/>
            <a:r>
              <a:rPr sz="1500" b="0">
                <a:solidFill>
                  <a:srgbClr val="6B7280"/>
                </a:solidFill>
                <a:latin typeface="Arial"/>
              </a:rPr>
              <a:t>Formulario diligenciado</a:t>
            </a:r>
          </a:p>
        </p:txBody>
      </p:sp>
      <p:pic>
        <p:nvPicPr>
          <p:cNvPr id="26" name="Picture 25" descr="registro de nuevo cliente.png"/>
          <p:cNvPicPr>
            <a:picLocks noChangeAspect="1"/>
          </p:cNvPicPr>
          <p:nvPr/>
        </p:nvPicPr>
        <p:blipFill>
          <a:blip r:embed="rId8"/>
          <a:stretch>
            <a:fillRect/>
          </a:stretch>
        </p:blipFill>
        <p:spPr>
          <a:xfrm>
            <a:off x="822960" y="2576787"/>
            <a:ext cx="5029200" cy="2238763"/>
          </a:xfrm>
          <a:prstGeom prst="rect">
            <a:avLst/>
          </a:prstGeom>
          <a:ln>
            <a:noFill/>
          </a:ln>
        </p:spPr>
      </p:pic>
      <p:sp>
        <p:nvSpPr>
          <p:cNvPr id="27" name="TextBox 26"/>
          <p:cNvSpPr txBox="1"/>
          <p:nvPr/>
        </p:nvSpPr>
        <p:spPr>
          <a:xfrm>
            <a:off x="6309360" y="1867369"/>
            <a:ext cx="4937760" cy="274320"/>
          </a:xfrm>
          <a:prstGeom prst="rect">
            <a:avLst/>
          </a:prstGeom>
          <a:noFill/>
        </p:spPr>
        <p:txBody>
          <a:bodyPr wrap="square">
            <a:spAutoFit/>
          </a:bodyPr>
          <a:lstStyle/>
          <a:p>
            <a:pPr algn="l"/>
            <a:r>
              <a:rPr sz="1500" b="0">
                <a:solidFill>
                  <a:srgbClr val="6B7280"/>
                </a:solidFill>
                <a:latin typeface="Arial"/>
              </a:rPr>
              <a:t>Resultado obtenido</a:t>
            </a:r>
          </a:p>
        </p:txBody>
      </p:sp>
      <p:pic>
        <p:nvPicPr>
          <p:cNvPr id="28" name="Picture 27" descr="registro de nuevo cliente emitido.png"/>
          <p:cNvPicPr>
            <a:picLocks noChangeAspect="1"/>
          </p:cNvPicPr>
          <p:nvPr/>
        </p:nvPicPr>
        <p:blipFill>
          <a:blip r:embed="rId9"/>
          <a:stretch>
            <a:fillRect/>
          </a:stretch>
        </p:blipFill>
        <p:spPr>
          <a:xfrm>
            <a:off x="6309360" y="2576788"/>
            <a:ext cx="5029200" cy="2238763"/>
          </a:xfrm>
          <a:prstGeom prst="rect">
            <a:avLst/>
          </a:prstGeom>
          <a:ln>
            <a:noFill/>
          </a:ln>
        </p:spPr>
      </p:pic>
      <p:sp>
        <p:nvSpPr>
          <p:cNvPr id="29" name="TextBox 28"/>
          <p:cNvSpPr txBox="1"/>
          <p:nvPr/>
        </p:nvSpPr>
        <p:spPr>
          <a:xfrm>
            <a:off x="777240" y="5479249"/>
            <a:ext cx="10607040" cy="640080"/>
          </a:xfrm>
          <a:prstGeom prst="rect">
            <a:avLst/>
          </a:prstGeom>
          <a:noFill/>
        </p:spPr>
        <p:txBody>
          <a:bodyPr wrap="square">
            <a:spAutoFit/>
          </a:bodyPr>
          <a:lstStyle/>
          <a:p>
            <a:pPr algn="l"/>
            <a:r>
              <a:rPr sz="1800" b="0">
                <a:solidFill>
                  <a:srgbClr val="1A1A1A"/>
                </a:solidFill>
                <a:latin typeface="Arial"/>
              </a:rPr>
              <a:t>La historia quedó registrada a nombre del médico que la escribió, y el administrador solo puede consultarla.</a:t>
            </a:r>
          </a:p>
        </p:txBody>
      </p:sp>
    </p:spTree>
    <p:extLst>
      <p:ext uri="{BB962C8B-B14F-4D97-AF65-F5344CB8AC3E}">
        <p14:creationId xmlns:p14="http://schemas.microsoft.com/office/powerpoint/2010/main" val="6497439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2C5FE9B-108E-14D0-F5FE-5D0F8BF3B5C6}"/>
              </a:ext>
            </a:extLst>
          </p:cNvPr>
          <p:cNvPicPr>
            <a:picLocks noChangeAspect="1"/>
          </p:cNvPicPr>
          <p:nvPr/>
        </p:nvPicPr>
        <p:blipFill>
          <a:blip r:embed="rId2"/>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3">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Evidencia de Pruebas</a:t>
            </a:r>
            <a:endParaRPr sz="2700" dirty="0">
              <a:solidFill>
                <a:srgbClr val="003366"/>
              </a:solidFill>
              <a:latin typeface="Plus Jakarta Sans ExtraBold"/>
              <a:cs typeface="Plus Jakarta Sans ExtraBold"/>
            </a:endParaRPr>
          </a:p>
        </p:txBody>
      </p:sp>
      <p:sp>
        <p:nvSpPr>
          <p:cNvPr id="24" name="TextBox 23"/>
          <p:cNvSpPr txBox="1"/>
          <p:nvPr/>
        </p:nvSpPr>
        <p:spPr>
          <a:xfrm>
            <a:off x="777240" y="1234440"/>
            <a:ext cx="10607040" cy="365760"/>
          </a:xfrm>
          <a:prstGeom prst="rect">
            <a:avLst/>
          </a:prstGeom>
          <a:noFill/>
        </p:spPr>
        <p:txBody>
          <a:bodyPr wrap="square">
            <a:spAutoFit/>
          </a:bodyPr>
          <a:lstStyle/>
          <a:p>
            <a:pPr algn="l"/>
            <a:r>
              <a:rPr sz="1900" b="1">
                <a:solidFill>
                  <a:srgbClr val="3369CD"/>
                </a:solidFill>
                <a:latin typeface="Arial"/>
              </a:rPr>
              <a:t>RF 5.4. Separación mínima entre citas del mismo médico</a:t>
            </a:r>
          </a:p>
        </p:txBody>
      </p:sp>
      <p:sp>
        <p:nvSpPr>
          <p:cNvPr id="25" name="TextBox 24"/>
          <p:cNvSpPr txBox="1"/>
          <p:nvPr/>
        </p:nvSpPr>
        <p:spPr>
          <a:xfrm>
            <a:off x="822960" y="1867369"/>
            <a:ext cx="4937760" cy="274320"/>
          </a:xfrm>
          <a:prstGeom prst="rect">
            <a:avLst/>
          </a:prstGeom>
          <a:noFill/>
        </p:spPr>
        <p:txBody>
          <a:bodyPr wrap="square">
            <a:spAutoFit/>
          </a:bodyPr>
          <a:lstStyle/>
          <a:p>
            <a:pPr algn="l"/>
            <a:r>
              <a:rPr sz="1500" b="0">
                <a:solidFill>
                  <a:srgbClr val="6B7280"/>
                </a:solidFill>
                <a:latin typeface="Arial"/>
              </a:rPr>
              <a:t>Formulario diligenciado</a:t>
            </a:r>
          </a:p>
        </p:txBody>
      </p:sp>
      <p:pic>
        <p:nvPicPr>
          <p:cNvPr id="26" name="Picture 25" descr="registro de nueva factura.png"/>
          <p:cNvPicPr>
            <a:picLocks noChangeAspect="1"/>
          </p:cNvPicPr>
          <p:nvPr/>
        </p:nvPicPr>
        <p:blipFill>
          <a:blip r:embed="rId6"/>
          <a:stretch>
            <a:fillRect/>
          </a:stretch>
        </p:blipFill>
        <p:spPr>
          <a:xfrm>
            <a:off x="822960" y="2576787"/>
            <a:ext cx="5029200" cy="2238763"/>
          </a:xfrm>
          <a:prstGeom prst="rect">
            <a:avLst/>
          </a:prstGeom>
          <a:ln>
            <a:noFill/>
          </a:ln>
        </p:spPr>
      </p:pic>
      <p:sp>
        <p:nvSpPr>
          <p:cNvPr id="27" name="TextBox 26"/>
          <p:cNvSpPr txBox="1"/>
          <p:nvPr/>
        </p:nvSpPr>
        <p:spPr>
          <a:xfrm>
            <a:off x="6309360" y="1867369"/>
            <a:ext cx="4937760" cy="274320"/>
          </a:xfrm>
          <a:prstGeom prst="rect">
            <a:avLst/>
          </a:prstGeom>
          <a:noFill/>
        </p:spPr>
        <p:txBody>
          <a:bodyPr wrap="square">
            <a:spAutoFit/>
          </a:bodyPr>
          <a:lstStyle/>
          <a:p>
            <a:pPr algn="l"/>
            <a:r>
              <a:rPr sz="1500" b="0">
                <a:solidFill>
                  <a:srgbClr val="6B7280"/>
                </a:solidFill>
                <a:latin typeface="Arial"/>
              </a:rPr>
              <a:t>Resultado obtenido</a:t>
            </a:r>
          </a:p>
        </p:txBody>
      </p:sp>
      <p:pic>
        <p:nvPicPr>
          <p:cNvPr id="28" name="Picture 27" descr="registro de nueva factura emitida.png"/>
          <p:cNvPicPr>
            <a:picLocks noChangeAspect="1"/>
          </p:cNvPicPr>
          <p:nvPr/>
        </p:nvPicPr>
        <p:blipFill>
          <a:blip r:embed="rId7"/>
          <a:stretch>
            <a:fillRect/>
          </a:stretch>
        </p:blipFill>
        <p:spPr>
          <a:xfrm>
            <a:off x="6507241" y="2664875"/>
            <a:ext cx="4633436" cy="2062588"/>
          </a:xfrm>
          <a:prstGeom prst="rect">
            <a:avLst/>
          </a:prstGeom>
          <a:ln>
            <a:noFill/>
          </a:ln>
        </p:spPr>
      </p:pic>
      <p:sp>
        <p:nvSpPr>
          <p:cNvPr id="29" name="TextBox 28"/>
          <p:cNvSpPr txBox="1"/>
          <p:nvPr/>
        </p:nvSpPr>
        <p:spPr>
          <a:xfrm>
            <a:off x="777240" y="5479249"/>
            <a:ext cx="10607040" cy="640080"/>
          </a:xfrm>
          <a:prstGeom prst="rect">
            <a:avLst/>
          </a:prstGeom>
          <a:noFill/>
        </p:spPr>
        <p:txBody>
          <a:bodyPr wrap="square">
            <a:spAutoFit/>
          </a:bodyPr>
          <a:lstStyle/>
          <a:p>
            <a:pPr algn="l"/>
            <a:r>
              <a:rPr sz="1800" b="0">
                <a:solidFill>
                  <a:srgbClr val="1A1A1A"/>
                </a:solidFill>
                <a:latin typeface="Arial"/>
              </a:rPr>
              <a:t>La cita a quince minutos de otra del mismo médico fue rechazada por el servidor antes de guardarse.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2C5FE9B-108E-14D0-F5FE-5D0F8BF3B5C6}"/>
              </a:ext>
            </a:extLst>
          </p:cNvPr>
          <p:cNvPicPr>
            <a:picLocks noChangeAspect="1"/>
          </p:cNvPicPr>
          <p:nvPr/>
        </p:nvPicPr>
        <p:blipFill>
          <a:blip r:embed="rId2"/>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3">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Resultado Obtenido de la Reserva</a:t>
            </a:r>
            <a:endParaRPr sz="2700" dirty="0">
              <a:solidFill>
                <a:srgbClr val="003366"/>
              </a:solidFill>
              <a:latin typeface="Plus Jakarta Sans ExtraBold"/>
              <a:cs typeface="Plus Jakarta Sans ExtraBold"/>
            </a:endParaRPr>
          </a:p>
        </p:txBody>
      </p:sp>
      <p:sp>
        <p:nvSpPr>
          <p:cNvPr id="24" name="TextBox 23"/>
          <p:cNvSpPr txBox="1"/>
          <p:nvPr/>
        </p:nvSpPr>
        <p:spPr>
          <a:xfrm>
            <a:off x="777240" y="1352879"/>
            <a:ext cx="10607040" cy="738664"/>
          </a:xfrm>
          <a:prstGeom prst="rect">
            <a:avLst/>
          </a:prstGeom>
          <a:noFill/>
        </p:spPr>
        <p:txBody>
          <a:bodyPr wrap="square">
            <a:spAutoFit/>
          </a:bodyPr>
          <a:lstStyle/>
          <a:p>
            <a:pPr algn="l"/>
            <a:r>
              <a:rPr sz="2100" b="1" dirty="0">
                <a:solidFill>
                  <a:srgbClr val="3369CD"/>
                </a:solidFill>
                <a:latin typeface="Arial"/>
              </a:rPr>
              <a:t>La prueba fue satisfactoria, la cita quedó agendada a nombre de quien la pidió.</a:t>
            </a:r>
          </a:p>
        </p:txBody>
      </p:sp>
      <p:graphicFrame>
        <p:nvGraphicFramePr>
          <p:cNvPr id="25" name="Table 24"/>
          <p:cNvGraphicFramePr>
            <a:graphicFrameLocks noGrp="1"/>
          </p:cNvGraphicFramePr>
          <p:nvPr>
            <p:extLst>
              <p:ext uri="{D42A27DB-BD31-4B8C-83A1-F6EECF244321}">
                <p14:modId xmlns:p14="http://schemas.microsoft.com/office/powerpoint/2010/main" val="3177762884"/>
              </p:ext>
            </p:extLst>
          </p:nvPr>
        </p:nvGraphicFramePr>
        <p:xfrm>
          <a:off x="822960" y="2589693"/>
          <a:ext cx="10515600" cy="292608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7680960">
                  <a:extLst>
                    <a:ext uri="{9D8B030D-6E8A-4147-A177-3AD203B41FA5}">
                      <a16:colId xmlns:a16="http://schemas.microsoft.com/office/drawing/2014/main" val="20001"/>
                    </a:ext>
                  </a:extLst>
                </a:gridCol>
              </a:tblGrid>
              <a:tr h="487680">
                <a:tc>
                  <a:txBody>
                    <a:bodyPr/>
                    <a:lstStyle/>
                    <a:p>
                      <a:pPr algn="ctr"/>
                      <a:r>
                        <a:rPr sz="1400" b="1" dirty="0">
                          <a:solidFill>
                            <a:srgbClr val="FFFFFF"/>
                          </a:solidFill>
                          <a:latin typeface="Arial"/>
                        </a:rPr>
                        <a:t>Lo que se comprobó</a:t>
                      </a:r>
                      <a:endParaRPr sz="1400" b="1" dirty="0">
                        <a:solidFill>
                          <a:srgbClr val="FFFFFF"/>
                        </a:solidFill>
                        <a:latin typeface="Arial"/>
                      </a:endParaRPr>
                    </a:p>
                  </a:txBody>
                  <a:tcPr marL="73152" marR="73152" marT="27432" marB="27432">
                    <a:solidFill>
                      <a:srgbClr val="1F3B73"/>
                    </a:solidFill>
                  </a:tcPr>
                </a:tc>
                <a:tc>
                  <a:txBody>
                    <a:bodyPr/>
                    <a:lstStyle/>
                    <a:p>
                      <a:pPr algn="ctr"/>
                      <a:r>
                        <a:rPr sz="1400" b="1" dirty="0" err="1">
                          <a:solidFill>
                            <a:srgbClr val="FFFFFF"/>
                          </a:solidFill>
                          <a:latin typeface="Arial"/>
                        </a:rPr>
                        <a:t>Resultado</a:t>
                      </a:r>
                      <a:endParaRPr sz="1400" b="1" dirty="0">
                        <a:solidFill>
                          <a:srgbClr val="FFFFFF"/>
                        </a:solidFill>
                        <a:latin typeface="Arial"/>
                      </a:endParaRPr>
                    </a:p>
                  </a:txBody>
                  <a:tcPr marL="73152" marR="73152" marT="27432" marB="27432">
                    <a:solidFill>
                      <a:srgbClr val="1F3B73"/>
                    </a:solidFill>
                  </a:tcPr>
                </a:tc>
                <a:extLst>
                  <a:ext uri="{0D108BD9-81ED-4DB2-BD59-A6C34878D82A}">
                    <a16:rowId xmlns:a16="http://schemas.microsoft.com/office/drawing/2014/main" val="10000"/>
                  </a:ext>
                </a:extLst>
              </a:tr>
              <a:tr h="487680">
                <a:tc>
                  <a:txBody>
                    <a:bodyPr/>
                    <a:lstStyle/>
                    <a:p>
                      <a:pPr algn="ctr"/>
                      <a:r>
                        <a:rPr sz="1400" b="1" dirty="0" err="1">
                          <a:solidFill>
                            <a:srgbClr val="1A1A1A"/>
                          </a:solidFill>
                          <a:latin typeface="Arial"/>
                        </a:rPr>
                        <a:t>Identidad</a:t>
                      </a:r>
                      <a:endParaRPr sz="1400" b="1" dirty="0">
                        <a:solidFill>
                          <a:srgbClr val="33373D"/>
                        </a:solidFill>
                        <a:latin typeface="Arial"/>
                      </a:endParaRPr>
                    </a:p>
                  </a:txBody>
                  <a:tcPr marL="73152" marR="73152" marT="27432" marB="27432">
                    <a:solidFill>
                      <a:srgbClr val="FFFFFF"/>
                    </a:solidFill>
                  </a:tcPr>
                </a:tc>
                <a:tc>
                  <a:txBody>
                    <a:bodyPr/>
                    <a:lstStyle/>
                    <a:p>
                      <a:pPr algn="ctr"/>
                      <a:r>
                        <a:rPr sz="1400" b="1" dirty="0">
                          <a:solidFill>
                            <a:srgbClr val="1A1A1A"/>
                          </a:solidFill>
                          <a:latin typeface="Arial"/>
                        </a:rPr>
                        <a:t>El identificador del paciente se tomó de la sesión y se ignoró el enviado en el formulario</a:t>
                      </a:r>
                      <a:endParaRPr sz="1400" b="1" dirty="0">
                        <a:solidFill>
                          <a:srgbClr val="33373D"/>
                        </a:solidFill>
                        <a:latin typeface="Arial"/>
                      </a:endParaRPr>
                    </a:p>
                  </a:txBody>
                  <a:tcPr marL="73152" marR="73152" marT="27432" marB="27432">
                    <a:solidFill>
                      <a:srgbClr val="FFFFFF"/>
                    </a:solidFill>
                  </a:tcPr>
                </a:tc>
                <a:extLst>
                  <a:ext uri="{0D108BD9-81ED-4DB2-BD59-A6C34878D82A}">
                    <a16:rowId xmlns:a16="http://schemas.microsoft.com/office/drawing/2014/main" val="10001"/>
                  </a:ext>
                </a:extLst>
              </a:tr>
              <a:tr h="487680">
                <a:tc>
                  <a:txBody>
                    <a:bodyPr/>
                    <a:lstStyle/>
                    <a:p>
                      <a:pPr algn="ctr"/>
                      <a:r>
                        <a:rPr sz="1400" b="1" dirty="0" err="1">
                          <a:solidFill>
                            <a:srgbClr val="1A1A1A"/>
                          </a:solidFill>
                          <a:latin typeface="Arial"/>
                        </a:rPr>
                        <a:t>Separación</a:t>
                      </a:r>
                      <a:endParaRPr sz="1400" b="1" dirty="0">
                        <a:solidFill>
                          <a:srgbClr val="33373D"/>
                        </a:solidFill>
                        <a:latin typeface="Arial"/>
                      </a:endParaRPr>
                    </a:p>
                  </a:txBody>
                  <a:tcPr marL="73152" marR="73152" marT="27432" marB="27432">
                    <a:solidFill>
                      <a:srgbClr val="EFF3F9"/>
                    </a:solidFill>
                  </a:tcPr>
                </a:tc>
                <a:tc>
                  <a:txBody>
                    <a:bodyPr/>
                    <a:lstStyle/>
                    <a:p>
                      <a:pPr algn="ctr"/>
                      <a:r>
                        <a:rPr sz="1400" b="1" dirty="0">
                          <a:solidFill>
                            <a:srgbClr val="1A1A1A"/>
                          </a:solidFill>
                          <a:latin typeface="Arial"/>
                        </a:rPr>
                        <a:t>El turno a menos de treinta minutos de otra cita del mismo médico fue rechazado</a:t>
                      </a:r>
                      <a:endParaRPr sz="1400" b="1" dirty="0">
                        <a:solidFill>
                          <a:srgbClr val="33373D"/>
                        </a:solidFill>
                        <a:latin typeface="Arial"/>
                      </a:endParaRPr>
                    </a:p>
                  </a:txBody>
                  <a:tcPr marL="73152" marR="73152" marT="27432" marB="27432">
                    <a:solidFill>
                      <a:srgbClr val="EFF3F9"/>
                    </a:solidFill>
                  </a:tcPr>
                </a:tc>
                <a:extLst>
                  <a:ext uri="{0D108BD9-81ED-4DB2-BD59-A6C34878D82A}">
                    <a16:rowId xmlns:a16="http://schemas.microsoft.com/office/drawing/2014/main" val="10002"/>
                  </a:ext>
                </a:extLst>
              </a:tr>
              <a:tr h="487680">
                <a:tc>
                  <a:txBody>
                    <a:bodyPr/>
                    <a:lstStyle/>
                    <a:p>
                      <a:pPr algn="ctr"/>
                      <a:r>
                        <a:rPr sz="1400" b="1" dirty="0">
                          <a:solidFill>
                            <a:srgbClr val="1A1A1A"/>
                          </a:solidFill>
                          <a:latin typeface="Arial"/>
                        </a:rPr>
                        <a:t>Límite diario</a:t>
                      </a:r>
                      <a:endParaRPr sz="1400" b="1" dirty="0">
                        <a:solidFill>
                          <a:srgbClr val="33373D"/>
                        </a:solidFill>
                        <a:latin typeface="Arial"/>
                      </a:endParaRPr>
                    </a:p>
                  </a:txBody>
                  <a:tcPr marL="73152" marR="73152" marT="27432" marB="27432">
                    <a:solidFill>
                      <a:srgbClr val="FFFFFF"/>
                    </a:solidFill>
                  </a:tcPr>
                </a:tc>
                <a:tc>
                  <a:txBody>
                    <a:bodyPr/>
                    <a:lstStyle/>
                    <a:p>
                      <a:pPr algn="ctr"/>
                      <a:r>
                        <a:rPr sz="1400" b="1" dirty="0">
                          <a:solidFill>
                            <a:srgbClr val="1A1A1A"/>
                          </a:solidFill>
                          <a:latin typeface="Arial"/>
                        </a:rPr>
                        <a:t>Un segundo intento del mismo paciente para el mismo día no prosperó</a:t>
                      </a:r>
                      <a:endParaRPr sz="1400" b="1" dirty="0">
                        <a:solidFill>
                          <a:srgbClr val="33373D"/>
                        </a:solidFill>
                        <a:latin typeface="Arial"/>
                      </a:endParaRPr>
                    </a:p>
                  </a:txBody>
                  <a:tcPr marL="73152" marR="73152" marT="27432" marB="27432">
                    <a:solidFill>
                      <a:srgbClr val="FFFFFF"/>
                    </a:solidFill>
                  </a:tcPr>
                </a:tc>
                <a:extLst>
                  <a:ext uri="{0D108BD9-81ED-4DB2-BD59-A6C34878D82A}">
                    <a16:rowId xmlns:a16="http://schemas.microsoft.com/office/drawing/2014/main" val="10003"/>
                  </a:ext>
                </a:extLst>
              </a:tr>
              <a:tr h="487680">
                <a:tc>
                  <a:txBody>
                    <a:bodyPr/>
                    <a:lstStyle/>
                    <a:p>
                      <a:pPr algn="ctr"/>
                      <a:r>
                        <a:rPr sz="1400" b="1" dirty="0" err="1">
                          <a:solidFill>
                            <a:srgbClr val="1A1A1A"/>
                          </a:solidFill>
                          <a:latin typeface="Arial"/>
                        </a:rPr>
                        <a:t>Concurrencia</a:t>
                      </a:r>
                      <a:endParaRPr sz="1400" b="1" dirty="0">
                        <a:solidFill>
                          <a:srgbClr val="33373D"/>
                        </a:solidFill>
                        <a:latin typeface="Arial"/>
                      </a:endParaRPr>
                    </a:p>
                  </a:txBody>
                  <a:tcPr marL="73152" marR="73152" marT="27432" marB="27432">
                    <a:solidFill>
                      <a:srgbClr val="EFF3F9"/>
                    </a:solidFill>
                  </a:tcPr>
                </a:tc>
                <a:tc>
                  <a:txBody>
                    <a:bodyPr/>
                    <a:lstStyle/>
                    <a:p>
                      <a:pPr algn="ctr"/>
                      <a:r>
                        <a:rPr sz="1400" b="1" dirty="0">
                          <a:solidFill>
                            <a:srgbClr val="1A1A1A"/>
                          </a:solidFill>
                          <a:latin typeface="Arial"/>
                        </a:rPr>
                        <a:t>De dos reservas simultáneas del mismo turno solo una quedó en firme</a:t>
                      </a:r>
                      <a:endParaRPr sz="1400" b="1" dirty="0">
                        <a:solidFill>
                          <a:srgbClr val="33373D"/>
                        </a:solidFill>
                        <a:latin typeface="Arial"/>
                      </a:endParaRPr>
                    </a:p>
                  </a:txBody>
                  <a:tcPr marL="73152" marR="73152" marT="27432" marB="27432">
                    <a:solidFill>
                      <a:srgbClr val="EFF3F9"/>
                    </a:solidFill>
                  </a:tcPr>
                </a:tc>
                <a:extLst>
                  <a:ext uri="{0D108BD9-81ED-4DB2-BD59-A6C34878D82A}">
                    <a16:rowId xmlns:a16="http://schemas.microsoft.com/office/drawing/2014/main" val="10004"/>
                  </a:ext>
                </a:extLst>
              </a:tr>
              <a:tr h="487680">
                <a:tc>
                  <a:txBody>
                    <a:bodyPr/>
                    <a:lstStyle/>
                    <a:p>
                      <a:pPr algn="ctr"/>
                      <a:r>
                        <a:rPr sz="1400" b="1">
                          <a:solidFill>
                            <a:srgbClr val="1A1A1A"/>
                          </a:solidFill>
                          <a:latin typeface="Arial"/>
                        </a:rPr>
                        <a:t>Estado</a:t>
                      </a:r>
                    </a:p>
                  </a:txBody>
                  <a:tcPr marL="73152" marR="73152" marT="27432" marB="27432">
                    <a:solidFill>
                      <a:srgbClr val="FFFFFF"/>
                    </a:solidFill>
                  </a:tcPr>
                </a:tc>
                <a:tc>
                  <a:txBody>
                    <a:bodyPr/>
                    <a:lstStyle/>
                    <a:p>
                      <a:pPr algn="ctr"/>
                      <a:r>
                        <a:rPr sz="1400" b="1" dirty="0">
                          <a:solidFill>
                            <a:srgbClr val="1A1A1A"/>
                          </a:solidFill>
                          <a:latin typeface="Arial"/>
                        </a:rPr>
                        <a:t>La cita quedó en estado agendada y el turno dejó de ofrecerse en el calendario</a:t>
                      </a:r>
                      <a:endParaRPr sz="1400" b="1" dirty="0">
                        <a:solidFill>
                          <a:srgbClr val="33373D"/>
                        </a:solidFill>
                        <a:latin typeface="Arial"/>
                      </a:endParaRPr>
                    </a:p>
                  </a:txBody>
                  <a:tcPr marL="73152" marR="73152" marT="27432" marB="27432">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2C5FE9B-108E-14D0-F5FE-5D0F8BF3B5C6}"/>
              </a:ext>
            </a:extLst>
          </p:cNvPr>
          <p:cNvPicPr>
            <a:picLocks noChangeAspect="1"/>
          </p:cNvPicPr>
          <p:nvPr/>
        </p:nvPicPr>
        <p:blipFill>
          <a:blip r:embed="rId2"/>
          <a:stretch>
            <a:fillRect/>
          </a:stretch>
        </p:blipFill>
        <p:spPr>
          <a:xfrm>
            <a:off x="3582389" y="1501609"/>
            <a:ext cx="5027221" cy="5027221"/>
          </a:xfrm>
          <a:prstGeom prst="rect">
            <a:avLst/>
          </a:prstGeom>
        </p:spPr>
      </p:pic>
      <p:pic>
        <p:nvPicPr>
          <p:cNvPr id="2" name="Google Shape;84;p13" descr="image.png">
            <a:extLst>
              <a:ext uri="{FF2B5EF4-FFF2-40B4-BE49-F238E27FC236}">
                <a16:creationId xmlns:a16="http://schemas.microsoft.com/office/drawing/2014/main" id="{5A6150D9-67B2-A8B1-D14C-A719F9A789B2}"/>
              </a:ext>
            </a:extLst>
          </p:cNvPr>
          <p:cNvPicPr preferRelativeResize="0"/>
          <p:nvPr/>
        </p:nvPicPr>
        <p:blipFill rotWithShape="1">
          <a:blip r:embed="rId3">
            <a:alphaModFix/>
          </a:blip>
          <a:srcRect t="99333"/>
          <a:stretch/>
        </p:blipFill>
        <p:spPr>
          <a:xfrm>
            <a:off x="0" y="6820763"/>
            <a:ext cx="12192000" cy="45719"/>
          </a:xfrm>
          <a:prstGeom prst="rect">
            <a:avLst/>
          </a:prstGeom>
          <a:noFill/>
          <a:ln>
            <a:noFill/>
          </a:ln>
        </p:spPr>
      </p:pic>
      <p:sp>
        <p:nvSpPr>
          <p:cNvPr id="22" name="Google Shape;132;p15">
            <a:extLst>
              <a:ext uri="{FF2B5EF4-FFF2-40B4-BE49-F238E27FC236}">
                <a16:creationId xmlns:a16="http://schemas.microsoft.com/office/drawing/2014/main" id="{CC02D98E-02A7-CC82-CFE6-99DD61643922}"/>
              </a:ext>
            </a:extLst>
          </p:cNvPr>
          <p:cNvSpPr/>
          <p:nvPr/>
        </p:nvSpPr>
        <p:spPr>
          <a:xfrm>
            <a:off x="571500" y="904875"/>
            <a:ext cx="76200" cy="304800"/>
          </a:xfrm>
          <a:prstGeom prst="roundRect">
            <a:avLst>
              <a:gd name="adj" fmla="val 50000"/>
            </a:avLst>
          </a:prstGeom>
          <a:solidFill>
            <a:srgbClr val="F5B01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31;p15">
            <a:extLst>
              <a:ext uri="{FF2B5EF4-FFF2-40B4-BE49-F238E27FC236}">
                <a16:creationId xmlns:a16="http://schemas.microsoft.com/office/drawing/2014/main" id="{32517378-B997-B034-EBF5-2DA5C5C61B6A}"/>
              </a:ext>
            </a:extLst>
          </p:cNvPr>
          <p:cNvSpPr txBox="1"/>
          <p:nvPr/>
        </p:nvSpPr>
        <p:spPr>
          <a:xfrm>
            <a:off x="571500" y="489377"/>
            <a:ext cx="10424160" cy="4154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O" sz="2700" dirty="0">
                <a:solidFill>
                  <a:srgbClr val="1A1A1A"/>
                </a:solidFill>
                <a:latin typeface="Plus Jakarta Sans ExtraBold"/>
                <a:cs typeface="Plus Jakarta Sans ExtraBold"/>
              </a:rPr>
              <a:t>Resultados Obtenidos</a:t>
            </a:r>
            <a:endParaRPr sz="2700" dirty="0">
              <a:solidFill>
                <a:srgbClr val="003366"/>
              </a:solidFill>
              <a:latin typeface="Plus Jakarta Sans ExtraBold"/>
              <a:cs typeface="Plus Jakarta Sans ExtraBold"/>
            </a:endParaRPr>
          </a:p>
        </p:txBody>
      </p:sp>
      <p:graphicFrame>
        <p:nvGraphicFramePr>
          <p:cNvPr id="24" name="Table 23"/>
          <p:cNvGraphicFramePr>
            <a:graphicFrameLocks noGrp="1"/>
          </p:cNvGraphicFramePr>
          <p:nvPr>
            <p:extLst>
              <p:ext uri="{D42A27DB-BD31-4B8C-83A1-F6EECF244321}">
                <p14:modId xmlns:p14="http://schemas.microsoft.com/office/powerpoint/2010/main" val="3430680681"/>
              </p:ext>
            </p:extLst>
          </p:nvPr>
        </p:nvGraphicFramePr>
        <p:xfrm>
          <a:off x="678179" y="1831275"/>
          <a:ext cx="10835640" cy="40233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574765">
                <a:tc>
                  <a:txBody>
                    <a:bodyPr/>
                    <a:lstStyle/>
                    <a:p>
                      <a:pPr algn="ctr"/>
                      <a:r>
                        <a:rPr sz="1300" b="1" dirty="0" err="1">
                          <a:solidFill>
                            <a:srgbClr val="FFFFFF"/>
                          </a:solidFill>
                          <a:latin typeface="Arial"/>
                        </a:rPr>
                        <a:t>Objetivo</a:t>
                      </a:r>
                      <a:endParaRPr sz="1300" b="1" dirty="0">
                        <a:solidFill>
                          <a:srgbClr val="FFFFFF"/>
                        </a:solidFill>
                        <a:latin typeface="Arial"/>
                      </a:endParaRPr>
                    </a:p>
                  </a:txBody>
                  <a:tcPr marL="73152" marR="73152" marT="27432" marB="27432">
                    <a:solidFill>
                      <a:srgbClr val="1F3B73"/>
                    </a:solidFill>
                  </a:tcPr>
                </a:tc>
                <a:tc>
                  <a:txBody>
                    <a:bodyPr/>
                    <a:lstStyle/>
                    <a:p>
                      <a:pPr algn="ctr"/>
                      <a:r>
                        <a:rPr sz="1300" b="1" dirty="0" err="1">
                          <a:solidFill>
                            <a:srgbClr val="FFFFFF"/>
                          </a:solidFill>
                          <a:latin typeface="Arial"/>
                        </a:rPr>
                        <a:t>Resultado</a:t>
                      </a:r>
                      <a:endParaRPr sz="1300" b="1" dirty="0">
                        <a:solidFill>
                          <a:srgbClr val="FFFFFF"/>
                        </a:solidFill>
                        <a:latin typeface="Arial"/>
                      </a:endParaRPr>
                    </a:p>
                  </a:txBody>
                  <a:tcPr marL="73152" marR="73152" marT="27432" marB="27432">
                    <a:solidFill>
                      <a:srgbClr val="1F3B73"/>
                    </a:solidFill>
                  </a:tcPr>
                </a:tc>
                <a:tc>
                  <a:txBody>
                    <a:bodyPr/>
                    <a:lstStyle/>
                    <a:p>
                      <a:pPr algn="ctr"/>
                      <a:r>
                        <a:rPr sz="1300" b="1">
                          <a:solidFill>
                            <a:srgbClr val="FFFFFF"/>
                          </a:solidFill>
                          <a:latin typeface="Arial"/>
                        </a:rPr>
                        <a:t>Estado</a:t>
                      </a:r>
                    </a:p>
                  </a:txBody>
                  <a:tcPr marL="73152" marR="73152" marT="27432" marB="27432">
                    <a:solidFill>
                      <a:srgbClr val="1F3B73"/>
                    </a:solidFill>
                  </a:tcPr>
                </a:tc>
                <a:extLst>
                  <a:ext uri="{0D108BD9-81ED-4DB2-BD59-A6C34878D82A}">
                    <a16:rowId xmlns:a16="http://schemas.microsoft.com/office/drawing/2014/main" val="10000"/>
                  </a:ext>
                </a:extLst>
              </a:tr>
              <a:tr h="574765">
                <a:tc>
                  <a:txBody>
                    <a:bodyPr/>
                    <a:lstStyle/>
                    <a:p>
                      <a:pPr algn="ctr"/>
                      <a:r>
                        <a:rPr sz="1300" b="1">
                          <a:solidFill>
                            <a:srgbClr val="1A1A1A"/>
                          </a:solidFill>
                          <a:latin typeface="Arial"/>
                        </a:rPr>
                        <a:t>Programación de la atención médica</a:t>
                      </a:r>
                    </a:p>
                  </a:txBody>
                  <a:tcPr marL="73152" marR="73152" marT="27432" marB="27432">
                    <a:solidFill>
                      <a:srgbClr val="FFFFFF"/>
                    </a:solidFill>
                  </a:tcPr>
                </a:tc>
                <a:tc>
                  <a:txBody>
                    <a:bodyPr/>
                    <a:lstStyle/>
                    <a:p>
                      <a:pPr algn="ctr"/>
                      <a:r>
                        <a:rPr sz="1300" b="1" dirty="0">
                          <a:solidFill>
                            <a:srgbClr val="1A1A1A"/>
                          </a:solidFill>
                          <a:latin typeface="Arial"/>
                        </a:rPr>
                        <a:t>Calendario de disponibilidad con turnos de treinta minutos desde el que agendan tanto el administrador como el propio paciente, con la reserva en firme al momento.</a:t>
                      </a:r>
                    </a:p>
                  </a:txBody>
                  <a:tcPr marL="73152" marR="73152" marT="27432" marB="27432">
                    <a:solidFill>
                      <a:srgbClr val="FFFFFF"/>
                    </a:solidFill>
                  </a:tcPr>
                </a:tc>
                <a:tc>
                  <a:txBody>
                    <a:bodyPr/>
                    <a:lstStyle/>
                    <a:p>
                      <a:pPr algn="ctr"/>
                      <a:r>
                        <a:rPr sz="1300" b="1">
                          <a:solidFill>
                            <a:srgbClr val="1A1A1A"/>
                          </a:solidFill>
                          <a:latin typeface="Arial"/>
                        </a:rPr>
                        <a:t>Cumplido</a:t>
                      </a:r>
                    </a:p>
                  </a:txBody>
                  <a:tcPr marL="73152" marR="73152" marT="27432" marB="27432">
                    <a:solidFill>
                      <a:srgbClr val="FFFFFF"/>
                    </a:solidFill>
                  </a:tcPr>
                </a:tc>
                <a:extLst>
                  <a:ext uri="{0D108BD9-81ED-4DB2-BD59-A6C34878D82A}">
                    <a16:rowId xmlns:a16="http://schemas.microsoft.com/office/drawing/2014/main" val="10001"/>
                  </a:ext>
                </a:extLst>
              </a:tr>
              <a:tr h="574765">
                <a:tc>
                  <a:txBody>
                    <a:bodyPr/>
                    <a:lstStyle/>
                    <a:p>
                      <a:pPr algn="ctr"/>
                      <a:r>
                        <a:rPr sz="1300" b="1">
                          <a:solidFill>
                            <a:srgbClr val="1A1A1A"/>
                          </a:solidFill>
                          <a:latin typeface="Arial"/>
                        </a:rPr>
                        <a:t>Acto clínico exclusivo del médico</a:t>
                      </a:r>
                    </a:p>
                  </a:txBody>
                  <a:tcPr marL="73152" marR="73152" marT="27432" marB="27432">
                    <a:solidFill>
                      <a:srgbClr val="EFF3F9"/>
                    </a:solidFill>
                  </a:tcPr>
                </a:tc>
                <a:tc>
                  <a:txBody>
                    <a:bodyPr/>
                    <a:lstStyle/>
                    <a:p>
                      <a:pPr algn="ctr"/>
                      <a:r>
                        <a:rPr sz="1300" b="1" dirty="0" err="1">
                          <a:solidFill>
                            <a:srgbClr val="1A1A1A"/>
                          </a:solidFill>
                          <a:latin typeface="Arial"/>
                        </a:rPr>
                        <a:t>Historia clínica, diagnóstico y prescripción creados únicamente por el médico tratante, con la autoría tomada de la sesión y no del formulario.</a:t>
                      </a:r>
                    </a:p>
                  </a:txBody>
                  <a:tcPr marL="73152" marR="73152" marT="27432" marB="27432">
                    <a:solidFill>
                      <a:srgbClr val="EFF3F9"/>
                    </a:solidFill>
                  </a:tcPr>
                </a:tc>
                <a:tc>
                  <a:txBody>
                    <a:bodyPr/>
                    <a:lstStyle/>
                    <a:p>
                      <a:pPr algn="ctr"/>
                      <a:r>
                        <a:rPr sz="1300" b="1">
                          <a:solidFill>
                            <a:srgbClr val="1A1A1A"/>
                          </a:solidFill>
                          <a:latin typeface="Arial"/>
                        </a:rPr>
                        <a:t>Cumplido</a:t>
                      </a:r>
                    </a:p>
                  </a:txBody>
                  <a:tcPr marL="73152" marR="73152" marT="27432" marB="27432">
                    <a:solidFill>
                      <a:srgbClr val="EFF3F9"/>
                    </a:solidFill>
                  </a:tcPr>
                </a:tc>
                <a:extLst>
                  <a:ext uri="{0D108BD9-81ED-4DB2-BD59-A6C34878D82A}">
                    <a16:rowId xmlns:a16="http://schemas.microsoft.com/office/drawing/2014/main" val="10002"/>
                  </a:ext>
                </a:extLst>
              </a:tr>
              <a:tr h="574765">
                <a:tc>
                  <a:txBody>
                    <a:bodyPr/>
                    <a:lstStyle/>
                    <a:p>
                      <a:pPr algn="ctr"/>
                      <a:r>
                        <a:rPr sz="1300" b="1">
                          <a:solidFill>
                            <a:srgbClr val="1A1A1A"/>
                          </a:solidFill>
                          <a:latin typeface="Arial"/>
                        </a:rPr>
                        <a:t>Confidencialidad por control de acceso</a:t>
                      </a:r>
                    </a:p>
                  </a:txBody>
                  <a:tcPr marL="73152" marR="73152" marT="27432" marB="27432">
                    <a:solidFill>
                      <a:srgbClr val="FFFFFF"/>
                    </a:solidFill>
                  </a:tcPr>
                </a:tc>
                <a:tc>
                  <a:txBody>
                    <a:bodyPr/>
                    <a:lstStyle/>
                    <a:p>
                      <a:pPr algn="ctr"/>
                      <a:r>
                        <a:rPr sz="1300" b="1" dirty="0" err="1">
                          <a:solidFill>
                            <a:srgbClr val="1A1A1A"/>
                          </a:solidFill>
                          <a:latin typeface="Arial"/>
                        </a:rPr>
                        <a:t>Tres roles comprobados en el servidor por ruta y por propiedad del registro, con las contraseñas derivadas mediante scrypt.</a:t>
                      </a:r>
                    </a:p>
                  </a:txBody>
                  <a:tcPr marL="73152" marR="73152" marT="27432" marB="27432">
                    <a:solidFill>
                      <a:srgbClr val="FFFFFF"/>
                    </a:solidFill>
                  </a:tcPr>
                </a:tc>
                <a:tc>
                  <a:txBody>
                    <a:bodyPr/>
                    <a:lstStyle/>
                    <a:p>
                      <a:pPr algn="ctr"/>
                      <a:r>
                        <a:rPr sz="1300" b="1">
                          <a:solidFill>
                            <a:srgbClr val="1A1A1A"/>
                          </a:solidFill>
                          <a:latin typeface="Arial"/>
                        </a:rPr>
                        <a:t>Cumplido</a:t>
                      </a:r>
                    </a:p>
                  </a:txBody>
                  <a:tcPr marL="73152" marR="73152" marT="27432" marB="27432">
                    <a:solidFill>
                      <a:srgbClr val="FFFFFF"/>
                    </a:solidFill>
                  </a:tcPr>
                </a:tc>
                <a:extLst>
                  <a:ext uri="{0D108BD9-81ED-4DB2-BD59-A6C34878D82A}">
                    <a16:rowId xmlns:a16="http://schemas.microsoft.com/office/drawing/2014/main" val="10003"/>
                  </a:ext>
                </a:extLst>
              </a:tr>
              <a:tr h="574765">
                <a:tc>
                  <a:txBody>
                    <a:bodyPr/>
                    <a:lstStyle/>
                    <a:p>
                      <a:pPr algn="ctr"/>
                      <a:r>
                        <a:rPr sz="1300" b="1">
                          <a:solidFill>
                            <a:srgbClr val="1A1A1A"/>
                          </a:solidFill>
                          <a:latin typeface="Arial"/>
                        </a:rPr>
                        <a:t>Reglas de negocio de la agenda</a:t>
                      </a:r>
                    </a:p>
                  </a:txBody>
                  <a:tcPr marL="73152" marR="73152" marT="27432" marB="27432">
                    <a:solidFill>
                      <a:srgbClr val="EFF3F9"/>
                    </a:solidFill>
                  </a:tcPr>
                </a:tc>
                <a:tc>
                  <a:txBody>
                    <a:bodyPr/>
                    <a:lstStyle/>
                    <a:p>
                      <a:pPr algn="ctr"/>
                      <a:r>
                        <a:rPr sz="1300" b="1" dirty="0" err="1">
                          <a:solidFill>
                            <a:srgbClr val="1A1A1A"/>
                          </a:solidFill>
                          <a:latin typeface="Arial"/>
                        </a:rPr>
                        <a:t>Separación mínima de treinta minutos y máximo de una cita por paciente al día, resueltas en el servidor dentro de la misma operación que escribe.</a:t>
                      </a:r>
                    </a:p>
                  </a:txBody>
                  <a:tcPr marL="73152" marR="73152" marT="27432" marB="27432">
                    <a:solidFill>
                      <a:srgbClr val="EFF3F9"/>
                    </a:solidFill>
                  </a:tcPr>
                </a:tc>
                <a:tc>
                  <a:txBody>
                    <a:bodyPr/>
                    <a:lstStyle/>
                    <a:p>
                      <a:pPr algn="ctr"/>
                      <a:r>
                        <a:rPr sz="1300" b="1">
                          <a:solidFill>
                            <a:srgbClr val="1A1A1A"/>
                          </a:solidFill>
                          <a:latin typeface="Arial"/>
                        </a:rPr>
                        <a:t>Cumplido</a:t>
                      </a:r>
                    </a:p>
                  </a:txBody>
                  <a:tcPr marL="73152" marR="73152" marT="27432" marB="27432">
                    <a:solidFill>
                      <a:srgbClr val="EFF3F9"/>
                    </a:solidFill>
                  </a:tcPr>
                </a:tc>
                <a:extLst>
                  <a:ext uri="{0D108BD9-81ED-4DB2-BD59-A6C34878D82A}">
                    <a16:rowId xmlns:a16="http://schemas.microsoft.com/office/drawing/2014/main" val="10004"/>
                  </a:ext>
                </a:extLst>
              </a:tr>
              <a:tr h="574765">
                <a:tc>
                  <a:txBody>
                    <a:bodyPr/>
                    <a:lstStyle/>
                    <a:p>
                      <a:pPr algn="ctr"/>
                      <a:r>
                        <a:rPr sz="1300" b="1">
                          <a:solidFill>
                            <a:srgbClr val="1A1A1A"/>
                          </a:solidFill>
                          <a:latin typeface="Arial"/>
                        </a:rPr>
                        <a:t>Verificación automatizada</a:t>
                      </a:r>
                    </a:p>
                  </a:txBody>
                  <a:tcPr marL="73152" marR="73152" marT="27432" marB="27432">
                    <a:solidFill>
                      <a:srgbClr val="FFFFFF"/>
                    </a:solidFill>
                  </a:tcPr>
                </a:tc>
                <a:tc>
                  <a:txBody>
                    <a:bodyPr/>
                    <a:lstStyle/>
                    <a:p>
                      <a:pPr algn="ctr"/>
                      <a:r>
                        <a:rPr sz="1300" b="1" dirty="0" err="1">
                          <a:solidFill>
                            <a:srgbClr val="1A1A1A"/>
                          </a:solidFill>
                          <a:latin typeface="Arial"/>
                        </a:rPr>
                        <a:t>91 pruebas sobre autenticación, permisos, agenda, concurrencia y datos, todas pasando en 6,9 segundos.</a:t>
                      </a:r>
                    </a:p>
                  </a:txBody>
                  <a:tcPr marL="73152" marR="73152" marT="27432" marB="27432">
                    <a:solidFill>
                      <a:srgbClr val="FFFFFF"/>
                    </a:solidFill>
                  </a:tcPr>
                </a:tc>
                <a:tc>
                  <a:txBody>
                    <a:bodyPr/>
                    <a:lstStyle/>
                    <a:p>
                      <a:pPr algn="ctr"/>
                      <a:r>
                        <a:rPr sz="1300" b="1" dirty="0" err="1">
                          <a:solidFill>
                            <a:srgbClr val="1A1A1A"/>
                          </a:solidFill>
                          <a:latin typeface="Arial"/>
                        </a:rPr>
                        <a:t>Cumplido</a:t>
                      </a:r>
                      <a:endParaRPr sz="1300" b="1" dirty="0">
                        <a:solidFill>
                          <a:srgbClr val="33373D"/>
                        </a:solidFill>
                        <a:latin typeface="Arial"/>
                      </a:endParaRPr>
                    </a:p>
                  </a:txBody>
                  <a:tcPr marL="73152" marR="73152" marT="27432" marB="27432">
                    <a:solidFill>
                      <a:srgbClr val="FFFFFF"/>
                    </a:solidFill>
                  </a:tcPr>
                </a:tc>
                <a:extLst>
                  <a:ext uri="{0D108BD9-81ED-4DB2-BD59-A6C34878D82A}">
                    <a16:rowId xmlns:a16="http://schemas.microsoft.com/office/drawing/2014/main" val="10005"/>
                  </a:ext>
                </a:extLst>
              </a:tr>
              <a:tr h="574770">
                <a:tc>
                  <a:txBody>
                    <a:bodyPr/>
                    <a:lstStyle/>
                    <a:p>
                      <a:pPr algn="ctr"/>
                      <a:r>
                        <a:rPr sz="1300" b="1">
                          <a:solidFill>
                            <a:srgbClr val="1A1A1A"/>
                          </a:solidFill>
                          <a:latin typeface="Arial"/>
                        </a:rPr>
                        <a:t>Cifrado de la información en reposo</a:t>
                      </a:r>
                    </a:p>
                  </a:txBody>
                  <a:tcPr marL="73152" marR="73152" marT="27432" marB="27432">
                    <a:solidFill>
                      <a:srgbClr val="EFF3F9"/>
                    </a:solidFill>
                  </a:tcPr>
                </a:tc>
                <a:tc>
                  <a:txBody>
                    <a:bodyPr/>
                    <a:lstStyle/>
                    <a:p>
                      <a:pPr algn="ctr"/>
                      <a:r>
                        <a:rPr sz="1300" b="1" dirty="0">
                          <a:solidFill>
                            <a:srgbClr val="1A1A1A"/>
                          </a:solidFill>
                          <a:latin typeface="Arial"/>
                        </a:rPr>
                        <a:t>Depende de la infraestructura de despliegue, razón por la cual el tercer objetivo se acotó de forma expresa al control de acceso por roles.</a:t>
                      </a:r>
                    </a:p>
                  </a:txBody>
                  <a:tcPr marL="73152" marR="73152" marT="27432" marB="27432">
                    <a:solidFill>
                      <a:srgbClr val="EFF3F9"/>
                    </a:solidFill>
                  </a:tcPr>
                </a:tc>
                <a:tc>
                  <a:txBody>
                    <a:bodyPr/>
                    <a:lstStyle/>
                    <a:p>
                      <a:pPr algn="ctr"/>
                      <a:r>
                        <a:rPr sz="1300" b="1" dirty="0" err="1">
                          <a:solidFill>
                            <a:srgbClr val="1A1A1A"/>
                          </a:solidFill>
                          <a:latin typeface="Arial"/>
                        </a:rPr>
                        <a:t>Fuera de alcance</a:t>
                      </a:r>
                      <a:endParaRPr sz="1300" b="1" dirty="0">
                        <a:solidFill>
                          <a:srgbClr val="33373D"/>
                        </a:solidFill>
                        <a:latin typeface="Arial"/>
                      </a:endParaRPr>
                    </a:p>
                  </a:txBody>
                  <a:tcPr marL="73152" marR="73152" marT="27432" marB="27432">
                    <a:solidFill>
                      <a:srgbClr val="EFF3F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4"/>
        <p:cNvGrpSpPr/>
        <p:nvPr/>
      </p:nvGrpSpPr>
      <p:grpSpPr>
        <a:xfrm>
          <a:off x="0" y="0"/>
          <a:ext cx="0" cy="0"/>
          <a:chOff x="0" y="0"/>
          <a:chExt cx="0" cy="0"/>
        </a:xfrm>
      </p:grpSpPr>
      <p:sp>
        <p:nvSpPr>
          <p:cNvPr id="20" name="AutoShape 4" descr="Correo y sitio web en línea">
            <a:extLst>
              <a:ext uri="{FF2B5EF4-FFF2-40B4-BE49-F238E27FC236}">
                <a16:creationId xmlns:a16="http://schemas.microsoft.com/office/drawing/2014/main" id="{EAD54A52-3378-3CC3-29EF-E9E8EE665DE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 name="Google Shape;84;p13" descr="image.png">
            <a:extLst>
              <a:ext uri="{FF2B5EF4-FFF2-40B4-BE49-F238E27FC236}">
                <a16:creationId xmlns:a16="http://schemas.microsoft.com/office/drawing/2014/main" id="{FBE692BC-B46C-755F-B649-B15BA25BC357}"/>
              </a:ext>
            </a:extLst>
          </p:cNvPr>
          <p:cNvPicPr preferRelativeResize="0"/>
          <p:nvPr/>
        </p:nvPicPr>
        <p:blipFill rotWithShape="1">
          <a:blip r:embed="rId5">
            <a:alphaModFix/>
          </a:blip>
          <a:srcRect t="99333"/>
          <a:stretch/>
        </p:blipFill>
        <p:spPr>
          <a:xfrm>
            <a:off x="0" y="6820763"/>
            <a:ext cx="12192000" cy="45719"/>
          </a:xfrm>
          <a:prstGeom prst="rect">
            <a:avLst/>
          </a:prstGeom>
          <a:noFill/>
          <a:ln>
            <a:noFill/>
          </a:ln>
        </p:spPr>
      </p:pic>
    </p:spTree>
  </p:cSld>
  <p:clrMapOvr>
    <a:masterClrMapping/>
  </p:clrMapOvr>
</p:sld>
</file>

<file path=ppt/theme/theme1.xml><?xml version="1.0" encoding="utf-8"?>
<a:theme xmlns:a="http://schemas.openxmlformats.org/drawingml/2006/main" name="Office 2013 - Tema de 2022">
  <a:themeElements>
    <a:clrScheme name="Personalizado 1">
      <a:dk1>
        <a:srgbClr val="39A900"/>
      </a:dk1>
      <a:lt1>
        <a:srgbClr val="FFFFFF"/>
      </a:lt1>
      <a:dk2>
        <a:srgbClr val="00304D"/>
      </a:dk2>
      <a:lt2>
        <a:srgbClr val="F6F6F6"/>
      </a:lt2>
      <a:accent1>
        <a:srgbClr val="007832"/>
      </a:accent1>
      <a:accent2>
        <a:srgbClr val="71127A"/>
      </a:accent2>
      <a:accent3>
        <a:srgbClr val="50E5F9"/>
      </a:accent3>
      <a:accent4>
        <a:srgbClr val="FDC300"/>
      </a:accent4>
      <a:accent5>
        <a:srgbClr val="000000"/>
      </a:accent5>
      <a:accent6>
        <a:srgbClr val="70AD47"/>
      </a:accent6>
      <a:hlink>
        <a:srgbClr val="0563C1"/>
      </a:hlink>
      <a:folHlink>
        <a:srgbClr val="71127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3411</TotalTime>
  <Words>2301</Words>
  <Application>Microsoft Office PowerPoint</Application>
  <PresentationFormat>Widescreen</PresentationFormat>
  <Paragraphs>379</Paragraphs>
  <Slides>38</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Plus Jakarta Sans</vt:lpstr>
      <vt:lpstr>Arial</vt:lpstr>
      <vt:lpstr>Inter</vt:lpstr>
      <vt:lpstr>Calibri</vt:lpstr>
      <vt:lpstr>Plus Jakarta Sans ExtraBold</vt:lpstr>
      <vt:lpstr>Office 2013 - Tema de 2022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Jorge Enrique Pedraza Sanchez</dc:creator>
  <cp:lastModifiedBy>Brandon Restrepo</cp:lastModifiedBy>
  <cp:revision>59</cp:revision>
  <dcterms:created xsi:type="dcterms:W3CDTF">2020-10-01T23:51:28Z</dcterms:created>
  <dcterms:modified xsi:type="dcterms:W3CDTF">2026-09-03T14:44:12Z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c111285-cafa-4fc9-8a9a-bd902089b24f_Enabled">
    <vt:lpwstr>true</vt:lpwstr>
  </property>
  <property fmtid="{D5CDD505-2E9C-101B-9397-08002B2CF9AE}" pid="3" name="MSIP_Label_fc111285-cafa-4fc9-8a9a-bd902089b24f_SetDate">
    <vt:lpwstr>2025-07-11T16:31:34Z</vt:lpwstr>
  </property>
  <property fmtid="{D5CDD505-2E9C-101B-9397-08002B2CF9AE}" pid="4" name="MSIP_Label_fc111285-cafa-4fc9-8a9a-bd902089b24f_Method">
    <vt:lpwstr>Privileged</vt:lpwstr>
  </property>
  <property fmtid="{D5CDD505-2E9C-101B-9397-08002B2CF9AE}" pid="5" name="MSIP_Label_fc111285-cafa-4fc9-8a9a-bd902089b24f_Name">
    <vt:lpwstr>Public</vt:lpwstr>
  </property>
  <property fmtid="{D5CDD505-2E9C-101B-9397-08002B2CF9AE}" pid="6" name="MSIP_Label_fc111285-cafa-4fc9-8a9a-bd902089b24f_SiteId">
    <vt:lpwstr>cbc2c381-2f2e-4d93-91d1-506c9316ace7</vt:lpwstr>
  </property>
  <property fmtid="{D5CDD505-2E9C-101B-9397-08002B2CF9AE}" pid="7" name="MSIP_Label_fc111285-cafa-4fc9-8a9a-bd902089b24f_ActionId">
    <vt:lpwstr>c6329c04-9ceb-4fca-88c8-0029777b3481</vt:lpwstr>
  </property>
  <property fmtid="{D5CDD505-2E9C-101B-9397-08002B2CF9AE}" pid="8" name="MSIP_Label_fc111285-cafa-4fc9-8a9a-bd902089b24f_ContentBits">
    <vt:lpwstr>0</vt:lpwstr>
  </property>
  <property fmtid="{D5CDD505-2E9C-101B-9397-08002B2CF9AE}" pid="9" name="MSIP_Label_fc111285-cafa-4fc9-8a9a-bd902089b24f_Tag">
    <vt:lpwstr>10, 0, 1, 1</vt:lpwstr>
  </property>
  <property fmtid="{D5CDD505-2E9C-101B-9397-08002B2CF9AE}" pid="10" name="ContentTypeId">
    <vt:lpwstr>0x010100BAA091B23A43D34AA14462823DC894E8</vt:lpwstr>
  </property>
  <property fmtid="{D5CDD505-2E9C-101B-9397-08002B2CF9AE}" pid="11" name="MediaServiceImageTags">
    <vt:lpwstr/>
  </property>
  <property fmtid="{D5CDD505-2E9C-101B-9397-08002B2CF9AE}" pid="12" name="Order">
    <vt:r8>194900</vt:r8>
  </property>
  <property fmtid="{D5CDD505-2E9C-101B-9397-08002B2CF9AE}" pid="13" name="xd_Signature">
    <vt:bool>false</vt:bool>
  </property>
  <property fmtid="{D5CDD505-2E9C-101B-9397-08002B2CF9AE}" pid="14" name="xd_ProgID">
    <vt:lpwstr/>
  </property>
  <property fmtid="{D5CDD505-2E9C-101B-9397-08002B2CF9AE}" pid="15" name="_SourceUrl">
    <vt:lpwstr/>
  </property>
  <property fmtid="{D5CDD505-2E9C-101B-9397-08002B2CF9AE}" pid="16" name="_SharedFileIndex">
    <vt:lpwstr/>
  </property>
  <property fmtid="{D5CDD505-2E9C-101B-9397-08002B2CF9AE}" pid="17" name="ComplianceAssetId">
    <vt:lpwstr/>
  </property>
  <property fmtid="{D5CDD505-2E9C-101B-9397-08002B2CF9AE}" pid="18" name="TemplateUrl">
    <vt:lpwstr/>
  </property>
  <property fmtid="{D5CDD505-2E9C-101B-9397-08002B2CF9AE}" pid="19" name="_ExtendedDescription">
    <vt:lpwstr/>
  </property>
  <property fmtid="{D5CDD505-2E9C-101B-9397-08002B2CF9AE}" pid="20" name="TriggerFlowInfo">
    <vt:lpwstr/>
  </property>
</Properties>
</file>