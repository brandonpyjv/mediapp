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0"/>
  </p:notesMasterIdLst>
  <p:sldIdLst>
    <p:sldId id="293" r:id="rId2"/>
    <p:sldId id="269" r:id="rId3"/>
    <p:sldId id="259" r:id="rId4"/>
    <p:sldId id="298" r:id="rId5"/>
    <p:sldId id="299" r:id="rId6"/>
    <p:sldId id="289" r:id="rId7"/>
    <p:sldId id="312" r:id="rId8"/>
    <p:sldId id="313" r:id="rId9"/>
    <p:sldId id="314" r:id="rId10"/>
    <p:sldId id="315" r:id="rId11"/>
    <p:sldId id="294" r:id="rId12"/>
    <p:sldId id="316" r:id="rId13"/>
    <p:sldId id="317" r:id="rId14"/>
    <p:sldId id="318" r:id="rId15"/>
    <p:sldId id="322" r:id="rId16"/>
    <p:sldId id="323" r:id="rId17"/>
    <p:sldId id="324" r:id="rId18"/>
    <p:sldId id="325" r:id="rId19"/>
    <p:sldId id="326" r:id="rId20"/>
    <p:sldId id="295" r:id="rId21"/>
    <p:sldId id="306" r:id="rId22"/>
    <p:sldId id="307" r:id="rId23"/>
    <p:sldId id="331" r:id="rId24"/>
    <p:sldId id="337" r:id="rId25"/>
    <p:sldId id="332" r:id="rId26"/>
    <p:sldId id="327" r:id="rId27"/>
    <p:sldId id="328" r:id="rId28"/>
    <p:sldId id="300" r:id="rId29"/>
    <p:sldId id="296" r:id="rId30"/>
    <p:sldId id="311" r:id="rId31"/>
    <p:sldId id="308" r:id="rId32"/>
    <p:sldId id="297" r:id="rId33"/>
    <p:sldId id="329" r:id="rId34"/>
    <p:sldId id="330" r:id="rId35"/>
    <p:sldId id="333" r:id="rId36"/>
    <p:sldId id="334" r:id="rId37"/>
    <p:sldId id="335" r:id="rId38"/>
    <p:sldId id="287" r:id="rId39"/>
  </p:sldIdLst>
  <p:sldSz cx="12192000" cy="6858000"/>
  <p:notesSz cx="6858000" cy="9144000"/>
  <p:embeddedFontLst>
    <p:embeddedFont>
      <p:font typeface="Calibri" panose="020F0502020204030204" pitchFamily="34" charset="0"/>
      <p:regular r:id="rId41"/>
      <p:bold r:id="rId42"/>
      <p:italic r:id="rId43"/>
      <p:boldItalic r:id="rId44"/>
    </p:embeddedFont>
    <p:embeddedFont>
      <p:font typeface="Inter" panose="020B0604020202020204" charset="0"/>
      <p:regular r:id="rId45"/>
      <p:bold r:id="rId46"/>
      <p:italic r:id="rId47"/>
      <p:boldItalic r:id="rId48"/>
    </p:embeddedFont>
    <p:embeddedFont>
      <p:font typeface="Plus Jakarta Sans" panose="020B0604020202020204" charset="0"/>
      <p:regular r:id="rId49"/>
      <p:bold r:id="rId50"/>
      <p:italic r:id="rId51"/>
      <p:boldItalic r:id="rId52"/>
    </p:embeddedFont>
    <p:embeddedFont>
      <p:font typeface="Plus Jakarta Sans ExtraBold" panose="020B0604020202020204" charset="0"/>
      <p:bold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95">
          <p15:clr>
            <a:srgbClr val="A4A3A4"/>
          </p15:clr>
        </p15:guide>
        <p15:guide id="2" pos="3840">
          <p15:clr>
            <a:srgbClr val="A4A3A4"/>
          </p15:clr>
        </p15:guide>
        <p15:guide id="3" orient="horz" pos="187">
          <p15:clr>
            <a:srgbClr val="A4A3A4"/>
          </p15:clr>
        </p15:guide>
        <p15:guide id="4" pos="438">
          <p15:clr>
            <a:srgbClr val="A4A3A4"/>
          </p15:clr>
        </p15:guide>
        <p15:guide id="5" orient="horz" pos="2387">
          <p15:clr>
            <a:srgbClr val="A4A3A4"/>
          </p15:clr>
        </p15:guide>
        <p15:guide id="6" orient="horz" pos="284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8" roundtripDataSignature="AMtx7miuq0NguNk5LHHA5FwT6FGEpdEKb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57BCAD3-15E7-4015-9B5F-DF1D467188F8}">
  <a:tblStyle styleId="{457BCAD3-15E7-4015-9B5F-DF1D467188F8}"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BE7"/>
          </a:solidFill>
        </a:fill>
      </a:tcStyle>
    </a:wholeTbl>
    <a:band1H>
      <a:tcTxStyle/>
      <a:tcStyle>
        <a:tcBdr/>
        <a:fill>
          <a:solidFill>
            <a:srgbClr val="CAD5CC"/>
          </a:solidFill>
        </a:fill>
      </a:tcStyle>
    </a:band1H>
    <a:band2H>
      <a:tcTxStyle/>
      <a:tcStyle>
        <a:tcBdr/>
      </a:tcStyle>
    </a:band2H>
    <a:band1V>
      <a:tcTxStyle/>
      <a:tcStyle>
        <a:tcBdr/>
        <a:fill>
          <a:solidFill>
            <a:srgbClr val="CAD5CC"/>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7DF18680-E054-41AD-8BC1-D1AEF772440D}" styleName="Estilo medio 2 - Énfasis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09" autoAdjust="0"/>
    <p:restoredTop sz="94660"/>
  </p:normalViewPr>
  <p:slideViewPr>
    <p:cSldViewPr snapToGrid="0">
      <p:cViewPr varScale="1">
        <p:scale>
          <a:sx n="56" d="100"/>
          <a:sy n="56" d="100"/>
        </p:scale>
        <p:origin x="72" y="1194"/>
      </p:cViewPr>
      <p:guideLst>
        <p:guide orient="horz" pos="595"/>
        <p:guide pos="3840"/>
        <p:guide orient="horz" pos="187"/>
        <p:guide pos="438"/>
        <p:guide orient="horz" pos="2387"/>
        <p:guide orient="horz" pos="2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customschemas.google.com/relationships/presentationmetadata" Target="meta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1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1.fntdata"/><Relationship Id="rId54" Type="http://schemas.openxmlformats.org/officeDocument/2006/relationships/font" Target="fonts/font14.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CO"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 name="Google Shape;9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355996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58869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5867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954350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8933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14738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67023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3756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10814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4534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75723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22596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03305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7086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16084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13904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44023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97136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16358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62627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380547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62735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0774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669908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19948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93372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9309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80065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71580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7444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136108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4433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3" name="Google Shape;433;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5"/>
        <p:cNvGrpSpPr/>
        <p:nvPr/>
      </p:nvGrpSpPr>
      <p:grpSpPr>
        <a:xfrm>
          <a:off x="0" y="0"/>
          <a:ext cx="0" cy="0"/>
          <a:chOff x="0" y="0"/>
          <a:chExt cx="0" cy="0"/>
        </a:xfrm>
      </p:grpSpPr>
      <p:sp>
        <p:nvSpPr>
          <p:cNvPr id="16" name="Google Shape;16;p34"/>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4"/>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21"/>
        <p:cNvGrpSpPr/>
        <p:nvPr/>
      </p:nvGrpSpPr>
      <p:grpSpPr>
        <a:xfrm>
          <a:off x="0" y="0"/>
          <a:ext cx="0" cy="0"/>
          <a:chOff x="0" y="0"/>
          <a:chExt cx="0" cy="0"/>
        </a:xfrm>
      </p:grpSpPr>
      <p:sp>
        <p:nvSpPr>
          <p:cNvPr id="22" name="Google Shape;22;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5"/>
        <p:cNvGrpSpPr/>
        <p:nvPr/>
      </p:nvGrpSpPr>
      <p:grpSpPr>
        <a:xfrm>
          <a:off x="0" y="0"/>
          <a:ext cx="0" cy="0"/>
          <a:chOff x="0" y="0"/>
          <a:chExt cx="0" cy="0"/>
        </a:xfrm>
      </p:grpSpPr>
      <p:sp>
        <p:nvSpPr>
          <p:cNvPr id="46" name="Google Shape;46;p3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3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EC388"/>
              </a:buClr>
              <a:buSzPts val="2400"/>
              <a:buNone/>
              <a:defRPr sz="2400">
                <a:solidFill>
                  <a:srgbClr val="8EC388"/>
                </a:solidFill>
              </a:defRPr>
            </a:lvl1pPr>
            <a:lvl2pPr marL="914400" lvl="1" indent="-228600" algn="l">
              <a:lnSpc>
                <a:spcPct val="90000"/>
              </a:lnSpc>
              <a:spcBef>
                <a:spcPts val="500"/>
              </a:spcBef>
              <a:spcAft>
                <a:spcPts val="0"/>
              </a:spcAft>
              <a:buClr>
                <a:srgbClr val="8EC388"/>
              </a:buClr>
              <a:buSzPts val="2000"/>
              <a:buNone/>
              <a:defRPr sz="2000">
                <a:solidFill>
                  <a:srgbClr val="8EC388"/>
                </a:solidFill>
              </a:defRPr>
            </a:lvl2pPr>
            <a:lvl3pPr marL="1371600" lvl="2" indent="-228600" algn="l">
              <a:lnSpc>
                <a:spcPct val="90000"/>
              </a:lnSpc>
              <a:spcBef>
                <a:spcPts val="500"/>
              </a:spcBef>
              <a:spcAft>
                <a:spcPts val="0"/>
              </a:spcAft>
              <a:buClr>
                <a:srgbClr val="8EC388"/>
              </a:buClr>
              <a:buSzPts val="1800"/>
              <a:buNone/>
              <a:defRPr sz="1800">
                <a:solidFill>
                  <a:srgbClr val="8EC388"/>
                </a:solidFill>
              </a:defRPr>
            </a:lvl3pPr>
            <a:lvl4pPr marL="1828800" lvl="3" indent="-228600" algn="l">
              <a:lnSpc>
                <a:spcPct val="90000"/>
              </a:lnSpc>
              <a:spcBef>
                <a:spcPts val="500"/>
              </a:spcBef>
              <a:spcAft>
                <a:spcPts val="0"/>
              </a:spcAft>
              <a:buClr>
                <a:srgbClr val="8EC388"/>
              </a:buClr>
              <a:buSzPts val="1600"/>
              <a:buNone/>
              <a:defRPr sz="1600">
                <a:solidFill>
                  <a:srgbClr val="8EC388"/>
                </a:solidFill>
              </a:defRPr>
            </a:lvl4pPr>
            <a:lvl5pPr marL="2286000" lvl="4" indent="-228600" algn="l">
              <a:lnSpc>
                <a:spcPct val="90000"/>
              </a:lnSpc>
              <a:spcBef>
                <a:spcPts val="500"/>
              </a:spcBef>
              <a:spcAft>
                <a:spcPts val="0"/>
              </a:spcAft>
              <a:buClr>
                <a:srgbClr val="8EC388"/>
              </a:buClr>
              <a:buSzPts val="1600"/>
              <a:buNone/>
              <a:defRPr sz="1600">
                <a:solidFill>
                  <a:srgbClr val="8EC388"/>
                </a:solidFill>
              </a:defRPr>
            </a:lvl5pPr>
            <a:lvl6pPr marL="2743200" lvl="5" indent="-228600" algn="l">
              <a:lnSpc>
                <a:spcPct val="90000"/>
              </a:lnSpc>
              <a:spcBef>
                <a:spcPts val="500"/>
              </a:spcBef>
              <a:spcAft>
                <a:spcPts val="0"/>
              </a:spcAft>
              <a:buClr>
                <a:srgbClr val="8EC388"/>
              </a:buClr>
              <a:buSzPts val="1600"/>
              <a:buNone/>
              <a:defRPr sz="1600">
                <a:solidFill>
                  <a:srgbClr val="8EC388"/>
                </a:solidFill>
              </a:defRPr>
            </a:lvl6pPr>
            <a:lvl7pPr marL="3200400" lvl="6" indent="-228600" algn="l">
              <a:lnSpc>
                <a:spcPct val="90000"/>
              </a:lnSpc>
              <a:spcBef>
                <a:spcPts val="500"/>
              </a:spcBef>
              <a:spcAft>
                <a:spcPts val="0"/>
              </a:spcAft>
              <a:buClr>
                <a:srgbClr val="8EC388"/>
              </a:buClr>
              <a:buSzPts val="1600"/>
              <a:buNone/>
              <a:defRPr sz="1600">
                <a:solidFill>
                  <a:srgbClr val="8EC388"/>
                </a:solidFill>
              </a:defRPr>
            </a:lvl7pPr>
            <a:lvl8pPr marL="3657600" lvl="7" indent="-228600" algn="l">
              <a:lnSpc>
                <a:spcPct val="90000"/>
              </a:lnSpc>
              <a:spcBef>
                <a:spcPts val="500"/>
              </a:spcBef>
              <a:spcAft>
                <a:spcPts val="0"/>
              </a:spcAft>
              <a:buClr>
                <a:srgbClr val="8EC388"/>
              </a:buClr>
              <a:buSzPts val="1600"/>
              <a:buNone/>
              <a:defRPr sz="1600">
                <a:solidFill>
                  <a:srgbClr val="8EC388"/>
                </a:solidFill>
              </a:defRPr>
            </a:lvl8pPr>
            <a:lvl9pPr marL="4114800" lvl="8" indent="-228600" algn="l">
              <a:lnSpc>
                <a:spcPct val="90000"/>
              </a:lnSpc>
              <a:spcBef>
                <a:spcPts val="500"/>
              </a:spcBef>
              <a:spcAft>
                <a:spcPts val="0"/>
              </a:spcAft>
              <a:buClr>
                <a:srgbClr val="8EC388"/>
              </a:buClr>
              <a:buSzPts val="1600"/>
              <a:buNone/>
              <a:defRPr sz="1600">
                <a:solidFill>
                  <a:srgbClr val="8EC388"/>
                </a:solidFill>
              </a:defRPr>
            </a:lvl9pPr>
          </a:lstStyle>
          <a:p>
            <a:endParaRPr/>
          </a:p>
        </p:txBody>
      </p:sp>
      <p:sp>
        <p:nvSpPr>
          <p:cNvPr id="48" name="Google Shape;48;p3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1"/>
        <p:cNvGrpSpPr/>
        <p:nvPr/>
      </p:nvGrpSpPr>
      <p:grpSpPr>
        <a:xfrm>
          <a:off x="0" y="0"/>
          <a:ext cx="0" cy="0"/>
          <a:chOff x="0" y="0"/>
          <a:chExt cx="0" cy="0"/>
        </a:xfrm>
      </p:grpSpPr>
      <p:sp>
        <p:nvSpPr>
          <p:cNvPr id="52" name="Google Shape;52;p40"/>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40"/>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40"/>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40"/>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40"/>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4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4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0"/>
        <p:cNvGrpSpPr/>
        <p:nvPr/>
      </p:nvGrpSpPr>
      <p:grpSpPr>
        <a:xfrm>
          <a:off x="0" y="0"/>
          <a:ext cx="0" cy="0"/>
          <a:chOff x="0" y="0"/>
          <a:chExt cx="0" cy="0"/>
        </a:xfrm>
      </p:grpSpPr>
      <p:sp>
        <p:nvSpPr>
          <p:cNvPr id="61" name="Google Shape;61;p4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4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4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4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5"/>
        <p:cNvGrpSpPr/>
        <p:nvPr/>
      </p:nvGrpSpPr>
      <p:grpSpPr>
        <a:xfrm>
          <a:off x="0" y="0"/>
          <a:ext cx="0" cy="0"/>
          <a:chOff x="0" y="0"/>
          <a:chExt cx="0" cy="0"/>
        </a:xfrm>
      </p:grpSpPr>
      <p:sp>
        <p:nvSpPr>
          <p:cNvPr id="66" name="Google Shape;66;p4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42"/>
          <p:cNvSpPr>
            <a:spLocks noGrp="1"/>
          </p:cNvSpPr>
          <p:nvPr>
            <p:ph type="pic" idx="2"/>
          </p:nvPr>
        </p:nvSpPr>
        <p:spPr>
          <a:xfrm>
            <a:off x="5183188" y="987425"/>
            <a:ext cx="6172200" cy="4873625"/>
          </a:xfrm>
          <a:prstGeom prst="rect">
            <a:avLst/>
          </a:prstGeom>
          <a:noFill/>
          <a:ln>
            <a:noFill/>
          </a:ln>
        </p:spPr>
      </p:sp>
      <p:sp>
        <p:nvSpPr>
          <p:cNvPr id="68" name="Google Shape;68;p4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4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4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4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2"/>
        <p:cNvGrpSpPr/>
        <p:nvPr/>
      </p:nvGrpSpPr>
      <p:grpSpPr>
        <a:xfrm>
          <a:off x="0" y="0"/>
          <a:ext cx="0" cy="0"/>
          <a:chOff x="0" y="0"/>
          <a:chExt cx="0" cy="0"/>
        </a:xfrm>
      </p:grpSpPr>
      <p:sp>
        <p:nvSpPr>
          <p:cNvPr id="73" name="Google Shape;73;p4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4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4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4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78"/>
        <p:cNvGrpSpPr/>
        <p:nvPr/>
      </p:nvGrpSpPr>
      <p:grpSpPr>
        <a:xfrm>
          <a:off x="0" y="0"/>
          <a:ext cx="0" cy="0"/>
          <a:chOff x="0" y="0"/>
          <a:chExt cx="0" cy="0"/>
        </a:xfrm>
      </p:grpSpPr>
      <p:sp>
        <p:nvSpPr>
          <p:cNvPr id="79" name="Google Shape;79;p4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4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4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4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84"/>
        <p:cNvGrpSpPr/>
        <p:nvPr/>
      </p:nvGrpSpPr>
      <p:grpSpPr>
        <a:xfrm>
          <a:off x="0" y="0"/>
          <a:ext cx="0" cy="0"/>
          <a:chOff x="0" y="0"/>
          <a:chExt cx="0" cy="0"/>
        </a:xfrm>
      </p:grpSpPr>
      <p:sp>
        <p:nvSpPr>
          <p:cNvPr id="85" name="Google Shape;85;p4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4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4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3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EC3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EC3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EC388"/>
                </a:solidFill>
                <a:latin typeface="Calibri"/>
                <a:ea typeface="Calibri"/>
                <a:cs typeface="Calibri"/>
                <a:sym typeface="Calibri"/>
              </a:defRPr>
            </a:lvl1pPr>
            <a:lvl2pPr marL="0" marR="0" lvl="1" indent="0" algn="r" rtl="0">
              <a:spcBef>
                <a:spcPts val="0"/>
              </a:spcBef>
              <a:buNone/>
              <a:defRPr sz="1200" b="0" i="0" u="none" strike="noStrike" cap="none">
                <a:solidFill>
                  <a:srgbClr val="8EC388"/>
                </a:solidFill>
                <a:latin typeface="Calibri"/>
                <a:ea typeface="Calibri"/>
                <a:cs typeface="Calibri"/>
                <a:sym typeface="Calibri"/>
              </a:defRPr>
            </a:lvl2pPr>
            <a:lvl3pPr marL="0" marR="0" lvl="2" indent="0" algn="r" rtl="0">
              <a:spcBef>
                <a:spcPts val="0"/>
              </a:spcBef>
              <a:buNone/>
              <a:defRPr sz="1200" b="0" i="0" u="none" strike="noStrike" cap="none">
                <a:solidFill>
                  <a:srgbClr val="8EC388"/>
                </a:solidFill>
                <a:latin typeface="Calibri"/>
                <a:ea typeface="Calibri"/>
                <a:cs typeface="Calibri"/>
                <a:sym typeface="Calibri"/>
              </a:defRPr>
            </a:lvl3pPr>
            <a:lvl4pPr marL="0" marR="0" lvl="3" indent="0" algn="r" rtl="0">
              <a:spcBef>
                <a:spcPts val="0"/>
              </a:spcBef>
              <a:buNone/>
              <a:defRPr sz="1200" b="0" i="0" u="none" strike="noStrike" cap="none">
                <a:solidFill>
                  <a:srgbClr val="8EC388"/>
                </a:solidFill>
                <a:latin typeface="Calibri"/>
                <a:ea typeface="Calibri"/>
                <a:cs typeface="Calibri"/>
                <a:sym typeface="Calibri"/>
              </a:defRPr>
            </a:lvl4pPr>
            <a:lvl5pPr marL="0" marR="0" lvl="4" indent="0" algn="r" rtl="0">
              <a:spcBef>
                <a:spcPts val="0"/>
              </a:spcBef>
              <a:buNone/>
              <a:defRPr sz="1200" b="0" i="0" u="none" strike="noStrike" cap="none">
                <a:solidFill>
                  <a:srgbClr val="8EC388"/>
                </a:solidFill>
                <a:latin typeface="Calibri"/>
                <a:ea typeface="Calibri"/>
                <a:cs typeface="Calibri"/>
                <a:sym typeface="Calibri"/>
              </a:defRPr>
            </a:lvl5pPr>
            <a:lvl6pPr marL="0" marR="0" lvl="5" indent="0" algn="r" rtl="0">
              <a:spcBef>
                <a:spcPts val="0"/>
              </a:spcBef>
              <a:buNone/>
              <a:defRPr sz="1200" b="0" i="0" u="none" strike="noStrike" cap="none">
                <a:solidFill>
                  <a:srgbClr val="8EC388"/>
                </a:solidFill>
                <a:latin typeface="Calibri"/>
                <a:ea typeface="Calibri"/>
                <a:cs typeface="Calibri"/>
                <a:sym typeface="Calibri"/>
              </a:defRPr>
            </a:lvl6pPr>
            <a:lvl7pPr marL="0" marR="0" lvl="6" indent="0" algn="r" rtl="0">
              <a:spcBef>
                <a:spcPts val="0"/>
              </a:spcBef>
              <a:buNone/>
              <a:defRPr sz="1200" b="0" i="0" u="none" strike="noStrike" cap="none">
                <a:solidFill>
                  <a:srgbClr val="8EC388"/>
                </a:solidFill>
                <a:latin typeface="Calibri"/>
                <a:ea typeface="Calibri"/>
                <a:cs typeface="Calibri"/>
                <a:sym typeface="Calibri"/>
              </a:defRPr>
            </a:lvl7pPr>
            <a:lvl8pPr marL="0" marR="0" lvl="7" indent="0" algn="r" rtl="0">
              <a:spcBef>
                <a:spcPts val="0"/>
              </a:spcBef>
              <a:buNone/>
              <a:defRPr sz="1200" b="0" i="0" u="none" strike="noStrike" cap="none">
                <a:solidFill>
                  <a:srgbClr val="8EC388"/>
                </a:solidFill>
                <a:latin typeface="Calibri"/>
                <a:ea typeface="Calibri"/>
                <a:cs typeface="Calibri"/>
                <a:sym typeface="Calibri"/>
              </a:defRPr>
            </a:lvl8pPr>
            <a:lvl9pPr marL="0" marR="0" lvl="8" indent="0" algn="r" rtl="0">
              <a:spcBef>
                <a:spcPts val="0"/>
              </a:spcBef>
              <a:buNone/>
              <a:defRPr sz="1200" b="0" i="0" u="none" strike="noStrike" cap="none">
                <a:solidFill>
                  <a:srgbClr val="8EC3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CO"/>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4" r:id="rId4"/>
    <p:sldLayoutId id="2147483655" r:id="rId5"/>
    <p:sldLayoutId id="2147483656" r:id="rId6"/>
    <p:sldLayoutId id="2147483657" r:id="rId7"/>
    <p:sldLayoutId id="2147483658" r:id="rId8"/>
    <p:sldLayoutId id="2147483659"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5.png"/><Relationship Id="rId7"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7.jpg"/></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2"/>
        <p:cNvGrpSpPr/>
        <p:nvPr/>
      </p:nvGrpSpPr>
      <p:grpSpPr>
        <a:xfrm>
          <a:off x="0" y="0"/>
          <a:ext cx="0" cy="0"/>
          <a:chOff x="0" y="0"/>
          <a:chExt cx="0" cy="0"/>
        </a:xfrm>
      </p:grpSpPr>
      <p:pic>
        <p:nvPicPr>
          <p:cNvPr id="93" name="Google Shape;93;p1"/>
          <p:cNvPicPr preferRelativeResize="0"/>
          <p:nvPr/>
        </p:nvPicPr>
        <p:blipFill rotWithShape="1">
          <a:blip r:embed="rId4">
            <a:alphaModFix/>
          </a:blip>
          <a:srcRect l="24976" t="22927" r="24976" b="22927"/>
          <a:stretch/>
        </p:blipFill>
        <p:spPr>
          <a:xfrm>
            <a:off x="10424123" y="870486"/>
            <a:ext cx="923111" cy="908760"/>
          </a:xfrm>
          <a:prstGeom prst="rect">
            <a:avLst/>
          </a:prstGeom>
          <a:noFill/>
          <a:ln>
            <a:noFill/>
          </a:ln>
        </p:spPr>
      </p:pic>
      <p:sp>
        <p:nvSpPr>
          <p:cNvPr id="5" name="Subtítulo 4">
            <a:extLst>
              <a:ext uri="{FF2B5EF4-FFF2-40B4-BE49-F238E27FC236}">
                <a16:creationId xmlns:a16="http://schemas.microsoft.com/office/drawing/2014/main" id="{0D27D3C6-3047-48C6-E08D-1D2554CFC2F0}"/>
              </a:ext>
            </a:extLst>
          </p:cNvPr>
          <p:cNvSpPr>
            <a:spLocks noGrp="1"/>
          </p:cNvSpPr>
          <p:nvPr>
            <p:ph type="subTitle" idx="1"/>
          </p:nvPr>
        </p:nvSpPr>
        <p:spPr>
          <a:xfrm>
            <a:off x="4306443" y="3996267"/>
            <a:ext cx="3579112" cy="1915365"/>
          </a:xfrm>
        </p:spPr>
        <p:txBody>
          <a:bodyPr>
            <a:normAutofit fontScale="77500" lnSpcReduction="20000"/>
          </a:bodyPr>
          <a:lstStyle/>
          <a:p>
            <a:pPr algn="ctr"/>
            <a:r>
              <a:rPr sz="1600" b="1" dirty="0">
                <a:solidFill>
                  <a:srgbClr val="3369CD"/>
                </a:solidFill>
                <a:latin typeface="Arial"/>
              </a:rPr>
              <a:t>INTEGRANTES:</a:t>
            </a:r>
            <a:endParaRPr lang="es-CO" sz="1600" b="1" dirty="0">
              <a:solidFill>
                <a:srgbClr val="334155"/>
              </a:solidFill>
              <a:latin typeface="Inter"/>
              <a:cs typeface="Inter"/>
              <a:sym typeface="Arial"/>
            </a:endParaRPr>
          </a:p>
          <a:p>
            <a:pPr algn="ctr"/>
            <a:endParaRPr lang="es-CO" sz="1600" b="1" dirty="0">
              <a:solidFill>
                <a:srgbClr val="334155"/>
              </a:solidFill>
              <a:latin typeface="Inter"/>
              <a:cs typeface="Inter"/>
              <a:sym typeface="Arial"/>
            </a:endParaRPr>
          </a:p>
          <a:p>
            <a:pPr algn="ctr"/>
            <a:r>
              <a:rPr lang="es-MX" sz="1600" b="1" dirty="0">
                <a:solidFill>
                  <a:srgbClr val="1A1A1A"/>
                </a:solidFill>
                <a:latin typeface="Arial"/>
              </a:rPr>
              <a:t>A</a:t>
            </a:r>
            <a:r>
              <a:rPr sz="1600" b="1" dirty="0">
                <a:solidFill>
                  <a:srgbClr val="1A1A1A"/>
                </a:solidFill>
                <a:latin typeface="Arial"/>
              </a:rPr>
              <a:t>NGEL JES</a:t>
            </a:r>
            <a:r>
              <a:rPr lang="es-MX" sz="1600" b="1" dirty="0">
                <a:solidFill>
                  <a:srgbClr val="1A1A1A"/>
                </a:solidFill>
                <a:latin typeface="Arial"/>
              </a:rPr>
              <a:t>U</a:t>
            </a:r>
            <a:r>
              <a:rPr sz="1600" b="1" dirty="0">
                <a:solidFill>
                  <a:srgbClr val="1A1A1A"/>
                </a:solidFill>
                <a:latin typeface="Arial"/>
              </a:rPr>
              <a:t>S HERN</a:t>
            </a:r>
            <a:r>
              <a:rPr lang="es-MX" sz="1600" b="1" dirty="0">
                <a:solidFill>
                  <a:srgbClr val="1A1A1A"/>
                </a:solidFill>
                <a:latin typeface="Arial"/>
              </a:rPr>
              <a:t>A</a:t>
            </a:r>
            <a:r>
              <a:rPr sz="1600" b="1" dirty="0">
                <a:solidFill>
                  <a:srgbClr val="1A1A1A"/>
                </a:solidFill>
                <a:latin typeface="Arial"/>
              </a:rPr>
              <a:t>NDEZ AR</a:t>
            </a:r>
            <a:r>
              <a:rPr lang="es-MX" sz="1600" b="1" dirty="0">
                <a:solidFill>
                  <a:srgbClr val="1A1A1A"/>
                </a:solidFill>
                <a:latin typeface="Arial"/>
              </a:rPr>
              <a:t>E</a:t>
            </a:r>
            <a:r>
              <a:rPr sz="1600" b="1" dirty="0">
                <a:solidFill>
                  <a:srgbClr val="1A1A1A"/>
                </a:solidFill>
                <a:latin typeface="Arial"/>
              </a:rPr>
              <a:t>VALO</a:t>
            </a:r>
          </a:p>
          <a:p>
            <a:pPr algn="ctr"/>
            <a:r>
              <a:rPr sz="1600" b="1" dirty="0">
                <a:solidFill>
                  <a:srgbClr val="1A1A1A"/>
                </a:solidFill>
                <a:latin typeface="Arial"/>
              </a:rPr>
              <a:t>RICHARD ALBERTO QUIÑONES QUIÑONES</a:t>
            </a:r>
          </a:p>
          <a:p>
            <a:pPr algn="ctr"/>
            <a:endParaRPr sz="1600" b="1" dirty="0">
              <a:solidFill>
                <a:srgbClr val="1A1A1A"/>
              </a:solidFill>
              <a:latin typeface="Arial"/>
            </a:endParaRPr>
          </a:p>
          <a:p>
            <a:pPr algn="ctr"/>
            <a:endParaRPr sz="1600" b="1" dirty="0">
              <a:solidFill>
                <a:srgbClr val="33373D"/>
              </a:solidFill>
              <a:latin typeface="Arial"/>
            </a:endParaRPr>
          </a:p>
          <a:p>
            <a:pPr algn="ctr"/>
            <a:r>
              <a:rPr sz="1600" b="1" dirty="0" err="1">
                <a:solidFill>
                  <a:srgbClr val="1A1A1A"/>
                </a:solidFill>
                <a:latin typeface="Arial"/>
              </a:rPr>
              <a:t>Ficha 3115426</a:t>
            </a:r>
          </a:p>
        </p:txBody>
      </p:sp>
      <p:pic>
        <p:nvPicPr>
          <p:cNvPr id="3" name="Google Shape;90;p13" descr="image.png">
            <a:extLst>
              <a:ext uri="{FF2B5EF4-FFF2-40B4-BE49-F238E27FC236}">
                <a16:creationId xmlns:a16="http://schemas.microsoft.com/office/drawing/2014/main" id="{24B006EC-E35D-15B6-DB4E-F558902378F7}"/>
              </a:ext>
            </a:extLst>
          </p:cNvPr>
          <p:cNvPicPr preferRelativeResize="0"/>
          <p:nvPr/>
        </p:nvPicPr>
        <p:blipFill rotWithShape="1">
          <a:blip r:embed="rId5">
            <a:alphaModFix/>
          </a:blip>
          <a:srcRect/>
          <a:stretch/>
        </p:blipFill>
        <p:spPr>
          <a:xfrm>
            <a:off x="4998719" y="1044787"/>
            <a:ext cx="2194560" cy="2194560"/>
          </a:xfrm>
          <a:prstGeom prst="rect">
            <a:avLst/>
          </a:prstGeom>
          <a:noFill/>
          <a:ln>
            <a:noFill/>
          </a:ln>
        </p:spPr>
      </p:pic>
    </p:spTree>
    <p:extLst>
      <p:ext uri="{BB962C8B-B14F-4D97-AF65-F5344CB8AC3E}">
        <p14:creationId xmlns:p14="http://schemas.microsoft.com/office/powerpoint/2010/main" val="770859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Google Shape;85;p13" descr="image.png">
            <a:extLst>
              <a:ext uri="{FF2B5EF4-FFF2-40B4-BE49-F238E27FC236}">
                <a16:creationId xmlns:a16="http://schemas.microsoft.com/office/drawing/2014/main" id="{6F82DF70-D1DF-BB77-7DA3-E4B341DD6031}"/>
              </a:ext>
            </a:extLst>
          </p:cNvPr>
          <p:cNvPicPr preferRelativeResize="0"/>
          <p:nvPr/>
        </p:nvPicPr>
        <p:blipFill rotWithShape="1">
          <a:blip r:embed="rId4">
            <a:alphaModFix/>
          </a:blip>
          <a:srcRect/>
          <a:stretch/>
        </p:blipFill>
        <p:spPr>
          <a:xfrm>
            <a:off x="6178022" y="1430934"/>
            <a:ext cx="4715581" cy="3996132"/>
          </a:xfrm>
          <a:prstGeom prst="rect">
            <a:avLst/>
          </a:prstGeom>
          <a:noFill/>
          <a:ln>
            <a:noFill/>
          </a:ln>
        </p:spPr>
      </p:pic>
      <p:sp>
        <p:nvSpPr>
          <p:cNvPr id="7" name="Google Shape;88;p13">
            <a:extLst>
              <a:ext uri="{FF2B5EF4-FFF2-40B4-BE49-F238E27FC236}">
                <a16:creationId xmlns:a16="http://schemas.microsoft.com/office/drawing/2014/main" id="{06A82DE9-312C-9BF6-8485-7633EE9826C0}"/>
              </a:ext>
            </a:extLst>
          </p:cNvPr>
          <p:cNvSpPr txBox="1"/>
          <p:nvPr/>
        </p:nvSpPr>
        <p:spPr>
          <a:xfrm>
            <a:off x="1100667" y="1796641"/>
            <a:ext cx="2555522" cy="690189"/>
          </a:xfrm>
          <a:prstGeom prst="rect">
            <a:avLst/>
          </a:prstGeom>
          <a:noFill/>
          <a:ln>
            <a:noFill/>
          </a:ln>
        </p:spPr>
        <p:txBody>
          <a:bodyPr spcFirstLastPara="1" wrap="square" lIns="0" tIns="0" rIns="0" bIns="0" anchor="t" anchorCtr="0">
            <a:spAutoFit/>
          </a:bodyPr>
          <a:lstStyle/>
          <a:p>
            <a:pPr marL="0" marR="0" lvl="0" indent="0" algn="l" rtl="0">
              <a:lnSpc>
                <a:spcPct val="114974"/>
              </a:lnSpc>
              <a:spcBef>
                <a:spcPts val="0"/>
              </a:spcBef>
              <a:spcAft>
                <a:spcPts val="0"/>
              </a:spcAft>
              <a:buNone/>
            </a:pPr>
            <a:r>
              <a:rPr lang="en-US" sz="3900" b="1" i="0" u="none" strike="noStrike" cap="none" dirty="0" err="1">
                <a:solidFill>
                  <a:schemeClr val="bg2"/>
                </a:solidFill>
                <a:latin typeface="Plus Jakarta Sans"/>
                <a:ea typeface="Plus Jakarta Sans"/>
                <a:cs typeface="Plus Jakarta Sans"/>
                <a:sym typeface="Plus Jakarta Sans"/>
              </a:rPr>
              <a:t>MediApp</a:t>
            </a:r>
            <a:endParaRPr dirty="0">
              <a:solidFill>
                <a:schemeClr val="bg2"/>
              </a:solidFill>
            </a:endParaRPr>
          </a:p>
        </p:txBody>
      </p:sp>
      <p:sp>
        <p:nvSpPr>
          <p:cNvPr id="8" name="Google Shape;89;p13">
            <a:extLst>
              <a:ext uri="{FF2B5EF4-FFF2-40B4-BE49-F238E27FC236}">
                <a16:creationId xmlns:a16="http://schemas.microsoft.com/office/drawing/2014/main" id="{C69884FC-0D06-AD26-4B09-9A0E6F0199C6}"/>
              </a:ext>
            </a:extLst>
          </p:cNvPr>
          <p:cNvSpPr txBox="1"/>
          <p:nvPr/>
        </p:nvSpPr>
        <p:spPr>
          <a:xfrm>
            <a:off x="1033639" y="3013774"/>
            <a:ext cx="4799895" cy="1107996"/>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sz="2000" dirty="0">
                <a:solidFill>
                  <a:srgbClr val="1A1A1A"/>
                </a:solidFill>
                <a:latin typeface="Arial"/>
              </a:rPr>
              <a:t>Sistema web de agendamiento de citas médicas y gestión de historias clínicas para centros de salud.</a:t>
            </a:r>
            <a:endParaRPr sz="1600" dirty="0"/>
          </a:p>
        </p:txBody>
      </p:sp>
      <p:sp>
        <p:nvSpPr>
          <p:cNvPr id="11" name="CuadroTexto 10">
            <a:extLst>
              <a:ext uri="{FF2B5EF4-FFF2-40B4-BE49-F238E27FC236}">
                <a16:creationId xmlns:a16="http://schemas.microsoft.com/office/drawing/2014/main" id="{B98E55B9-4796-1AD4-FD91-7F8439DF9EDA}"/>
              </a:ext>
            </a:extLst>
          </p:cNvPr>
          <p:cNvSpPr txBox="1"/>
          <p:nvPr/>
        </p:nvSpPr>
        <p:spPr>
          <a:xfrm>
            <a:off x="7703256" y="4892245"/>
            <a:ext cx="3836106" cy="369332"/>
          </a:xfrm>
          <a:prstGeom prst="rect">
            <a:avLst/>
          </a:prstGeom>
          <a:noFill/>
        </p:spPr>
        <p:txBody>
          <a:bodyPr wrap="square">
            <a:spAutoFit/>
          </a:bodyPr>
          <a:lstStyle/>
          <a:p>
            <a:r>
              <a:rPr lang="es-CO" sz="1800" dirty="0">
                <a:solidFill/>
              </a:rPr>
              <a:t> </a:t>
            </a:r>
            <a:endParaRPr lang="es-CO" sz="2000" dirty="0"/>
          </a:p>
        </p:txBody>
      </p:sp>
      <p:pic>
        <p:nvPicPr>
          <p:cNvPr id="4" name="Google Shape;90;p13" descr="image.png">
            <a:extLst>
              <a:ext uri="{FF2B5EF4-FFF2-40B4-BE49-F238E27FC236}">
                <a16:creationId xmlns:a16="http://schemas.microsoft.com/office/drawing/2014/main" id="{69E8881E-97D5-C95E-1057-39C2FCE7A3B3}"/>
              </a:ext>
            </a:extLst>
          </p:cNvPr>
          <p:cNvPicPr preferRelativeResize="0"/>
          <p:nvPr/>
        </p:nvPicPr>
        <p:blipFill rotWithShape="1">
          <a:blip r:embed="rId5">
            <a:alphaModFix/>
          </a:blip>
          <a:srcRect/>
          <a:stretch/>
        </p:blipFill>
        <p:spPr>
          <a:xfrm>
            <a:off x="7438532" y="2334428"/>
            <a:ext cx="2194560" cy="219456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111;p3">
            <a:extLst>
              <a:ext uri="{FF2B5EF4-FFF2-40B4-BE49-F238E27FC236}">
                <a16:creationId xmlns:a16="http://schemas.microsoft.com/office/drawing/2014/main" id="{C3D3D267-D1DB-7794-090F-4F88F9C7C45B}"/>
              </a:ext>
            </a:extLst>
          </p:cNvPr>
          <p:cNvSpPr txBox="1"/>
          <p:nvPr/>
        </p:nvSpPr>
        <p:spPr>
          <a:xfrm>
            <a:off x="2100942" y="2640764"/>
            <a:ext cx="7990115" cy="1576471"/>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 FORMULACIÓN DEL PROYECTO</a:t>
            </a:r>
            <a:endParaRP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14" name="Imagen 13">
            <a:extLst>
              <a:ext uri="{FF2B5EF4-FFF2-40B4-BE49-F238E27FC236}">
                <a16:creationId xmlns:a16="http://schemas.microsoft.com/office/drawing/2014/main" id="{8DF402D3-A560-9210-3DEA-358303C1CE08}"/>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13" name="Google Shape;106;p14">
            <a:extLst>
              <a:ext uri="{FF2B5EF4-FFF2-40B4-BE49-F238E27FC236}">
                <a16:creationId xmlns:a16="http://schemas.microsoft.com/office/drawing/2014/main" id="{72A46E4C-75C3-B387-4882-65CAAFC1DC0B}"/>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Planteamiento del Problema</a:t>
            </a:r>
            <a:endParaRPr dirty="0">
              <a:solidFill>
                <a:schemeClr val="bg2"/>
              </a:solidFill>
            </a:endParaRPr>
          </a:p>
        </p:txBody>
      </p:sp>
      <p:sp>
        <p:nvSpPr>
          <p:cNvPr id="19" name="TextBox 18"/>
          <p:cNvSpPr txBox="1"/>
          <p:nvPr/>
        </p:nvSpPr>
        <p:spPr>
          <a:xfrm>
            <a:off x="640080" y="1417320"/>
            <a:ext cx="10881360" cy="822960"/>
          </a:xfrm>
          <a:prstGeom prst="rect">
            <a:avLst/>
          </a:prstGeom>
          <a:noFill/>
        </p:spPr>
        <p:txBody>
          <a:bodyPr wrap="square">
            <a:spAutoFit/>
          </a:bodyPr>
          <a:lstStyle/>
          <a:p>
            <a:pPr algn="l"/>
            <a:r>
              <a:rPr sz="2400" b="1" dirty="0">
                <a:solidFill>
                  <a:schemeClr val="bg2"/>
                </a:solidFill>
                <a:latin typeface="Arial"/>
              </a:rPr>
              <a:t>Conseguir una cita médica depende de presentarse en el centro de salud y de la memoria de quien asigna los turnos.</a:t>
            </a:r>
          </a:p>
        </p:txBody>
      </p:sp>
      <p:sp>
        <p:nvSpPr>
          <p:cNvPr id="20" name="TextBox 19"/>
          <p:cNvSpPr txBox="1"/>
          <p:nvPr/>
        </p:nvSpPr>
        <p:spPr>
          <a:xfrm>
            <a:off x="822960" y="2788920"/>
            <a:ext cx="10424160" cy="1143000"/>
          </a:xfrm>
          <a:prstGeom prst="rect">
            <a:avLst/>
          </a:prstGeom>
          <a:noFill/>
        </p:spPr>
        <p:txBody>
          <a:bodyPr wrap="square">
            <a:spAutoFit/>
          </a:bodyPr>
          <a:lstStyle/>
          <a:p>
            <a:r>
              <a:rPr sz="2000" dirty="0">
                <a:solidFill>
                  <a:srgbClr val="1A1A1A"/>
                </a:solidFill>
                <a:latin typeface="Arial"/>
              </a:rPr>
              <a:t>El 54 % de los encuestados solicita hoy su cita presentándose en el centro, y el 71 % se ha desplazado únicamente para pedirla o para cancelarla.</a:t>
            </a:r>
          </a:p>
        </p:txBody>
      </p:sp>
      <p:sp>
        <p:nvSpPr>
          <p:cNvPr id="21" name="TextBox 20"/>
          <p:cNvSpPr txBox="1"/>
          <p:nvPr/>
        </p:nvSpPr>
        <p:spPr>
          <a:xfrm>
            <a:off x="822960" y="3931920"/>
            <a:ext cx="10424160" cy="1143000"/>
          </a:xfrm>
          <a:prstGeom prst="rect">
            <a:avLst/>
          </a:prstGeom>
          <a:noFill/>
        </p:spPr>
        <p:txBody>
          <a:bodyPr wrap="square">
            <a:spAutoFit/>
          </a:bodyPr>
          <a:lstStyle/>
          <a:p>
            <a:r>
              <a:rPr sz="2000">
                <a:solidFill>
                  <a:srgbClr val="1A1A1A"/>
                </a:solidFill>
                <a:latin typeface="Arial"/>
              </a:rPr>
              <a:t>El 65 % tarda más de media hora en que se la asignen, y el 60 % ha recibido al menos una vez una cita cruzada con la de otro paciente.</a:t>
            </a:r>
          </a:p>
        </p:txBody>
      </p:sp>
      <p:sp>
        <p:nvSpPr>
          <p:cNvPr id="22" name="TextBox 21"/>
          <p:cNvSpPr txBox="1"/>
          <p:nvPr/>
        </p:nvSpPr>
        <p:spPr>
          <a:xfrm>
            <a:off x="822960" y="5074920"/>
            <a:ext cx="10424160" cy="1143000"/>
          </a:xfrm>
          <a:prstGeom prst="rect">
            <a:avLst/>
          </a:prstGeom>
          <a:noFill/>
        </p:spPr>
        <p:txBody>
          <a:bodyPr wrap="square">
            <a:spAutoFit/>
          </a:bodyPr>
          <a:lstStyle/>
          <a:p>
            <a:r>
              <a:rPr sz="2000">
                <a:solidFill>
                  <a:srgbClr val="1A1A1A"/>
                </a:solidFill>
                <a:latin typeface="Arial"/>
              </a:rPr>
              <a:t>El problema no es la demanda sino la falta de un canal propio, porque la disponibilidad no se consulta sino que se recuerda, y por eso la ventanilla y el teléfono llegan a ofrecer el mismo turno.</a:t>
            </a:r>
          </a:p>
        </p:txBody>
      </p:sp>
    </p:spTree>
    <p:extLst>
      <p:ext uri="{BB962C8B-B14F-4D97-AF65-F5344CB8AC3E}">
        <p14:creationId xmlns:p14="http://schemas.microsoft.com/office/powerpoint/2010/main" val="41502274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2" name="Imagen 21">
            <a:extLst>
              <a:ext uri="{FF2B5EF4-FFF2-40B4-BE49-F238E27FC236}">
                <a16:creationId xmlns:a16="http://schemas.microsoft.com/office/drawing/2014/main" id="{13495FBF-C467-5FBA-8029-DB074EC699BC}"/>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3" name="Google Shape;138;p16" descr="image.png">
            <a:extLst>
              <a:ext uri="{FF2B5EF4-FFF2-40B4-BE49-F238E27FC236}">
                <a16:creationId xmlns:a16="http://schemas.microsoft.com/office/drawing/2014/main" id="{6E2E430C-E153-EE1C-9507-83BAA4900C86}"/>
              </a:ext>
            </a:extLst>
          </p:cNvPr>
          <p:cNvPicPr preferRelativeResize="0"/>
          <p:nvPr/>
        </p:nvPicPr>
        <p:blipFill rotWithShape="1">
          <a:blip r:embed="rId5">
            <a:alphaModFix/>
          </a:blip>
          <a:srcRect/>
          <a:stretch/>
        </p:blipFill>
        <p:spPr>
          <a:xfrm>
            <a:off x="571424" y="4722657"/>
            <a:ext cx="11049000" cy="857250"/>
          </a:xfrm>
          <a:prstGeom prst="rect">
            <a:avLst/>
          </a:prstGeom>
          <a:noFill/>
          <a:ln>
            <a:noFill/>
          </a:ln>
        </p:spPr>
      </p:pic>
      <p:pic>
        <p:nvPicPr>
          <p:cNvPr id="4" name="Google Shape;139;p16" descr="image.png">
            <a:extLst>
              <a:ext uri="{FF2B5EF4-FFF2-40B4-BE49-F238E27FC236}">
                <a16:creationId xmlns:a16="http://schemas.microsoft.com/office/drawing/2014/main" id="{468D5443-582F-1671-D734-A0438BEAA997}"/>
              </a:ext>
            </a:extLst>
          </p:cNvPr>
          <p:cNvPicPr preferRelativeResize="0"/>
          <p:nvPr/>
        </p:nvPicPr>
        <p:blipFill rotWithShape="1">
          <a:blip r:embed="rId6">
            <a:alphaModFix/>
          </a:blip>
          <a:srcRect/>
          <a:stretch/>
        </p:blipFill>
        <p:spPr>
          <a:xfrm>
            <a:off x="571500" y="2143125"/>
            <a:ext cx="3530500" cy="2143125"/>
          </a:xfrm>
          <a:prstGeom prst="rect">
            <a:avLst/>
          </a:prstGeom>
          <a:noFill/>
          <a:ln>
            <a:noFill/>
          </a:ln>
        </p:spPr>
      </p:pic>
      <p:pic>
        <p:nvPicPr>
          <p:cNvPr id="5" name="Google Shape;140;p16" descr="image.png">
            <a:extLst>
              <a:ext uri="{FF2B5EF4-FFF2-40B4-BE49-F238E27FC236}">
                <a16:creationId xmlns:a16="http://schemas.microsoft.com/office/drawing/2014/main" id="{FC5C9815-BADF-30F6-D886-CBF83C550DC2}"/>
              </a:ext>
            </a:extLst>
          </p:cNvPr>
          <p:cNvPicPr preferRelativeResize="0"/>
          <p:nvPr/>
        </p:nvPicPr>
        <p:blipFill rotWithShape="1">
          <a:blip r:embed="rId7">
            <a:alphaModFix/>
          </a:blip>
          <a:srcRect/>
          <a:stretch/>
        </p:blipFill>
        <p:spPr>
          <a:xfrm>
            <a:off x="4330600" y="2143125"/>
            <a:ext cx="3530649" cy="2143125"/>
          </a:xfrm>
          <a:prstGeom prst="rect">
            <a:avLst/>
          </a:prstGeom>
          <a:noFill/>
          <a:ln>
            <a:noFill/>
          </a:ln>
        </p:spPr>
      </p:pic>
      <p:pic>
        <p:nvPicPr>
          <p:cNvPr id="6" name="Google Shape;141;p16" descr="image.png">
            <a:extLst>
              <a:ext uri="{FF2B5EF4-FFF2-40B4-BE49-F238E27FC236}">
                <a16:creationId xmlns:a16="http://schemas.microsoft.com/office/drawing/2014/main" id="{DB18B452-3E7B-2BAD-B2A3-F989A189E07E}"/>
              </a:ext>
            </a:extLst>
          </p:cNvPr>
          <p:cNvPicPr preferRelativeResize="0"/>
          <p:nvPr/>
        </p:nvPicPr>
        <p:blipFill rotWithShape="1">
          <a:blip r:embed="rId8">
            <a:alphaModFix/>
          </a:blip>
          <a:srcRect/>
          <a:stretch/>
        </p:blipFill>
        <p:spPr>
          <a:xfrm>
            <a:off x="8089850" y="2143125"/>
            <a:ext cx="3530500" cy="2143125"/>
          </a:xfrm>
          <a:prstGeom prst="rect">
            <a:avLst/>
          </a:prstGeom>
          <a:noFill/>
          <a:ln>
            <a:noFill/>
          </a:ln>
        </p:spPr>
      </p:pic>
      <p:sp>
        <p:nvSpPr>
          <p:cNvPr id="19" name="Google Shape;153;p16">
            <a:extLst>
              <a:ext uri="{FF2B5EF4-FFF2-40B4-BE49-F238E27FC236}">
                <a16:creationId xmlns:a16="http://schemas.microsoft.com/office/drawing/2014/main" id="{3A3C55D1-1764-1508-0286-5FAFD912FB5C}"/>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Justificación del Proyecto</a:t>
            </a:r>
            <a:endParaRPr dirty="0">
              <a:solidFill>
                <a:schemeClr val="bg2"/>
              </a:solidFill>
            </a:endParaRPr>
          </a:p>
        </p:txBody>
      </p:sp>
      <p:sp>
        <p:nvSpPr>
          <p:cNvPr id="23" name="TextBox 22"/>
          <p:cNvSpPr txBox="1"/>
          <p:nvPr/>
        </p:nvSpPr>
        <p:spPr>
          <a:xfrm>
            <a:off x="768096" y="2331720"/>
            <a:ext cx="3127248" cy="707886"/>
          </a:xfrm>
          <a:prstGeom prst="rect">
            <a:avLst/>
          </a:prstGeom>
          <a:noFill/>
        </p:spPr>
        <p:txBody>
          <a:bodyPr wrap="square">
            <a:spAutoFit/>
          </a:bodyPr>
          <a:lstStyle/>
          <a:p>
            <a:pPr algn="l"/>
            <a:r>
              <a:rPr sz="4000" b="1" dirty="0">
                <a:solidFill>
                  <a:schemeClr val="bg2"/>
                </a:solidFill>
                <a:latin typeface="Arial"/>
              </a:rPr>
              <a:t>71 %</a:t>
            </a:r>
          </a:p>
        </p:txBody>
      </p:sp>
      <p:sp>
        <p:nvSpPr>
          <p:cNvPr id="24" name="TextBox 23"/>
          <p:cNvSpPr txBox="1"/>
          <p:nvPr/>
        </p:nvSpPr>
        <p:spPr>
          <a:xfrm>
            <a:off x="768096" y="3035808"/>
            <a:ext cx="3127248" cy="307777"/>
          </a:xfrm>
          <a:prstGeom prst="rect">
            <a:avLst/>
          </a:prstGeom>
          <a:noFill/>
        </p:spPr>
        <p:txBody>
          <a:bodyPr wrap="square">
            <a:spAutoFit/>
          </a:bodyPr>
          <a:lstStyle/>
          <a:p>
            <a:pPr algn="l"/>
            <a:r>
              <a:rPr sz="1400" b="1" dirty="0">
                <a:solidFill>
                  <a:schemeClr val="bg2"/>
                </a:solidFill>
                <a:latin typeface="Arial"/>
              </a:rPr>
              <a:t>SE DESPLAZARON</a:t>
            </a:r>
          </a:p>
        </p:txBody>
      </p:sp>
      <p:sp>
        <p:nvSpPr>
          <p:cNvPr id="25" name="TextBox 24"/>
          <p:cNvSpPr txBox="1"/>
          <p:nvPr/>
        </p:nvSpPr>
        <p:spPr>
          <a:xfrm>
            <a:off x="768096" y="3364992"/>
            <a:ext cx="3017520" cy="1097280"/>
          </a:xfrm>
          <a:prstGeom prst="rect">
            <a:avLst/>
          </a:prstGeom>
          <a:noFill/>
        </p:spPr>
        <p:txBody>
          <a:bodyPr wrap="square">
            <a:spAutoFit/>
          </a:bodyPr>
          <a:lstStyle/>
          <a:p>
            <a:pPr algn="l"/>
            <a:r>
              <a:rPr sz="1500" b="0">
                <a:solidFill>
                  <a:srgbClr val="1A1A1A"/>
                </a:solidFill>
                <a:latin typeface="Arial"/>
              </a:rPr>
              <a:t>se ha desplazado únicamente para pedir o para cancelar su cita.</a:t>
            </a:r>
          </a:p>
        </p:txBody>
      </p:sp>
      <p:sp>
        <p:nvSpPr>
          <p:cNvPr id="26" name="TextBox 25"/>
          <p:cNvSpPr txBox="1"/>
          <p:nvPr/>
        </p:nvSpPr>
        <p:spPr>
          <a:xfrm>
            <a:off x="4526280" y="2331720"/>
            <a:ext cx="3127248" cy="707886"/>
          </a:xfrm>
          <a:prstGeom prst="rect">
            <a:avLst/>
          </a:prstGeom>
          <a:noFill/>
        </p:spPr>
        <p:txBody>
          <a:bodyPr wrap="square">
            <a:spAutoFit/>
          </a:bodyPr>
          <a:lstStyle/>
          <a:p>
            <a:pPr algn="l"/>
            <a:r>
              <a:rPr sz="4000" b="1" dirty="0">
                <a:solidFill>
                  <a:schemeClr val="bg2"/>
                </a:solidFill>
                <a:latin typeface="Arial"/>
              </a:rPr>
              <a:t>65 %</a:t>
            </a:r>
          </a:p>
        </p:txBody>
      </p:sp>
      <p:sp>
        <p:nvSpPr>
          <p:cNvPr id="27" name="TextBox 26"/>
          <p:cNvSpPr txBox="1"/>
          <p:nvPr/>
        </p:nvSpPr>
        <p:spPr>
          <a:xfrm>
            <a:off x="4526280" y="3035808"/>
            <a:ext cx="3127248" cy="307777"/>
          </a:xfrm>
          <a:prstGeom prst="rect">
            <a:avLst/>
          </a:prstGeom>
          <a:noFill/>
        </p:spPr>
        <p:txBody>
          <a:bodyPr wrap="square">
            <a:spAutoFit/>
          </a:bodyPr>
          <a:lstStyle/>
          <a:p>
            <a:pPr algn="l"/>
            <a:r>
              <a:rPr sz="1400" b="1" dirty="0">
                <a:solidFill>
                  <a:schemeClr val="bg2"/>
                </a:solidFill>
                <a:latin typeface="Arial"/>
              </a:rPr>
              <a:t>ESPERAN DEMASIADO</a:t>
            </a:r>
          </a:p>
        </p:txBody>
      </p:sp>
      <p:sp>
        <p:nvSpPr>
          <p:cNvPr id="28" name="TextBox 27"/>
          <p:cNvSpPr txBox="1"/>
          <p:nvPr/>
        </p:nvSpPr>
        <p:spPr>
          <a:xfrm>
            <a:off x="4526280" y="3364992"/>
            <a:ext cx="3017520" cy="1097280"/>
          </a:xfrm>
          <a:prstGeom prst="rect">
            <a:avLst/>
          </a:prstGeom>
          <a:noFill/>
        </p:spPr>
        <p:txBody>
          <a:bodyPr wrap="square">
            <a:spAutoFit/>
          </a:bodyPr>
          <a:lstStyle/>
          <a:p>
            <a:pPr algn="l"/>
            <a:r>
              <a:rPr sz="1500" b="0" dirty="0" err="1">
                <a:solidFill>
                  <a:srgbClr val="1A1A1A"/>
                </a:solidFill>
                <a:latin typeface="Arial"/>
              </a:rPr>
              <a:t>tarda</a:t>
            </a:r>
            <a:r>
              <a:rPr sz="1500" b="0" dirty="0">
                <a:solidFill>
                  <a:srgbClr val="1A1A1A"/>
                </a:solidFill>
                <a:latin typeface="Arial"/>
              </a:rPr>
              <a:t> </a:t>
            </a:r>
            <a:r>
              <a:rPr sz="1500" b="0" dirty="0" err="1">
                <a:solidFill>
                  <a:srgbClr val="1A1A1A"/>
                </a:solidFill>
                <a:latin typeface="Arial"/>
              </a:rPr>
              <a:t>más</a:t>
            </a:r>
            <a:r>
              <a:rPr sz="1500" b="0" dirty="0">
                <a:solidFill>
                  <a:srgbClr val="1A1A1A"/>
                </a:solidFill>
                <a:latin typeface="Arial"/>
              </a:rPr>
              <a:t> de media hora </a:t>
            </a:r>
            <a:r>
              <a:rPr sz="1500" b="0" dirty="0" err="1">
                <a:solidFill>
                  <a:srgbClr val="1A1A1A"/>
                </a:solidFill>
                <a:latin typeface="Arial"/>
              </a:rPr>
              <a:t>en</a:t>
            </a:r>
            <a:r>
              <a:rPr sz="1500" b="0" dirty="0">
                <a:solidFill>
                  <a:srgbClr val="1A1A1A"/>
                </a:solidFill>
                <a:latin typeface="Arial"/>
              </a:rPr>
              <a:t> que le </a:t>
            </a:r>
            <a:r>
              <a:rPr sz="1500" b="0" dirty="0" err="1">
                <a:solidFill>
                  <a:srgbClr val="1A1A1A"/>
                </a:solidFill>
                <a:latin typeface="Arial"/>
              </a:rPr>
              <a:t>asignen</a:t>
            </a:r>
            <a:r>
              <a:rPr sz="1500" b="0" dirty="0">
                <a:solidFill>
                  <a:srgbClr val="1A1A1A"/>
                </a:solidFill>
                <a:latin typeface="Arial"/>
              </a:rPr>
              <a:t> </a:t>
            </a:r>
            <a:r>
              <a:rPr sz="1500" b="0" dirty="0" err="1">
                <a:solidFill>
                  <a:srgbClr val="1A1A1A"/>
                </a:solidFill>
                <a:latin typeface="Arial"/>
              </a:rPr>
              <a:t>el</a:t>
            </a:r>
            <a:r>
              <a:rPr sz="1500" b="0" dirty="0">
                <a:solidFill>
                  <a:srgbClr val="1A1A1A"/>
                </a:solidFill>
                <a:latin typeface="Arial"/>
              </a:rPr>
              <a:t> </a:t>
            </a:r>
            <a:r>
              <a:rPr sz="1500" b="0" dirty="0" err="1">
                <a:solidFill>
                  <a:srgbClr val="1A1A1A"/>
                </a:solidFill>
                <a:latin typeface="Arial"/>
              </a:rPr>
              <a:t>turno</a:t>
            </a:r>
            <a:r>
              <a:rPr sz="1500" b="0" dirty="0">
                <a:solidFill>
                  <a:srgbClr val="1A1A1A"/>
                </a:solidFill>
                <a:latin typeface="Arial"/>
              </a:rPr>
              <a:t> de </a:t>
            </a:r>
            <a:r>
              <a:rPr sz="1500" b="0" dirty="0" err="1">
                <a:solidFill>
                  <a:srgbClr val="1A1A1A"/>
                </a:solidFill>
                <a:latin typeface="Arial"/>
              </a:rPr>
              <a:t>atención</a:t>
            </a:r>
            <a:r>
              <a:rPr sz="1500" b="0" dirty="0">
                <a:solidFill>
                  <a:srgbClr val="1A1A1A"/>
                </a:solidFill>
                <a:latin typeface="Arial"/>
              </a:rPr>
              <a:t>.</a:t>
            </a:r>
          </a:p>
        </p:txBody>
      </p:sp>
      <p:sp>
        <p:nvSpPr>
          <p:cNvPr id="29" name="TextBox 28"/>
          <p:cNvSpPr txBox="1"/>
          <p:nvPr/>
        </p:nvSpPr>
        <p:spPr>
          <a:xfrm>
            <a:off x="8293608" y="2331720"/>
            <a:ext cx="3127248" cy="707886"/>
          </a:xfrm>
          <a:prstGeom prst="rect">
            <a:avLst/>
          </a:prstGeom>
          <a:noFill/>
        </p:spPr>
        <p:txBody>
          <a:bodyPr wrap="square">
            <a:spAutoFit/>
          </a:bodyPr>
          <a:lstStyle/>
          <a:p>
            <a:pPr algn="l"/>
            <a:r>
              <a:rPr sz="4000" b="1" dirty="0">
                <a:solidFill>
                  <a:schemeClr val="bg2"/>
                </a:solidFill>
                <a:latin typeface="Arial"/>
              </a:rPr>
              <a:t>60 %</a:t>
            </a:r>
          </a:p>
        </p:txBody>
      </p:sp>
      <p:sp>
        <p:nvSpPr>
          <p:cNvPr id="30" name="TextBox 29"/>
          <p:cNvSpPr txBox="1"/>
          <p:nvPr/>
        </p:nvSpPr>
        <p:spPr>
          <a:xfrm>
            <a:off x="8293608" y="3035808"/>
            <a:ext cx="3127248" cy="307777"/>
          </a:xfrm>
          <a:prstGeom prst="rect">
            <a:avLst/>
          </a:prstGeom>
          <a:noFill/>
        </p:spPr>
        <p:txBody>
          <a:bodyPr wrap="square">
            <a:spAutoFit/>
          </a:bodyPr>
          <a:lstStyle/>
          <a:p>
            <a:pPr algn="l"/>
            <a:r>
              <a:rPr sz="1400" b="1" dirty="0">
                <a:solidFill>
                  <a:schemeClr val="bg2"/>
                </a:solidFill>
                <a:latin typeface="Arial"/>
              </a:rPr>
              <a:t>SUFRIERON UN CRUCE</a:t>
            </a:r>
          </a:p>
        </p:txBody>
      </p:sp>
      <p:sp>
        <p:nvSpPr>
          <p:cNvPr id="31" name="TextBox 30"/>
          <p:cNvSpPr txBox="1"/>
          <p:nvPr/>
        </p:nvSpPr>
        <p:spPr>
          <a:xfrm>
            <a:off x="8293608" y="3364992"/>
            <a:ext cx="3017520" cy="1097280"/>
          </a:xfrm>
          <a:prstGeom prst="rect">
            <a:avLst/>
          </a:prstGeom>
          <a:noFill/>
        </p:spPr>
        <p:txBody>
          <a:bodyPr wrap="square">
            <a:spAutoFit/>
          </a:bodyPr>
          <a:lstStyle/>
          <a:p>
            <a:pPr algn="l"/>
            <a:r>
              <a:rPr sz="1500" b="0" dirty="0">
                <a:solidFill>
                  <a:srgbClr val="1A1A1A"/>
                </a:solidFill>
                <a:latin typeface="Arial"/>
              </a:rPr>
              <a:t>ha </a:t>
            </a:r>
            <a:r>
              <a:rPr sz="1500" b="0" dirty="0" err="1">
                <a:solidFill>
                  <a:srgbClr val="1A1A1A"/>
                </a:solidFill>
                <a:latin typeface="Arial"/>
              </a:rPr>
              <a:t>recibido</a:t>
            </a:r>
            <a:r>
              <a:rPr sz="1500" b="0" dirty="0">
                <a:solidFill>
                  <a:srgbClr val="1A1A1A"/>
                </a:solidFill>
                <a:latin typeface="Arial"/>
              </a:rPr>
              <a:t> al </a:t>
            </a:r>
            <a:r>
              <a:rPr sz="1500" b="0" dirty="0" err="1">
                <a:solidFill>
                  <a:srgbClr val="1A1A1A"/>
                </a:solidFill>
                <a:latin typeface="Arial"/>
              </a:rPr>
              <a:t>menos</a:t>
            </a:r>
            <a:r>
              <a:rPr sz="1500" b="0" dirty="0">
                <a:solidFill>
                  <a:srgbClr val="1A1A1A"/>
                </a:solidFill>
                <a:latin typeface="Arial"/>
              </a:rPr>
              <a:t> </a:t>
            </a:r>
            <a:r>
              <a:rPr sz="1500" b="0" dirty="0" err="1">
                <a:solidFill>
                  <a:srgbClr val="1A1A1A"/>
                </a:solidFill>
                <a:latin typeface="Arial"/>
              </a:rPr>
              <a:t>una</a:t>
            </a:r>
            <a:r>
              <a:rPr sz="1500" b="0" dirty="0">
                <a:solidFill>
                  <a:srgbClr val="1A1A1A"/>
                </a:solidFill>
                <a:latin typeface="Arial"/>
              </a:rPr>
              <a:t> </a:t>
            </a:r>
            <a:r>
              <a:rPr sz="1500" b="0" dirty="0" err="1">
                <a:solidFill>
                  <a:srgbClr val="1A1A1A"/>
                </a:solidFill>
                <a:latin typeface="Arial"/>
              </a:rPr>
              <a:t>vez</a:t>
            </a:r>
            <a:r>
              <a:rPr sz="1500" b="0" dirty="0">
                <a:solidFill>
                  <a:srgbClr val="1A1A1A"/>
                </a:solidFill>
                <a:latin typeface="Arial"/>
              </a:rPr>
              <a:t> </a:t>
            </a:r>
            <a:r>
              <a:rPr sz="1500" b="0" dirty="0" err="1">
                <a:solidFill>
                  <a:srgbClr val="1A1A1A"/>
                </a:solidFill>
                <a:latin typeface="Arial"/>
              </a:rPr>
              <a:t>una</a:t>
            </a:r>
            <a:r>
              <a:rPr sz="1500" b="0" dirty="0">
                <a:solidFill>
                  <a:srgbClr val="1A1A1A"/>
                </a:solidFill>
                <a:latin typeface="Arial"/>
              </a:rPr>
              <a:t> </a:t>
            </a:r>
            <a:r>
              <a:rPr sz="1500" b="0" dirty="0" err="1">
                <a:solidFill>
                  <a:srgbClr val="1A1A1A"/>
                </a:solidFill>
                <a:latin typeface="Arial"/>
              </a:rPr>
              <a:t>cita</a:t>
            </a:r>
            <a:r>
              <a:rPr sz="1500" b="0" dirty="0">
                <a:solidFill>
                  <a:srgbClr val="1A1A1A"/>
                </a:solidFill>
                <a:latin typeface="Arial"/>
              </a:rPr>
              <a:t> </a:t>
            </a:r>
            <a:r>
              <a:rPr sz="1500" b="0" dirty="0" err="1">
                <a:solidFill>
                  <a:srgbClr val="1A1A1A"/>
                </a:solidFill>
                <a:latin typeface="Arial"/>
              </a:rPr>
              <a:t>cruzada</a:t>
            </a:r>
            <a:r>
              <a:rPr sz="1500" b="0" dirty="0">
                <a:solidFill>
                  <a:srgbClr val="1A1A1A"/>
                </a:solidFill>
                <a:latin typeface="Arial"/>
              </a:rPr>
              <a:t> con la de </a:t>
            </a:r>
            <a:r>
              <a:rPr sz="1500" b="0" dirty="0" err="1">
                <a:solidFill>
                  <a:srgbClr val="1A1A1A"/>
                </a:solidFill>
                <a:latin typeface="Arial"/>
              </a:rPr>
              <a:t>otro</a:t>
            </a:r>
            <a:r>
              <a:rPr sz="1500" b="0" dirty="0">
                <a:solidFill>
                  <a:srgbClr val="1A1A1A"/>
                </a:solidFill>
                <a:latin typeface="Arial"/>
              </a:rPr>
              <a:t> </a:t>
            </a:r>
            <a:r>
              <a:rPr sz="1500" b="0" dirty="0" err="1">
                <a:solidFill>
                  <a:srgbClr val="1A1A1A"/>
                </a:solidFill>
                <a:latin typeface="Arial"/>
              </a:rPr>
              <a:t>paciente</a:t>
            </a:r>
            <a:r>
              <a:rPr sz="1500" b="0" dirty="0">
                <a:solidFill>
                  <a:srgbClr val="1A1A1A"/>
                </a:solidFill>
                <a:latin typeface="Arial"/>
              </a:rPr>
              <a:t>.</a:t>
            </a:r>
          </a:p>
        </p:txBody>
      </p:sp>
      <p:sp>
        <p:nvSpPr>
          <p:cNvPr id="32" name="TextBox 31"/>
          <p:cNvSpPr txBox="1"/>
          <p:nvPr/>
        </p:nvSpPr>
        <p:spPr>
          <a:xfrm>
            <a:off x="850392" y="4901184"/>
            <a:ext cx="10515600" cy="830997"/>
          </a:xfrm>
          <a:prstGeom prst="rect">
            <a:avLst/>
          </a:prstGeom>
          <a:noFill/>
        </p:spPr>
        <p:txBody>
          <a:bodyPr wrap="square">
            <a:spAutoFit/>
          </a:bodyPr>
          <a:lstStyle/>
          <a:p>
            <a:pPr algn="l"/>
            <a:r>
              <a:rPr sz="2400" b="1" dirty="0" err="1">
                <a:solidFill>
                  <a:schemeClr val="bg2"/>
                </a:solidFill>
                <a:latin typeface="Arial"/>
              </a:rPr>
              <a:t>MediApp</a:t>
            </a:r>
            <a:r>
              <a:rPr sz="2400" b="1" dirty="0">
                <a:solidFill>
                  <a:schemeClr val="bg2"/>
                </a:solidFill>
                <a:latin typeface="Arial"/>
              </a:rPr>
              <a:t> </a:t>
            </a:r>
            <a:r>
              <a:rPr sz="2400" b="1" dirty="0" err="1">
                <a:solidFill>
                  <a:schemeClr val="bg2"/>
                </a:solidFill>
                <a:latin typeface="Arial"/>
              </a:rPr>
              <a:t>permite</a:t>
            </a:r>
            <a:r>
              <a:rPr sz="2400" b="1" dirty="0">
                <a:solidFill>
                  <a:schemeClr val="bg2"/>
                </a:solidFill>
                <a:latin typeface="Arial"/>
              </a:rPr>
              <a:t> al </a:t>
            </a:r>
            <a:r>
              <a:rPr sz="2400" b="1" dirty="0" err="1">
                <a:solidFill>
                  <a:schemeClr val="bg2"/>
                </a:solidFill>
                <a:latin typeface="Arial"/>
              </a:rPr>
              <a:t>paciente</a:t>
            </a:r>
            <a:r>
              <a:rPr sz="2400" b="1" dirty="0">
                <a:solidFill>
                  <a:schemeClr val="bg2"/>
                </a:solidFill>
                <a:latin typeface="Arial"/>
              </a:rPr>
              <a:t> </a:t>
            </a:r>
            <a:r>
              <a:rPr sz="2400" b="1" dirty="0" err="1">
                <a:solidFill>
                  <a:schemeClr val="bg2"/>
                </a:solidFill>
                <a:latin typeface="Arial"/>
              </a:rPr>
              <a:t>elegir</a:t>
            </a:r>
            <a:r>
              <a:rPr sz="2400" b="1" dirty="0">
                <a:solidFill>
                  <a:schemeClr val="bg2"/>
                </a:solidFill>
                <a:latin typeface="Arial"/>
              </a:rPr>
              <a:t> </a:t>
            </a:r>
            <a:r>
              <a:rPr sz="2400" b="1" dirty="0" err="1">
                <a:solidFill>
                  <a:schemeClr val="bg2"/>
                </a:solidFill>
                <a:latin typeface="Arial"/>
              </a:rPr>
              <a:t>el</a:t>
            </a:r>
            <a:r>
              <a:rPr sz="2400" b="1" dirty="0">
                <a:solidFill>
                  <a:schemeClr val="bg2"/>
                </a:solidFill>
                <a:latin typeface="Arial"/>
              </a:rPr>
              <a:t> </a:t>
            </a:r>
            <a:r>
              <a:rPr sz="2400" b="1" dirty="0" err="1">
                <a:solidFill>
                  <a:schemeClr val="bg2"/>
                </a:solidFill>
                <a:latin typeface="Arial"/>
              </a:rPr>
              <a:t>horario</a:t>
            </a:r>
            <a:r>
              <a:rPr sz="2400" b="1" dirty="0">
                <a:solidFill>
                  <a:schemeClr val="bg2"/>
                </a:solidFill>
                <a:latin typeface="Arial"/>
              </a:rPr>
              <a:t> libre y </a:t>
            </a:r>
            <a:r>
              <a:rPr sz="2400" b="1" dirty="0" err="1">
                <a:solidFill>
                  <a:schemeClr val="bg2"/>
                </a:solidFill>
                <a:latin typeface="Arial"/>
              </a:rPr>
              <a:t>dejar</a:t>
            </a:r>
            <a:r>
              <a:rPr sz="2400" b="1" dirty="0">
                <a:solidFill>
                  <a:schemeClr val="bg2"/>
                </a:solidFill>
                <a:latin typeface="Arial"/>
              </a:rPr>
              <a:t> </a:t>
            </a:r>
            <a:r>
              <a:rPr sz="2400" b="1" dirty="0" err="1">
                <a:solidFill>
                  <a:schemeClr val="bg2"/>
                </a:solidFill>
                <a:latin typeface="Arial"/>
              </a:rPr>
              <a:t>su</a:t>
            </a:r>
            <a:r>
              <a:rPr sz="2400" b="1" dirty="0">
                <a:solidFill>
                  <a:schemeClr val="bg2"/>
                </a:solidFill>
                <a:latin typeface="Arial"/>
              </a:rPr>
              <a:t> </a:t>
            </a:r>
            <a:r>
              <a:rPr sz="2400" b="1" dirty="0" err="1">
                <a:solidFill>
                  <a:schemeClr val="bg2"/>
                </a:solidFill>
                <a:latin typeface="Arial"/>
              </a:rPr>
              <a:t>cita</a:t>
            </a:r>
            <a:r>
              <a:rPr sz="2400" b="1" dirty="0">
                <a:solidFill>
                  <a:schemeClr val="bg2"/>
                </a:solidFill>
                <a:latin typeface="Arial"/>
              </a:rPr>
              <a:t> </a:t>
            </a:r>
            <a:r>
              <a:rPr sz="2400" b="1" dirty="0" err="1">
                <a:solidFill>
                  <a:schemeClr val="bg2"/>
                </a:solidFill>
                <a:latin typeface="Arial"/>
              </a:rPr>
              <a:t>en</a:t>
            </a:r>
            <a:r>
              <a:rPr sz="2400" b="1" dirty="0">
                <a:solidFill>
                  <a:schemeClr val="bg2"/>
                </a:solidFill>
                <a:latin typeface="Arial"/>
              </a:rPr>
              <a:t> </a:t>
            </a:r>
            <a:r>
              <a:rPr sz="2400" b="1" dirty="0" err="1">
                <a:solidFill>
                  <a:schemeClr val="bg2"/>
                </a:solidFill>
                <a:latin typeface="Arial"/>
              </a:rPr>
              <a:t>firme</a:t>
            </a:r>
            <a:r>
              <a:rPr sz="2400" b="1" dirty="0">
                <a:solidFill>
                  <a:schemeClr val="bg2"/>
                </a:solidFill>
                <a:latin typeface="Arial"/>
              </a:rPr>
              <a:t> sin pasar </a:t>
            </a:r>
            <a:r>
              <a:rPr sz="2400" b="1" dirty="0" err="1">
                <a:solidFill>
                  <a:schemeClr val="bg2"/>
                </a:solidFill>
                <a:latin typeface="Arial"/>
              </a:rPr>
              <a:t>por</a:t>
            </a:r>
            <a:r>
              <a:rPr sz="2400" b="1" dirty="0">
                <a:solidFill>
                  <a:schemeClr val="bg2"/>
                </a:solidFill>
                <a:latin typeface="Arial"/>
              </a:rPr>
              <a:t> la </a:t>
            </a:r>
            <a:r>
              <a:rPr sz="2400" b="1" dirty="0" err="1">
                <a:solidFill>
                  <a:schemeClr val="bg2"/>
                </a:solidFill>
                <a:latin typeface="Arial"/>
              </a:rPr>
              <a:t>ventanilla</a:t>
            </a:r>
            <a:r>
              <a:rPr sz="2400" b="1" dirty="0">
                <a:solidFill>
                  <a:schemeClr val="bg2"/>
                </a:solidFill>
                <a:latin typeface="Arial"/>
              </a:rPr>
              <a:t>.</a:t>
            </a:r>
          </a:p>
        </p:txBody>
      </p:sp>
    </p:spTree>
    <p:extLst>
      <p:ext uri="{BB962C8B-B14F-4D97-AF65-F5344CB8AC3E}">
        <p14:creationId xmlns:p14="http://schemas.microsoft.com/office/powerpoint/2010/main" val="1556841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8" name="Imagen 7">
            <a:extLst>
              <a:ext uri="{FF2B5EF4-FFF2-40B4-BE49-F238E27FC236}">
                <a16:creationId xmlns:a16="http://schemas.microsoft.com/office/drawing/2014/main" id="{272611BD-5090-88E2-8DB2-78DB7477A217}"/>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Objetivo General</a:t>
            </a:r>
            <a:endParaRPr dirty="0">
              <a:solidFill>
                <a:schemeClr val="bg2"/>
              </a:solidFill>
            </a:endParaRPr>
          </a:p>
        </p:txBody>
      </p:sp>
      <p:sp>
        <p:nvSpPr>
          <p:cNvPr id="24" name="TextBox 23"/>
          <p:cNvSpPr txBox="1"/>
          <p:nvPr/>
        </p:nvSpPr>
        <p:spPr>
          <a:xfrm>
            <a:off x="1249679" y="2603680"/>
            <a:ext cx="9692640" cy="2092881"/>
          </a:xfrm>
          <a:prstGeom prst="rect">
            <a:avLst/>
          </a:prstGeom>
          <a:noFill/>
        </p:spPr>
        <p:txBody>
          <a:bodyPr wrap="square">
            <a:spAutoFit/>
          </a:bodyPr>
          <a:lstStyle/>
          <a:p>
            <a:pPr algn="ctr"/>
            <a:r>
              <a:rPr lang="es-MX" sz="2600" b="1" dirty="0">
                <a:solidFill>
                  <a:schemeClr val="bg2"/>
                </a:solidFill>
              </a:rPr>
              <a:t>Desarrollar MediApp, un sistema web de agendamiento de citas médicas con acceso diferenciado para administrador, médico y paciente, que permita gestionar la disponibilidad de la atención médica y controlar el historial clínico en centros de salud.</a:t>
            </a:r>
            <a:endParaRPr sz="2600" b="1" dirty="0">
              <a:solidFill>
                <a:schemeClr val="bg2"/>
              </a:solidFill>
              <a:latin typeface="Arial"/>
            </a:endParaRPr>
          </a:p>
        </p:txBody>
      </p:sp>
    </p:spTree>
    <p:extLst>
      <p:ext uri="{BB962C8B-B14F-4D97-AF65-F5344CB8AC3E}">
        <p14:creationId xmlns:p14="http://schemas.microsoft.com/office/powerpoint/2010/main" val="968519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8" name="Imagen 7">
            <a:extLst>
              <a:ext uri="{FF2B5EF4-FFF2-40B4-BE49-F238E27FC236}">
                <a16:creationId xmlns:a16="http://schemas.microsoft.com/office/drawing/2014/main" id="{4B0AA0B5-E4A9-52D1-B9C7-4150FF2200E4}"/>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Objetivos Específicos</a:t>
            </a:r>
            <a:endParaRPr dirty="0">
              <a:solidFill>
                <a:schemeClr val="bg2"/>
              </a:solidFill>
            </a:endParaRPr>
          </a:p>
        </p:txBody>
      </p:sp>
      <p:sp>
        <p:nvSpPr>
          <p:cNvPr id="24" name="TextBox 23"/>
          <p:cNvSpPr txBox="1"/>
          <p:nvPr/>
        </p:nvSpPr>
        <p:spPr>
          <a:xfrm>
            <a:off x="883919" y="1805419"/>
            <a:ext cx="10424160" cy="1200329"/>
          </a:xfrm>
          <a:prstGeom prst="rect">
            <a:avLst/>
          </a:prstGeom>
          <a:noFill/>
        </p:spPr>
        <p:txBody>
          <a:bodyPr wrap="square">
            <a:spAutoFit/>
          </a:bodyPr>
          <a:lstStyle/>
          <a:p>
            <a:r>
              <a:rPr sz="2400" dirty="0">
                <a:solidFill>
                  <a:srgbClr val="1A1A1A"/>
                </a:solidFill>
                <a:latin typeface="Arial"/>
              </a:rPr>
              <a:t>1. Facilitar la programación de la atención médica mediante un módulo interactivo que permita al administrador y al paciente agendar citas de forma intuitiva.</a:t>
            </a:r>
            <a:endParaRPr sz="2400" dirty="0">
              <a:solidFill>
                <a:srgbClr val="33373D"/>
              </a:solidFill>
            </a:endParaRPr>
          </a:p>
        </p:txBody>
      </p:sp>
      <p:sp>
        <p:nvSpPr>
          <p:cNvPr id="25" name="TextBox 24"/>
          <p:cNvSpPr txBox="1"/>
          <p:nvPr/>
        </p:nvSpPr>
        <p:spPr>
          <a:xfrm>
            <a:off x="883919" y="3135954"/>
            <a:ext cx="10424160" cy="1200329"/>
          </a:xfrm>
          <a:prstGeom prst="rect">
            <a:avLst/>
          </a:prstGeom>
          <a:noFill/>
        </p:spPr>
        <p:txBody>
          <a:bodyPr wrap="square">
            <a:spAutoFit/>
          </a:bodyPr>
          <a:lstStyle/>
          <a:p>
            <a:r>
              <a:rPr sz="2400" dirty="0">
                <a:solidFill>
                  <a:srgbClr val="1A1A1A"/>
                </a:solidFill>
                <a:latin typeface="Arial"/>
              </a:rPr>
              <a:t>2. Habilitar la gestión del acto clínico como responsabilidad exclusiva del médico tratante para la creación y actualización de historias clínicas, diagnósticos y prescripciones.</a:t>
            </a:r>
            <a:endParaRPr lang="es-CO" sz="2400" dirty="0">
              <a:solidFill>
                <a:srgbClr val="33373D"/>
              </a:solidFill>
            </a:endParaRPr>
          </a:p>
        </p:txBody>
      </p:sp>
      <p:sp>
        <p:nvSpPr>
          <p:cNvPr id="26" name="TextBox 25"/>
          <p:cNvSpPr txBox="1"/>
          <p:nvPr/>
        </p:nvSpPr>
        <p:spPr>
          <a:xfrm>
            <a:off x="883919" y="4466489"/>
            <a:ext cx="10424160" cy="1200329"/>
          </a:xfrm>
          <a:prstGeom prst="rect">
            <a:avLst/>
          </a:prstGeom>
          <a:noFill/>
        </p:spPr>
        <p:txBody>
          <a:bodyPr wrap="square">
            <a:spAutoFit/>
          </a:bodyPr>
          <a:lstStyle/>
          <a:p>
            <a:r>
              <a:rPr sz="2400" dirty="0">
                <a:solidFill>
                  <a:srgbClr val="1A1A1A"/>
                </a:solidFill>
                <a:latin typeface="Arial"/>
              </a:rPr>
              <a:t>3. Garantizar la confidencialidad de la información médica mediante un control de acceso basado en roles que restrinja la visualización y la edición según el perfil del usuario.</a:t>
            </a:r>
            <a:endParaRPr lang="es-CO" sz="2400" dirty="0">
              <a:solidFill>
                <a:srgbClr val="33373D"/>
              </a:solidFill>
            </a:endParaRPr>
          </a:p>
        </p:txBody>
      </p:sp>
    </p:spTree>
    <p:extLst>
      <p:ext uri="{BB962C8B-B14F-4D97-AF65-F5344CB8AC3E}">
        <p14:creationId xmlns:p14="http://schemas.microsoft.com/office/powerpoint/2010/main" val="25948217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3FE379AC-14BA-0D80-78A8-2080EA36BF69}"/>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Alcance</a:t>
            </a:r>
            <a:endParaRPr dirty="0">
              <a:solidFill>
                <a:schemeClr val="bg2"/>
              </a:solidFill>
            </a:endParaRPr>
          </a:p>
        </p:txBody>
      </p:sp>
      <p:sp>
        <p:nvSpPr>
          <p:cNvPr id="24" name="TextBox 23"/>
          <p:cNvSpPr txBox="1"/>
          <p:nvPr/>
        </p:nvSpPr>
        <p:spPr>
          <a:xfrm>
            <a:off x="822960" y="1463040"/>
            <a:ext cx="4937760" cy="430887"/>
          </a:xfrm>
          <a:prstGeom prst="rect">
            <a:avLst/>
          </a:prstGeom>
          <a:noFill/>
        </p:spPr>
        <p:txBody>
          <a:bodyPr wrap="square">
            <a:spAutoFit/>
          </a:bodyPr>
          <a:lstStyle/>
          <a:p>
            <a:pPr algn="l"/>
            <a:r>
              <a:rPr sz="2200" b="1" dirty="0">
                <a:solidFill>
                  <a:schemeClr val="bg2"/>
                </a:solidFill>
                <a:latin typeface="Arial"/>
              </a:rPr>
              <a:t>Lo que el sistema hace</a:t>
            </a:r>
          </a:p>
        </p:txBody>
      </p:sp>
      <p:sp>
        <p:nvSpPr>
          <p:cNvPr id="25" name="TextBox 24"/>
          <p:cNvSpPr txBox="1"/>
          <p:nvPr/>
        </p:nvSpPr>
        <p:spPr>
          <a:xfrm>
            <a:off x="822960" y="2011680"/>
            <a:ext cx="4937760" cy="786384"/>
          </a:xfrm>
          <a:prstGeom prst="rect">
            <a:avLst/>
          </a:prstGeom>
          <a:noFill/>
        </p:spPr>
        <p:txBody>
          <a:bodyPr wrap="square">
            <a:spAutoFit/>
          </a:bodyPr>
          <a:lstStyle/>
          <a:p>
            <a:r>
              <a:rPr sz="1700">
                <a:solidFill>
                  <a:srgbClr val="1A1A1A"/>
                </a:solidFill>
                <a:latin typeface="Arial"/>
              </a:rPr>
              <a:t>Agenda citas sobre un calendario de disponibilidad real.</a:t>
            </a:r>
          </a:p>
        </p:txBody>
      </p:sp>
      <p:sp>
        <p:nvSpPr>
          <p:cNvPr id="26" name="TextBox 25"/>
          <p:cNvSpPr txBox="1"/>
          <p:nvPr/>
        </p:nvSpPr>
        <p:spPr>
          <a:xfrm>
            <a:off x="822960" y="2798064"/>
            <a:ext cx="4937760" cy="786384"/>
          </a:xfrm>
          <a:prstGeom prst="rect">
            <a:avLst/>
          </a:prstGeom>
          <a:noFill/>
        </p:spPr>
        <p:txBody>
          <a:bodyPr wrap="square">
            <a:spAutoFit/>
          </a:bodyPr>
          <a:lstStyle/>
          <a:p>
            <a:r>
              <a:rPr sz="1700">
                <a:solidFill>
                  <a:srgbClr val="1A1A1A"/>
                </a:solidFill>
                <a:latin typeface="Arial"/>
              </a:rPr>
              <a:t>Aplica en el servidor la separación mínima de 30 minutos.</a:t>
            </a:r>
          </a:p>
        </p:txBody>
      </p:sp>
      <p:sp>
        <p:nvSpPr>
          <p:cNvPr id="27" name="TextBox 26"/>
          <p:cNvSpPr txBox="1"/>
          <p:nvPr/>
        </p:nvSpPr>
        <p:spPr>
          <a:xfrm>
            <a:off x="822960" y="3584448"/>
            <a:ext cx="4937760" cy="786384"/>
          </a:xfrm>
          <a:prstGeom prst="rect">
            <a:avLst/>
          </a:prstGeom>
          <a:noFill/>
        </p:spPr>
        <p:txBody>
          <a:bodyPr wrap="square">
            <a:spAutoFit/>
          </a:bodyPr>
          <a:lstStyle/>
          <a:p>
            <a:r>
              <a:rPr sz="1700">
                <a:solidFill>
                  <a:srgbClr val="1A1A1A"/>
                </a:solidFill>
                <a:latin typeface="Arial"/>
              </a:rPr>
              <a:t>Reserva al médico la historia, el diagnóstico y la receta.</a:t>
            </a:r>
          </a:p>
        </p:txBody>
      </p:sp>
      <p:sp>
        <p:nvSpPr>
          <p:cNvPr id="28" name="TextBox 27"/>
          <p:cNvSpPr txBox="1"/>
          <p:nvPr/>
        </p:nvSpPr>
        <p:spPr>
          <a:xfrm>
            <a:off x="822960" y="4370832"/>
            <a:ext cx="4937760" cy="786384"/>
          </a:xfrm>
          <a:prstGeom prst="rect">
            <a:avLst/>
          </a:prstGeom>
          <a:noFill/>
        </p:spPr>
        <p:txBody>
          <a:bodyPr wrap="square">
            <a:spAutoFit/>
          </a:bodyPr>
          <a:lstStyle/>
          <a:p>
            <a:r>
              <a:rPr sz="1700">
                <a:solidFill>
                  <a:srgbClr val="1A1A1A"/>
                </a:solidFill>
                <a:latin typeface="Arial"/>
              </a:rPr>
              <a:t>Permite al paciente consultar sus historias y sus recetas.</a:t>
            </a:r>
          </a:p>
        </p:txBody>
      </p:sp>
      <p:sp>
        <p:nvSpPr>
          <p:cNvPr id="29" name="TextBox 28"/>
          <p:cNvSpPr txBox="1"/>
          <p:nvPr/>
        </p:nvSpPr>
        <p:spPr>
          <a:xfrm>
            <a:off x="822960" y="5157216"/>
            <a:ext cx="4937760" cy="786384"/>
          </a:xfrm>
          <a:prstGeom prst="rect">
            <a:avLst/>
          </a:prstGeom>
          <a:noFill/>
        </p:spPr>
        <p:txBody>
          <a:bodyPr wrap="square">
            <a:spAutoFit/>
          </a:bodyPr>
          <a:lstStyle/>
          <a:p>
            <a:r>
              <a:rPr sz="1700">
                <a:solidFill>
                  <a:srgbClr val="1A1A1A"/>
                </a:solidFill>
                <a:latin typeface="Arial"/>
              </a:rPr>
              <a:t>Registra los exámenes de laboratorio y sus resultados.</a:t>
            </a:r>
          </a:p>
        </p:txBody>
      </p:sp>
      <p:sp>
        <p:nvSpPr>
          <p:cNvPr id="30" name="TextBox 29"/>
          <p:cNvSpPr txBox="1"/>
          <p:nvPr/>
        </p:nvSpPr>
        <p:spPr>
          <a:xfrm>
            <a:off x="6309360" y="1463040"/>
            <a:ext cx="5029200" cy="430887"/>
          </a:xfrm>
          <a:prstGeom prst="rect">
            <a:avLst/>
          </a:prstGeom>
          <a:noFill/>
        </p:spPr>
        <p:txBody>
          <a:bodyPr wrap="square">
            <a:spAutoFit/>
          </a:bodyPr>
          <a:lstStyle/>
          <a:p>
            <a:pPr algn="l"/>
            <a:r>
              <a:rPr sz="2200" b="1" dirty="0">
                <a:solidFill>
                  <a:schemeClr val="bg2"/>
                </a:solidFill>
                <a:latin typeface="Arial"/>
              </a:rPr>
              <a:t>Lo que queda fuera de esta versión</a:t>
            </a:r>
          </a:p>
        </p:txBody>
      </p:sp>
      <p:sp>
        <p:nvSpPr>
          <p:cNvPr id="31" name="TextBox 30"/>
          <p:cNvSpPr txBox="1"/>
          <p:nvPr/>
        </p:nvSpPr>
        <p:spPr>
          <a:xfrm>
            <a:off x="6309360" y="2011680"/>
            <a:ext cx="5029200" cy="960120"/>
          </a:xfrm>
          <a:prstGeom prst="rect">
            <a:avLst/>
          </a:prstGeom>
          <a:noFill/>
        </p:spPr>
        <p:txBody>
          <a:bodyPr wrap="square">
            <a:spAutoFit/>
          </a:bodyPr>
          <a:lstStyle/>
          <a:p>
            <a:r>
              <a:rPr sz="1700">
                <a:solidFill>
                  <a:srgbClr val="1A1A1A"/>
                </a:solidFill>
                <a:latin typeface="Arial"/>
              </a:rPr>
              <a:t>La notificación por correo o mensaje de texto, que exige un servicio contratado.</a:t>
            </a:r>
          </a:p>
        </p:txBody>
      </p:sp>
      <p:sp>
        <p:nvSpPr>
          <p:cNvPr id="32" name="TextBox 31"/>
          <p:cNvSpPr txBox="1"/>
          <p:nvPr/>
        </p:nvSpPr>
        <p:spPr>
          <a:xfrm>
            <a:off x="6309360" y="2971800"/>
            <a:ext cx="5029200" cy="960120"/>
          </a:xfrm>
          <a:prstGeom prst="rect">
            <a:avLst/>
          </a:prstGeom>
          <a:noFill/>
        </p:spPr>
        <p:txBody>
          <a:bodyPr wrap="square">
            <a:spAutoFit/>
          </a:bodyPr>
          <a:lstStyle/>
          <a:p>
            <a:r>
              <a:rPr sz="1700">
                <a:solidFill>
                  <a:srgbClr val="1A1A1A"/>
                </a:solidFill>
                <a:latin typeface="Arial"/>
              </a:rPr>
              <a:t>El cifrado en reposo y en tránsito, que depende del despliegue.</a:t>
            </a:r>
          </a:p>
        </p:txBody>
      </p:sp>
      <p:sp>
        <p:nvSpPr>
          <p:cNvPr id="33" name="TextBox 32"/>
          <p:cNvSpPr txBox="1"/>
          <p:nvPr/>
        </p:nvSpPr>
        <p:spPr>
          <a:xfrm>
            <a:off x="6309360" y="3931920"/>
            <a:ext cx="5029200" cy="960120"/>
          </a:xfrm>
          <a:prstGeom prst="rect">
            <a:avLst/>
          </a:prstGeom>
          <a:noFill/>
        </p:spPr>
        <p:txBody>
          <a:bodyPr wrap="square">
            <a:spAutoFit/>
          </a:bodyPr>
          <a:lstStyle/>
          <a:p>
            <a:r>
              <a:rPr sz="1700">
                <a:solidFill>
                  <a:srgbClr val="1A1A1A"/>
                </a:solidFill>
                <a:latin typeface="Arial"/>
              </a:rPr>
              <a:t>La firma digital certificada de la historia clínica.</a:t>
            </a:r>
          </a:p>
        </p:txBody>
      </p:sp>
      <p:sp>
        <p:nvSpPr>
          <p:cNvPr id="34" name="TextBox 33"/>
          <p:cNvSpPr txBox="1"/>
          <p:nvPr/>
        </p:nvSpPr>
        <p:spPr>
          <a:xfrm>
            <a:off x="6309360" y="4539320"/>
            <a:ext cx="5029200" cy="960120"/>
          </a:xfrm>
          <a:prstGeom prst="rect">
            <a:avLst/>
          </a:prstGeom>
          <a:noFill/>
        </p:spPr>
        <p:txBody>
          <a:bodyPr wrap="square">
            <a:spAutoFit/>
          </a:bodyPr>
          <a:lstStyle/>
          <a:p>
            <a:r>
              <a:rPr sz="1700" dirty="0">
                <a:solidFill>
                  <a:srgbClr val="1A1A1A"/>
                </a:solidFill>
                <a:latin typeface="Arial"/>
              </a:rPr>
              <a:t>La aplicación móvil nativa, porque la interfaz ya responde en el navegador.</a:t>
            </a:r>
          </a:p>
        </p:txBody>
      </p:sp>
    </p:spTree>
    <p:extLst>
      <p:ext uri="{BB962C8B-B14F-4D97-AF65-F5344CB8AC3E}">
        <p14:creationId xmlns:p14="http://schemas.microsoft.com/office/powerpoint/2010/main" val="522629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7" name="Imagen 6">
            <a:extLst>
              <a:ext uri="{FF2B5EF4-FFF2-40B4-BE49-F238E27FC236}">
                <a16:creationId xmlns:a16="http://schemas.microsoft.com/office/drawing/2014/main" id="{55135A98-CE2B-358F-3B61-F64EC00709FA}"/>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3010889"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Riesgos</a:t>
            </a:r>
            <a:endParaRPr dirty="0">
              <a:solidFill>
                <a:schemeClr val="bg2"/>
              </a:solidFill>
            </a:endParaRPr>
          </a:p>
        </p:txBody>
      </p:sp>
      <p:sp>
        <p:nvSpPr>
          <p:cNvPr id="24" name="TextBox 23"/>
          <p:cNvSpPr txBox="1"/>
          <p:nvPr/>
        </p:nvSpPr>
        <p:spPr>
          <a:xfrm>
            <a:off x="866794" y="1379055"/>
            <a:ext cx="10424160" cy="749808"/>
          </a:xfrm>
          <a:prstGeom prst="rect">
            <a:avLst/>
          </a:prstGeom>
          <a:noFill/>
        </p:spPr>
        <p:txBody>
          <a:bodyPr wrap="square">
            <a:spAutoFit/>
          </a:bodyPr>
          <a:lstStyle/>
          <a:p>
            <a:r>
              <a:rPr sz="1800" dirty="0">
                <a:solidFill>
                  <a:srgbClr val="1A1A1A"/>
                </a:solidFill>
                <a:latin typeface="Arial"/>
              </a:rPr>
              <a:t>Que la documentación se acumule para el final y el equipo llegue sin tiempo.</a:t>
            </a:r>
          </a:p>
        </p:txBody>
      </p:sp>
      <p:sp>
        <p:nvSpPr>
          <p:cNvPr id="25" name="TextBox 24"/>
          <p:cNvSpPr txBox="1"/>
          <p:nvPr/>
        </p:nvSpPr>
        <p:spPr>
          <a:xfrm>
            <a:off x="866794" y="2060756"/>
            <a:ext cx="10424160" cy="749808"/>
          </a:xfrm>
          <a:prstGeom prst="rect">
            <a:avLst/>
          </a:prstGeom>
          <a:noFill/>
        </p:spPr>
        <p:txBody>
          <a:bodyPr wrap="square">
            <a:spAutoFit/>
          </a:bodyPr>
          <a:lstStyle/>
          <a:p>
            <a:r>
              <a:rPr sz="1800" dirty="0">
                <a:solidFill>
                  <a:srgbClr val="1A1A1A"/>
                </a:solidFill>
                <a:latin typeface="Arial"/>
              </a:rPr>
              <a:t>Que quede sin atender alguna observación de la sustentación anterior.</a:t>
            </a:r>
          </a:p>
        </p:txBody>
      </p:sp>
      <p:sp>
        <p:nvSpPr>
          <p:cNvPr id="26" name="TextBox 25"/>
          <p:cNvSpPr txBox="1"/>
          <p:nvPr/>
        </p:nvSpPr>
        <p:spPr>
          <a:xfrm>
            <a:off x="866794" y="2658758"/>
            <a:ext cx="10424160" cy="749808"/>
          </a:xfrm>
          <a:prstGeom prst="rect">
            <a:avLst/>
          </a:prstGeom>
          <a:noFill/>
        </p:spPr>
        <p:txBody>
          <a:bodyPr wrap="square">
            <a:spAutoFit/>
          </a:bodyPr>
          <a:lstStyle/>
          <a:p>
            <a:r>
              <a:rPr sz="1800" dirty="0">
                <a:solidFill>
                  <a:srgbClr val="1A1A1A"/>
                </a:solidFill>
                <a:latin typeface="Arial"/>
              </a:rPr>
              <a:t>Que el entorno local falle el día de la sustentación y no pueda mostrarse el sistema.</a:t>
            </a:r>
          </a:p>
        </p:txBody>
      </p:sp>
      <p:sp>
        <p:nvSpPr>
          <p:cNvPr id="27" name="TextBox 26"/>
          <p:cNvSpPr txBox="1"/>
          <p:nvPr/>
        </p:nvSpPr>
        <p:spPr>
          <a:xfrm>
            <a:off x="609599" y="3630135"/>
            <a:ext cx="2934689" cy="415498"/>
          </a:xfrm>
          <a:prstGeom prst="rect">
            <a:avLst/>
          </a:prstGeom>
          <a:noFill/>
          <a:ln>
            <a:noFill/>
          </a:ln>
        </p:spPr>
        <p:txBody>
          <a:bodyPr spcFirstLastPara="1" wrap="square" lIns="0" tIns="0" rIns="0" bIns="0" anchor="ctr" anchorCtr="0">
            <a:spAutoFit/>
          </a:bodyPr>
          <a:lstStyle>
            <a:defPPr marR="0" lvl="0" algn="l" rtl="0">
              <a:lnSpc>
                <a:spcPct val="100000"/>
              </a:lnSpc>
              <a:spcBef>
                <a:spcPts val="0"/>
              </a:spcBef>
              <a:spcAft>
                <a:spcPts val="0"/>
              </a:spcAft>
            </a:defPPr>
            <a:lvl1pPr marL="0" indent="0">
              <a:buNone/>
              <a:defRPr sz="2700">
                <a:solidFill>
                  <a:srgbClr val="003366"/>
                </a:solidFill>
                <a:latin typeface="Plus Jakarta Sans ExtraBold"/>
                <a:cs typeface="Plus Jakarta Sans ExtraBold"/>
              </a:defRPr>
            </a:lvl1pPr>
          </a:lstStyle>
          <a:p>
            <a:r>
              <a:rPr dirty="0" err="1">
                <a:solidFill>
                  <a:schemeClr val="bg2"/>
                </a:solidFill>
              </a:rPr>
              <a:t>Restricciones</a:t>
            </a:r>
            <a:endParaRPr dirty="0">
              <a:solidFill>
                <a:schemeClr val="bg2"/>
              </a:solidFill>
            </a:endParaRPr>
          </a:p>
        </p:txBody>
      </p:sp>
      <p:sp>
        <p:nvSpPr>
          <p:cNvPr id="28" name="TextBox 27"/>
          <p:cNvSpPr txBox="1"/>
          <p:nvPr/>
        </p:nvSpPr>
        <p:spPr>
          <a:xfrm>
            <a:off x="866794" y="4488771"/>
            <a:ext cx="10424160" cy="713232"/>
          </a:xfrm>
          <a:prstGeom prst="rect">
            <a:avLst/>
          </a:prstGeom>
          <a:noFill/>
        </p:spPr>
        <p:txBody>
          <a:bodyPr wrap="square">
            <a:spAutoFit/>
          </a:bodyPr>
          <a:lstStyle/>
          <a:p>
            <a:r>
              <a:rPr sz="1800" dirty="0">
                <a:solidFill>
                  <a:srgbClr val="1A1A1A"/>
                </a:solidFill>
                <a:latin typeface="Arial"/>
              </a:rPr>
              <a:t>El sistema opera sobre un entorno local con XAMPP y no sobre producción.</a:t>
            </a:r>
          </a:p>
        </p:txBody>
      </p:sp>
      <p:sp>
        <p:nvSpPr>
          <p:cNvPr id="29" name="TextBox 28"/>
          <p:cNvSpPr txBox="1"/>
          <p:nvPr/>
        </p:nvSpPr>
        <p:spPr>
          <a:xfrm>
            <a:off x="866794" y="5102366"/>
            <a:ext cx="10424160" cy="713232"/>
          </a:xfrm>
          <a:prstGeom prst="rect">
            <a:avLst/>
          </a:prstGeom>
          <a:noFill/>
        </p:spPr>
        <p:txBody>
          <a:bodyPr wrap="square">
            <a:spAutoFit/>
          </a:bodyPr>
          <a:lstStyle/>
          <a:p>
            <a:r>
              <a:rPr sz="1800" dirty="0" err="1">
                <a:solidFill>
                  <a:srgbClr val="1A1A1A"/>
                </a:solidFill>
                <a:latin typeface="Arial"/>
              </a:rPr>
              <a:t>El calendario solo ofrece turnos de los médicos con disponibilidad cargada.</a:t>
            </a:r>
          </a:p>
        </p:txBody>
      </p:sp>
      <p:sp>
        <p:nvSpPr>
          <p:cNvPr id="30" name="TextBox 29"/>
          <p:cNvSpPr txBox="1"/>
          <p:nvPr/>
        </p:nvSpPr>
        <p:spPr>
          <a:xfrm>
            <a:off x="866794" y="5920700"/>
            <a:ext cx="10424160" cy="713232"/>
          </a:xfrm>
          <a:prstGeom prst="rect">
            <a:avLst/>
          </a:prstGeom>
          <a:noFill/>
        </p:spPr>
        <p:txBody>
          <a:bodyPr wrap="square">
            <a:spAutoFit/>
          </a:bodyPr>
          <a:lstStyle/>
          <a:p>
            <a:r>
              <a:rPr sz="1800" dirty="0">
                <a:solidFill>
                  <a:srgbClr val="1A1A1A"/>
                </a:solidFill>
                <a:latin typeface="Arial"/>
              </a:rPr>
              <a:t>La operación requiere la base de datos, porque las reglas se resuelven en el servidor.</a:t>
            </a:r>
          </a:p>
        </p:txBody>
      </p:sp>
    </p:spTree>
    <p:extLst>
      <p:ext uri="{BB962C8B-B14F-4D97-AF65-F5344CB8AC3E}">
        <p14:creationId xmlns:p14="http://schemas.microsoft.com/office/powerpoint/2010/main" val="2850514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B496BD96-8A3E-82A4-36C0-B5786AAABEE1}"/>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Cronograma de Actividades</a:t>
            </a:r>
            <a:endParaRPr dirty="0">
              <a:solidFill>
                <a:schemeClr val="bg2"/>
              </a:solidFill>
            </a:endParaRPr>
          </a:p>
        </p:txBody>
      </p:sp>
      <p:pic>
        <p:nvPicPr>
          <p:cNvPr id="3" name="Imagen 2">
            <a:extLst>
              <a:ext uri="{FF2B5EF4-FFF2-40B4-BE49-F238E27FC236}">
                <a16:creationId xmlns:a16="http://schemas.microsoft.com/office/drawing/2014/main" id="{6BB79987-214D-2C75-1C6F-01079C1BA8EE}"/>
              </a:ext>
            </a:extLst>
          </p:cNvPr>
          <p:cNvPicPr>
            <a:picLocks noChangeAspect="1"/>
          </p:cNvPicPr>
          <p:nvPr/>
        </p:nvPicPr>
        <p:blipFill rotWithShape="1">
          <a:blip r:embed="rId5"/>
          <a:srcRect l="6757"/>
          <a:stretch/>
        </p:blipFill>
        <p:spPr>
          <a:xfrm>
            <a:off x="773681" y="1250207"/>
            <a:ext cx="10019797" cy="5124980"/>
          </a:xfrm>
          <a:prstGeom prst="rect">
            <a:avLst/>
          </a:prstGeom>
          <a:ln>
            <a:noFill/>
          </a:ln>
        </p:spPr>
      </p:pic>
    </p:spTree>
    <p:extLst>
      <p:ext uri="{BB962C8B-B14F-4D97-AF65-F5344CB8AC3E}">
        <p14:creationId xmlns:p14="http://schemas.microsoft.com/office/powerpoint/2010/main" val="33054538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170;p11">
            <a:extLst>
              <a:ext uri="{FF2B5EF4-FFF2-40B4-BE49-F238E27FC236}">
                <a16:creationId xmlns:a16="http://schemas.microsoft.com/office/drawing/2014/main" id="{22E24F0A-EE5A-6939-818B-24451CD36525}"/>
              </a:ext>
            </a:extLst>
          </p:cNvPr>
          <p:cNvSpPr txBox="1"/>
          <p:nvPr/>
        </p:nvSpPr>
        <p:spPr>
          <a:xfrm>
            <a:off x="2761342" y="2920582"/>
            <a:ext cx="6669315" cy="10168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II. ANÁLISIS</a:t>
            </a:r>
            <a:endParaRPr sz="1100" dirty="0"/>
          </a:p>
        </p:txBody>
      </p:sp>
    </p:spTree>
    <p:extLst>
      <p:ext uri="{BB962C8B-B14F-4D97-AF65-F5344CB8AC3E}">
        <p14:creationId xmlns:p14="http://schemas.microsoft.com/office/powerpoint/2010/main" val="824405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5B922EC7-5F81-65CB-56EA-E37EF9E9944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Herramientas para la Captura de Requisitos</a:t>
            </a:r>
            <a:endParaRPr dirty="0">
              <a:solidFill>
                <a:schemeClr val="bg2"/>
              </a:solidFill>
            </a:endParaRPr>
          </a:p>
        </p:txBody>
      </p:sp>
      <p:sp>
        <p:nvSpPr>
          <p:cNvPr id="24" name="TextBox 23"/>
          <p:cNvSpPr txBox="1"/>
          <p:nvPr/>
        </p:nvSpPr>
        <p:spPr>
          <a:xfrm>
            <a:off x="822960" y="1325880"/>
            <a:ext cx="3657600" cy="430887"/>
          </a:xfrm>
          <a:prstGeom prst="rect">
            <a:avLst/>
          </a:prstGeom>
          <a:noFill/>
        </p:spPr>
        <p:txBody>
          <a:bodyPr wrap="square">
            <a:spAutoFit/>
          </a:bodyPr>
          <a:lstStyle/>
          <a:p>
            <a:pPr algn="l"/>
            <a:r>
              <a:rPr sz="2200" b="1" dirty="0" err="1">
                <a:solidFill>
                  <a:schemeClr val="bg2"/>
                </a:solidFill>
                <a:latin typeface="Arial"/>
              </a:rPr>
              <a:t>Encuesta</a:t>
            </a:r>
            <a:endParaRPr sz="2200" b="1" dirty="0">
              <a:solidFill>
                <a:schemeClr val="bg2"/>
              </a:solidFill>
              <a:latin typeface="Arial"/>
            </a:endParaRPr>
          </a:p>
        </p:txBody>
      </p:sp>
      <p:sp>
        <p:nvSpPr>
          <p:cNvPr id="25" name="TextBox 24"/>
          <p:cNvSpPr txBox="1"/>
          <p:nvPr/>
        </p:nvSpPr>
        <p:spPr>
          <a:xfrm>
            <a:off x="822960" y="1783080"/>
            <a:ext cx="10515600" cy="914400"/>
          </a:xfrm>
          <a:prstGeom prst="rect">
            <a:avLst/>
          </a:prstGeom>
          <a:noFill/>
        </p:spPr>
        <p:txBody>
          <a:bodyPr wrap="square">
            <a:spAutoFit/>
          </a:bodyPr>
          <a:lstStyle/>
          <a:p>
            <a:pPr algn="l"/>
            <a:r>
              <a:rPr sz="1800" b="0" dirty="0" err="1">
                <a:solidFill>
                  <a:srgbClr val="1A1A1A"/>
                </a:solidFill>
                <a:latin typeface="Arial"/>
              </a:rPr>
              <a:t>Cuestionario de doce preguntas cerradas aplicado a 48 usuarios de centros de salud de Cúcuta, agrupadas en cuatro bloques que indagaban cómo solicitan hoy su cita, cuánto tardan en obtenerla, qué inconvenientes han sufrido y de qué manera preferirían agendarla.</a:t>
            </a:r>
          </a:p>
        </p:txBody>
      </p:sp>
      <p:pic>
        <p:nvPicPr>
          <p:cNvPr id="26" name="Picture 25" descr="FIG-encuesta-contraste.png"/>
          <p:cNvPicPr>
            <a:picLocks noChangeAspect="1"/>
          </p:cNvPicPr>
          <p:nvPr/>
        </p:nvPicPr>
        <p:blipFill>
          <a:blip r:embed="rId5"/>
          <a:stretch>
            <a:fillRect/>
          </a:stretch>
        </p:blipFill>
        <p:spPr>
          <a:xfrm>
            <a:off x="685800" y="2823541"/>
            <a:ext cx="10835640" cy="2582516"/>
          </a:xfrm>
          <a:prstGeom prst="rect">
            <a:avLst/>
          </a:prstGeom>
          <a:ln>
            <a:noFill/>
          </a:ln>
        </p:spPr>
      </p:pic>
      <p:sp>
        <p:nvSpPr>
          <p:cNvPr id="27" name="TextBox 26"/>
          <p:cNvSpPr txBox="1"/>
          <p:nvPr/>
        </p:nvSpPr>
        <p:spPr>
          <a:xfrm>
            <a:off x="822960" y="5623560"/>
            <a:ext cx="10515600" cy="769441"/>
          </a:xfrm>
          <a:prstGeom prst="rect">
            <a:avLst/>
          </a:prstGeom>
          <a:noFill/>
        </p:spPr>
        <p:txBody>
          <a:bodyPr wrap="square">
            <a:spAutoFit/>
          </a:bodyPr>
          <a:lstStyle/>
          <a:p>
            <a:pPr algn="l"/>
            <a:r>
              <a:rPr sz="2200" b="1" dirty="0" err="1">
                <a:solidFill>
                  <a:schemeClr val="bg2"/>
                </a:solidFill>
                <a:latin typeface="Arial"/>
              </a:rPr>
              <a:t>Quieren elegir ellos mismos el horario libre y que la cita quede en firme de inmediato.</a:t>
            </a:r>
          </a:p>
        </p:txBody>
      </p:sp>
    </p:spTree>
    <p:extLst>
      <p:ext uri="{BB962C8B-B14F-4D97-AF65-F5344CB8AC3E}">
        <p14:creationId xmlns:p14="http://schemas.microsoft.com/office/powerpoint/2010/main" val="468445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8C6FEE11-CC7D-21F9-56AC-C5FE0C4833BD}"/>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Historias de Usuario</a:t>
            </a:r>
            <a:endParaRPr dirty="0">
              <a:solidFill>
                <a:schemeClr val="bg2"/>
              </a:solidFill>
            </a:endParaRPr>
          </a:p>
        </p:txBody>
      </p:sp>
      <p:sp>
        <p:nvSpPr>
          <p:cNvPr id="24" name="TextBox 23"/>
          <p:cNvSpPr txBox="1"/>
          <p:nvPr/>
        </p:nvSpPr>
        <p:spPr>
          <a:xfrm>
            <a:off x="822960" y="1380957"/>
            <a:ext cx="5486400" cy="400110"/>
          </a:xfrm>
          <a:prstGeom prst="rect">
            <a:avLst/>
          </a:prstGeom>
          <a:noFill/>
        </p:spPr>
        <p:txBody>
          <a:bodyPr wrap="square">
            <a:spAutoFit/>
          </a:bodyPr>
          <a:lstStyle/>
          <a:p>
            <a:pPr algn="l"/>
            <a:r>
              <a:rPr sz="2000" b="1" dirty="0" err="1">
                <a:solidFill>
                  <a:schemeClr val="bg2"/>
                </a:solidFill>
                <a:latin typeface="Arial"/>
              </a:rPr>
              <a:t>Derivadas</a:t>
            </a:r>
            <a:r>
              <a:rPr sz="2000" b="1" dirty="0">
                <a:solidFill>
                  <a:schemeClr val="bg2"/>
                </a:solidFill>
                <a:latin typeface="Arial"/>
              </a:rPr>
              <a:t> de la </a:t>
            </a:r>
            <a:r>
              <a:rPr sz="2000" b="1" dirty="0" err="1">
                <a:solidFill>
                  <a:schemeClr val="bg2"/>
                </a:solidFill>
                <a:latin typeface="Arial"/>
              </a:rPr>
              <a:t>encuesta</a:t>
            </a:r>
            <a:endParaRPr sz="2000" b="1" dirty="0">
              <a:solidFill>
                <a:schemeClr val="bg2"/>
              </a:solidFill>
              <a:latin typeface="Arial"/>
            </a:endParaRPr>
          </a:p>
        </p:txBody>
      </p:sp>
      <p:sp>
        <p:nvSpPr>
          <p:cNvPr id="25" name="TextBox 24"/>
          <p:cNvSpPr txBox="1"/>
          <p:nvPr/>
        </p:nvSpPr>
        <p:spPr>
          <a:xfrm>
            <a:off x="822960" y="2167135"/>
            <a:ext cx="10424160" cy="1280160"/>
          </a:xfrm>
          <a:prstGeom prst="rect">
            <a:avLst/>
          </a:prstGeom>
          <a:noFill/>
        </p:spPr>
        <p:txBody>
          <a:bodyPr wrap="square">
            <a:spAutoFit/>
          </a:bodyPr>
          <a:lstStyle/>
          <a:p>
            <a:r>
              <a:rPr sz="1900" dirty="0">
                <a:solidFill>
                  <a:srgbClr val="1A1A1A"/>
                </a:solidFill>
                <a:latin typeface="Arial"/>
              </a:rPr>
              <a:t>HU-03. Como paciente, quiero ver en un calendario los horarios libres de cada médico para escoger el que me convenga sin preguntar por ellos.</a:t>
            </a:r>
          </a:p>
        </p:txBody>
      </p:sp>
      <p:sp>
        <p:nvSpPr>
          <p:cNvPr id="26" name="TextBox 25"/>
          <p:cNvSpPr txBox="1"/>
          <p:nvPr/>
        </p:nvSpPr>
        <p:spPr>
          <a:xfrm>
            <a:off x="822960" y="3447295"/>
            <a:ext cx="10424160" cy="1280160"/>
          </a:xfrm>
          <a:prstGeom prst="rect">
            <a:avLst/>
          </a:prstGeom>
          <a:noFill/>
        </p:spPr>
        <p:txBody>
          <a:bodyPr wrap="square">
            <a:spAutoFit/>
          </a:bodyPr>
          <a:lstStyle/>
          <a:p>
            <a:r>
              <a:rPr sz="1900">
                <a:solidFill>
                  <a:srgbClr val="1A1A1A"/>
                </a:solidFill>
                <a:latin typeface="Arial"/>
              </a:rPr>
              <a:t>HU-04. Como paciente, quiero que el horario que elijo quede agendado en el momento para no tener que esperar a que un tercero me lo confirme.</a:t>
            </a:r>
          </a:p>
        </p:txBody>
      </p:sp>
      <p:sp>
        <p:nvSpPr>
          <p:cNvPr id="27" name="TextBox 26"/>
          <p:cNvSpPr txBox="1"/>
          <p:nvPr/>
        </p:nvSpPr>
        <p:spPr>
          <a:xfrm>
            <a:off x="822960" y="4727455"/>
            <a:ext cx="10424160" cy="1280160"/>
          </a:xfrm>
          <a:prstGeom prst="rect">
            <a:avLst/>
          </a:prstGeom>
          <a:noFill/>
        </p:spPr>
        <p:txBody>
          <a:bodyPr wrap="square">
            <a:spAutoFit/>
          </a:bodyPr>
          <a:lstStyle/>
          <a:p>
            <a:r>
              <a:rPr sz="1900">
                <a:solidFill>
                  <a:srgbClr val="1A1A1A"/>
                </a:solidFill>
                <a:latin typeface="Arial"/>
              </a:rPr>
              <a:t>HU-11. Como médico, quiero registrar la historia clínica del paciente que atiendo para dejar constancia de su evolución bajo mi propia autoría.</a:t>
            </a:r>
          </a:p>
        </p:txBody>
      </p:sp>
    </p:spTree>
    <p:extLst>
      <p:ext uri="{BB962C8B-B14F-4D97-AF65-F5344CB8AC3E}">
        <p14:creationId xmlns:p14="http://schemas.microsoft.com/office/powerpoint/2010/main" val="129043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8281CAFD-4757-AFE4-44EC-53402AD81F45}"/>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chemeClr val="bg2"/>
                </a:solidFill>
                <a:latin typeface="Plus Jakarta Sans ExtraBold"/>
                <a:cs typeface="Plus Jakarta Sans ExtraBold"/>
                <a:sym typeface="Plus Jakarta Sans ExtraBold"/>
              </a:rPr>
              <a:t>Requisitos Funcionales Relacionados</a:t>
            </a:r>
            <a:endParaRPr dirty="0">
              <a:solidFill>
                <a:schemeClr val="bg2"/>
              </a:solidFill>
            </a:endParaRPr>
          </a:p>
        </p:txBody>
      </p:sp>
      <p:graphicFrame>
        <p:nvGraphicFramePr>
          <p:cNvPr id="24" name="Table 23"/>
          <p:cNvGraphicFramePr>
            <a:graphicFrameLocks noGrp="1"/>
          </p:cNvGraphicFramePr>
          <p:nvPr>
            <p:extLst>
              <p:ext uri="{D42A27DB-BD31-4B8C-83A1-F6EECF244321}">
                <p14:modId xmlns:p14="http://schemas.microsoft.com/office/powerpoint/2010/main" val="4243370232"/>
              </p:ext>
            </p:extLst>
          </p:nvPr>
        </p:nvGraphicFramePr>
        <p:xfrm>
          <a:off x="713385" y="2095640"/>
          <a:ext cx="10835640" cy="3108960"/>
        </p:xfrm>
        <a:graphic>
          <a:graphicData uri="http://schemas.openxmlformats.org/drawingml/2006/table">
            <a:tbl>
              <a:tblPr firstRow="1" bandRow="1">
                <a:tableStyleId>{21E4AEA4-8DFA-4A89-87EB-49C32662AFE0}</a:tableStyleId>
              </a:tblPr>
              <a:tblGrid>
                <a:gridCol w="15544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989320">
                  <a:extLst>
                    <a:ext uri="{9D8B030D-6E8A-4147-A177-3AD203B41FA5}">
                      <a16:colId xmlns:a16="http://schemas.microsoft.com/office/drawing/2014/main" val="20002"/>
                    </a:ext>
                  </a:extLst>
                </a:gridCol>
              </a:tblGrid>
              <a:tr h="621792">
                <a:tc>
                  <a:txBody>
                    <a:bodyPr/>
                    <a:lstStyle/>
                    <a:p>
                      <a:pPr algn="ctr"/>
                      <a:r>
                        <a:rPr sz="1700" b="1" dirty="0">
                          <a:solidFill>
                            <a:srgbClr val="FFFFFF"/>
                          </a:solidFill>
                        </a:rPr>
                        <a:t>Código</a:t>
                      </a:r>
                      <a:endParaRPr sz="1700" b="1" dirty="0">
                        <a:solidFill>
                          <a:srgbClr val="FFFFFF"/>
                        </a:solidFill>
                        <a:latin typeface="Arial"/>
                      </a:endParaRPr>
                    </a:p>
                  </a:txBody>
                  <a:tcPr marL="73152" marR="73152" marT="27432" marB="27432"/>
                </a:tc>
                <a:tc>
                  <a:txBody>
                    <a:bodyPr/>
                    <a:lstStyle/>
                    <a:p>
                      <a:pPr algn="ctr"/>
                      <a:r>
                        <a:rPr sz="1700" b="1" dirty="0" err="1">
                          <a:solidFill>
                            <a:srgbClr val="FFFFFF"/>
                          </a:solidFill>
                        </a:rPr>
                        <a:t>Requisito</a:t>
                      </a:r>
                      <a:endParaRPr sz="1700" b="1" dirty="0">
                        <a:solidFill>
                          <a:srgbClr val="FFFFFF"/>
                        </a:solidFill>
                        <a:latin typeface="Arial"/>
                      </a:endParaRPr>
                    </a:p>
                  </a:txBody>
                  <a:tcPr marL="73152" marR="73152" marT="27432" marB="27432"/>
                </a:tc>
                <a:tc>
                  <a:txBody>
                    <a:bodyPr/>
                    <a:lstStyle/>
                    <a:p>
                      <a:pPr algn="ctr"/>
                      <a:r>
                        <a:rPr sz="1700" b="1" dirty="0" err="1">
                          <a:solidFill>
                            <a:srgbClr val="FFFFFF"/>
                          </a:solidFill>
                        </a:rPr>
                        <a:t>Qué</a:t>
                      </a:r>
                      <a:r>
                        <a:rPr sz="1700" b="1" dirty="0">
                          <a:solidFill>
                            <a:srgbClr val="FFFFFF"/>
                          </a:solidFill>
                        </a:rPr>
                        <a:t> </a:t>
                      </a:r>
                      <a:r>
                        <a:rPr sz="1700" b="1" dirty="0" err="1">
                          <a:solidFill>
                            <a:srgbClr val="FFFFFF"/>
                          </a:solidFill>
                        </a:rPr>
                        <a:t>resuelve</a:t>
                      </a:r>
                      <a:endParaRPr sz="17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621792">
                <a:tc>
                  <a:txBody>
                    <a:bodyPr/>
                    <a:lstStyle/>
                    <a:p>
                      <a:pPr algn="ctr"/>
                      <a:r>
                        <a:rPr sz="1700" b="0">
                          <a:solidFill>
                            <a:srgbClr val="1A1A1A"/>
                          </a:solidFill>
                        </a:rPr>
                        <a:t>RF 5.8</a:t>
                      </a:r>
                      <a:endParaRPr sz="1700" b="0">
                        <a:solidFill>
                          <a:srgbClr val="1A1A1A"/>
                        </a:solidFill>
                        <a:latin typeface="Arial"/>
                      </a:endParaRPr>
                    </a:p>
                  </a:txBody>
                  <a:tcPr marL="73152" marR="73152" marT="27432" marB="27432"/>
                </a:tc>
                <a:tc>
                  <a:txBody>
                    <a:bodyPr/>
                    <a:lstStyle/>
                    <a:p>
                      <a:pPr algn="ctr"/>
                      <a:r>
                        <a:rPr sz="1700" b="0">
                          <a:solidFill>
                            <a:srgbClr val="1A1A1A"/>
                          </a:solidFill>
                        </a:rPr>
                        <a:t>Calendario semanal de disponibilidad</a:t>
                      </a:r>
                      <a:endParaRPr sz="1700" b="0">
                        <a:solidFill>
                          <a:srgbClr val="1A1A1A"/>
                        </a:solidFill>
                        <a:latin typeface="Arial"/>
                      </a:endParaRPr>
                    </a:p>
                  </a:txBody>
                  <a:tcPr marL="73152" marR="73152" marT="27432" marB="27432"/>
                </a:tc>
                <a:tc>
                  <a:txBody>
                    <a:bodyPr/>
                    <a:lstStyle/>
                    <a:p>
                      <a:pPr algn="ctr"/>
                      <a:r>
                        <a:rPr sz="1700" b="0" dirty="0">
                          <a:solidFill>
                            <a:srgbClr val="1A1A1A"/>
                          </a:solidFill>
                        </a:rPr>
                        <a:t>El paciente ve los horarios libres del médico sin preguntar por ellos</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1"/>
                  </a:ext>
                </a:extLst>
              </a:tr>
              <a:tr h="621792">
                <a:tc>
                  <a:txBody>
                    <a:bodyPr/>
                    <a:lstStyle/>
                    <a:p>
                      <a:pPr algn="ctr"/>
                      <a:r>
                        <a:rPr sz="1700" b="0">
                          <a:solidFill>
                            <a:srgbClr val="1A1A1A"/>
                          </a:solidFill>
                        </a:rPr>
                        <a:t>RF 5.2</a:t>
                      </a:r>
                      <a:endParaRPr sz="1700" b="0">
                        <a:solidFill>
                          <a:srgbClr val="1A1A1A"/>
                        </a:solidFill>
                        <a:latin typeface="Arial"/>
                      </a:endParaRPr>
                    </a:p>
                  </a:txBody>
                  <a:tcPr marL="73152" marR="73152" marT="27432" marB="27432"/>
                </a:tc>
                <a:tc>
                  <a:txBody>
                    <a:bodyPr/>
                    <a:lstStyle/>
                    <a:p>
                      <a:pPr algn="ctr"/>
                      <a:r>
                        <a:rPr sz="1700" b="0">
                          <a:solidFill>
                            <a:srgbClr val="1A1A1A"/>
                          </a:solidFill>
                        </a:rPr>
                        <a:t>Agendamiento por el propio paciente</a:t>
                      </a:r>
                      <a:endParaRPr sz="1700" b="0">
                        <a:solidFill>
                          <a:srgbClr val="1A1A1A"/>
                        </a:solidFill>
                        <a:latin typeface="Arial"/>
                      </a:endParaRPr>
                    </a:p>
                  </a:txBody>
                  <a:tcPr marL="73152" marR="73152" marT="27432" marB="27432"/>
                </a:tc>
                <a:tc>
                  <a:txBody>
                    <a:bodyPr/>
                    <a:lstStyle/>
                    <a:p>
                      <a:pPr algn="ctr"/>
                      <a:r>
                        <a:rPr sz="1700" b="0" dirty="0" err="1">
                          <a:solidFill>
                            <a:srgbClr val="1A1A1A"/>
                          </a:solidFill>
                        </a:rPr>
                        <a:t>El horario elegido queda en firme sin esperar la confirmación de un tercero</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2"/>
                  </a:ext>
                </a:extLst>
              </a:tr>
              <a:tr h="621792">
                <a:tc>
                  <a:txBody>
                    <a:bodyPr/>
                    <a:lstStyle/>
                    <a:p>
                      <a:pPr algn="ctr"/>
                      <a:r>
                        <a:rPr sz="1700" b="0">
                          <a:solidFill>
                            <a:srgbClr val="1A1A1A"/>
                          </a:solidFill>
                        </a:rPr>
                        <a:t>RF 5.4</a:t>
                      </a:r>
                      <a:endParaRPr sz="1700" b="0">
                        <a:solidFill>
                          <a:srgbClr val="1A1A1A"/>
                        </a:solidFill>
                        <a:latin typeface="Arial"/>
                      </a:endParaRPr>
                    </a:p>
                  </a:txBody>
                  <a:tcPr marL="73152" marR="73152" marT="27432" marB="27432"/>
                </a:tc>
                <a:tc>
                  <a:txBody>
                    <a:bodyPr/>
                    <a:lstStyle/>
                    <a:p>
                      <a:pPr algn="ctr"/>
                      <a:r>
                        <a:rPr sz="1700" b="0">
                          <a:solidFill>
                            <a:srgbClr val="1A1A1A"/>
                          </a:solidFill>
                        </a:rPr>
                        <a:t>Separación mínima entre citas</a:t>
                      </a:r>
                      <a:endParaRPr sz="1700" b="0">
                        <a:solidFill>
                          <a:srgbClr val="1A1A1A"/>
                        </a:solidFill>
                        <a:latin typeface="Arial"/>
                      </a:endParaRPr>
                    </a:p>
                  </a:txBody>
                  <a:tcPr marL="73152" marR="73152" marT="27432" marB="27432"/>
                </a:tc>
                <a:tc>
                  <a:txBody>
                    <a:bodyPr/>
                    <a:lstStyle/>
                    <a:p>
                      <a:pPr algn="ctr"/>
                      <a:r>
                        <a:rPr sz="1700" b="0" dirty="0">
                          <a:solidFill>
                            <a:srgbClr val="1A1A1A"/>
                          </a:solidFill>
                        </a:rPr>
                        <a:t>Se rechaza toda cita a menos de 30 minutos de otra del mismo médico</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3"/>
                  </a:ext>
                </a:extLst>
              </a:tr>
              <a:tr h="621792">
                <a:tc>
                  <a:txBody>
                    <a:bodyPr/>
                    <a:lstStyle/>
                    <a:p>
                      <a:pPr algn="ctr"/>
                      <a:r>
                        <a:rPr sz="1700" b="0">
                          <a:solidFill>
                            <a:srgbClr val="1A1A1A"/>
                          </a:solidFill>
                        </a:rPr>
                        <a:t>RF 6.2</a:t>
                      </a:r>
                      <a:endParaRPr sz="1700" b="0">
                        <a:solidFill>
                          <a:srgbClr val="1A1A1A"/>
                        </a:solidFill>
                        <a:latin typeface="Arial"/>
                      </a:endParaRPr>
                    </a:p>
                  </a:txBody>
                  <a:tcPr marL="73152" marR="73152" marT="27432" marB="27432"/>
                </a:tc>
                <a:tc>
                  <a:txBody>
                    <a:bodyPr/>
                    <a:lstStyle/>
                    <a:p>
                      <a:pPr algn="ctr"/>
                      <a:r>
                        <a:rPr sz="1700" b="0" dirty="0" err="1">
                          <a:solidFill>
                            <a:srgbClr val="1A1A1A"/>
                          </a:solidFill>
                        </a:rPr>
                        <a:t>Exclusividad del médico sobre la historia</a:t>
                      </a:r>
                      <a:endParaRPr sz="1700" b="0" dirty="0" err="1">
                        <a:solidFill>
                          <a:srgbClr val="1A1A1A"/>
                        </a:solidFill>
                        <a:latin typeface="Arial"/>
                      </a:endParaRPr>
                    </a:p>
                  </a:txBody>
                  <a:tcPr marL="73152" marR="73152" marT="27432" marB="27432"/>
                </a:tc>
                <a:tc>
                  <a:txBody>
                    <a:bodyPr/>
                    <a:lstStyle/>
                    <a:p>
                      <a:pPr algn="ctr"/>
                      <a:r>
                        <a:rPr sz="1700" b="0" dirty="0">
                          <a:solidFill>
                            <a:srgbClr val="1A1A1A"/>
                          </a:solidFill>
                        </a:rPr>
                        <a:t>Solo el médico tratante escribe en ella, y la autoría sale de la sesión</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4692149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748A10F1-A0BD-565D-75D1-0D39B3DA3459}"/>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Matriz de Stakeholders</a:t>
            </a:r>
            <a:endParaRPr dirty="0">
              <a:solidFill>
                <a:schemeClr val="bg2"/>
              </a:solidFill>
            </a:endParaRPr>
          </a:p>
        </p:txBody>
      </p:sp>
      <p:pic>
        <p:nvPicPr>
          <p:cNvPr id="24" name="Picture 23" descr="FIG-stakeholders.png"/>
          <p:cNvPicPr>
            <a:picLocks noChangeAspect="1"/>
          </p:cNvPicPr>
          <p:nvPr/>
        </p:nvPicPr>
        <p:blipFill>
          <a:blip r:embed="rId5"/>
          <a:stretch>
            <a:fillRect/>
          </a:stretch>
        </p:blipFill>
        <p:spPr>
          <a:xfrm>
            <a:off x="1943196" y="1106074"/>
            <a:ext cx="8305606" cy="5506926"/>
          </a:xfrm>
          <a:prstGeom prst="rect">
            <a:avLst/>
          </a:prstGeom>
        </p:spPr>
      </p:pic>
    </p:spTree>
    <p:extLst>
      <p:ext uri="{BB962C8B-B14F-4D97-AF65-F5344CB8AC3E}">
        <p14:creationId xmlns:p14="http://schemas.microsoft.com/office/powerpoint/2010/main" val="2338682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E1F0B7E5-E4D2-3B9D-C202-1E966766BDDB}"/>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chemeClr val="bg2"/>
                </a:solidFill>
                <a:latin typeface="Plus Jakarta Sans ExtraBold"/>
                <a:cs typeface="Plus Jakarta Sans ExtraBold"/>
                <a:sym typeface="Plus Jakarta Sans ExtraBold"/>
              </a:rPr>
              <a:t>Técnica de Priorización de Requisitos</a:t>
            </a:r>
            <a:endParaRPr dirty="0">
              <a:solidFill>
                <a:schemeClr val="bg2"/>
              </a:solidFill>
            </a:endParaRPr>
          </a:p>
        </p:txBody>
      </p:sp>
      <p:graphicFrame>
        <p:nvGraphicFramePr>
          <p:cNvPr id="24" name="Table 23"/>
          <p:cNvGraphicFramePr>
            <a:graphicFrameLocks noGrp="1"/>
          </p:cNvGraphicFramePr>
          <p:nvPr>
            <p:extLst>
              <p:ext uri="{D42A27DB-BD31-4B8C-83A1-F6EECF244321}">
                <p14:modId xmlns:p14="http://schemas.microsoft.com/office/powerpoint/2010/main" val="4141808760"/>
              </p:ext>
            </p:extLst>
          </p:nvPr>
        </p:nvGraphicFramePr>
        <p:xfrm>
          <a:off x="678179" y="2285677"/>
          <a:ext cx="10835640" cy="2926080"/>
        </p:xfrm>
        <a:graphic>
          <a:graphicData uri="http://schemas.openxmlformats.org/drawingml/2006/table">
            <a:tbl>
              <a:tblPr firstRow="1" bandRow="1">
                <a:tableStyleId>{21E4AEA4-8DFA-4A89-87EB-49C32662AFE0}</a:tableStyleId>
              </a:tblPr>
              <a:tblGrid>
                <a:gridCol w="13716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87680">
                <a:tc>
                  <a:txBody>
                    <a:bodyPr/>
                    <a:lstStyle/>
                    <a:p>
                      <a:pPr algn="ctr"/>
                      <a:r>
                        <a:rPr sz="1600" b="1">
                          <a:solidFill>
                            <a:srgbClr val="FFFFFF"/>
                          </a:solidFill>
                        </a:rPr>
                        <a:t>Puntaje</a:t>
                      </a:r>
                      <a:endParaRPr sz="1600" b="1">
                        <a:solidFill>
                          <a:srgbClr val="FFFFFF"/>
                        </a:solidFill>
                        <a:latin typeface="Arial"/>
                      </a:endParaRPr>
                    </a:p>
                  </a:txBody>
                  <a:tcPr marL="73152" marR="73152" marT="27432" marB="27432"/>
                </a:tc>
                <a:tc>
                  <a:txBody>
                    <a:bodyPr/>
                    <a:lstStyle/>
                    <a:p>
                      <a:pPr algn="ctr"/>
                      <a:r>
                        <a:rPr sz="1600" b="1" dirty="0">
                          <a:solidFill>
                            <a:srgbClr val="FFFFFF"/>
                          </a:solidFill>
                        </a:rPr>
                        <a:t>Valor de negocio (60%)</a:t>
                      </a:r>
                      <a:endParaRPr sz="1600" b="1" dirty="0">
                        <a:solidFill>
                          <a:srgbClr val="FFFFFF"/>
                        </a:solidFill>
                        <a:latin typeface="Arial"/>
                      </a:endParaRPr>
                    </a:p>
                  </a:txBody>
                  <a:tcPr marL="73152" marR="73152" marT="27432" marB="27432"/>
                </a:tc>
                <a:tc>
                  <a:txBody>
                    <a:bodyPr/>
                    <a:lstStyle/>
                    <a:p>
                      <a:pPr algn="ctr"/>
                      <a:r>
                        <a:rPr sz="1600" b="1" dirty="0" err="1">
                          <a:solidFill>
                            <a:srgbClr val="FFFFFF"/>
                          </a:solidFill>
                        </a:rPr>
                        <a:t>Urgencia (40%)</a:t>
                      </a:r>
                      <a:endParaRPr sz="16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487680">
                <a:tc>
                  <a:txBody>
                    <a:bodyPr/>
                    <a:lstStyle/>
                    <a:p>
                      <a:pPr algn="ctr"/>
                      <a:r>
                        <a:rPr sz="1600" b="0" dirty="0">
                          <a:solidFill>
                            <a:srgbClr val="1A1A1A"/>
                          </a:solidFill>
                        </a:rPr>
                        <a:t>1</a:t>
                      </a:r>
                      <a:endParaRPr sz="1600" b="0" dirty="0">
                        <a:solidFill>
                          <a:srgbClr val="1A1A1A"/>
                        </a:solidFill>
                        <a:latin typeface="Arial"/>
                      </a:endParaRPr>
                    </a:p>
                  </a:txBody>
                  <a:tcPr marL="73152" marR="73152" marT="27432" marB="27432"/>
                </a:tc>
                <a:tc>
                  <a:txBody>
                    <a:bodyPr/>
                    <a:lstStyle/>
                    <a:p>
                      <a:pPr algn="ctr"/>
                      <a:r>
                        <a:rPr sz="1600" b="0" dirty="0" err="1">
                          <a:solidFill>
                            <a:srgbClr val="1A1A1A"/>
                          </a:solidFill>
                        </a:rPr>
                        <a:t>Impacto muy bajo para la atención</a:t>
                      </a:r>
                      <a:endParaRPr sz="1600" b="0" dirty="0">
                        <a:solidFill>
                          <a:srgbClr val="33373D"/>
                        </a:solidFill>
                        <a:latin typeface="Arial"/>
                      </a:endParaRPr>
                    </a:p>
                  </a:txBody>
                  <a:tcPr marL="73152" marR="73152" marT="27432" marB="27432"/>
                </a:tc>
                <a:tc>
                  <a:txBody>
                    <a:bodyPr/>
                    <a:lstStyle/>
                    <a:p>
                      <a:pPr algn="ctr"/>
                      <a:r>
                        <a:rPr sz="1600" b="0">
                          <a:solidFill>
                            <a:srgbClr val="1A1A1A"/>
                          </a:solidFill>
                        </a:rPr>
                        <a:t>No es urgente, puede esperar</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1"/>
                  </a:ext>
                </a:extLst>
              </a:tr>
              <a:tr h="487680">
                <a:tc>
                  <a:txBody>
                    <a:bodyPr/>
                    <a:lstStyle/>
                    <a:p>
                      <a:pPr algn="ctr"/>
                      <a:r>
                        <a:rPr sz="1600" b="0">
                          <a:solidFill>
                            <a:srgbClr val="1A1A1A"/>
                          </a:solidFill>
                        </a:rPr>
                        <a:t>2</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bajo, aporta poca funcionalidad</a:t>
                      </a:r>
                      <a:endParaRPr sz="1600" b="0">
                        <a:solidFill>
                          <a:srgbClr val="1A1A1A"/>
                        </a:solidFill>
                        <a:latin typeface="Arial"/>
                      </a:endParaRPr>
                    </a:p>
                  </a:txBody>
                  <a:tcPr marL="73152" marR="73152" marT="27432" marB="27432"/>
                </a:tc>
                <a:tc>
                  <a:txBody>
                    <a:bodyPr/>
                    <a:lstStyle/>
                    <a:p>
                      <a:pPr algn="ctr"/>
                      <a:r>
                        <a:rPr sz="1600" b="0">
                          <a:solidFill>
                            <a:srgbClr val="1A1A1A"/>
                          </a:solidFill>
                        </a:rPr>
                        <a:t>Poco urgente</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2"/>
                  </a:ext>
                </a:extLst>
              </a:tr>
              <a:tr h="487680">
                <a:tc>
                  <a:txBody>
                    <a:bodyPr/>
                    <a:lstStyle/>
                    <a:p>
                      <a:pPr algn="ctr"/>
                      <a:r>
                        <a:rPr sz="1600" b="0">
                          <a:solidFill>
                            <a:srgbClr val="1A1A1A"/>
                          </a:solidFill>
                        </a:rPr>
                        <a:t>3</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medio, mejora procesos importantes</a:t>
                      </a:r>
                      <a:endParaRPr sz="1600" b="0">
                        <a:solidFill>
                          <a:srgbClr val="1A1A1A"/>
                        </a:solidFill>
                        <a:latin typeface="Arial"/>
                      </a:endParaRPr>
                    </a:p>
                  </a:txBody>
                  <a:tcPr marL="73152" marR="73152" marT="27432" marB="27432"/>
                </a:tc>
                <a:tc>
                  <a:txBody>
                    <a:bodyPr/>
                    <a:lstStyle/>
                    <a:p>
                      <a:pPr algn="ctr"/>
                      <a:r>
                        <a:rPr sz="1600" b="0">
                          <a:solidFill>
                            <a:srgbClr val="1A1A1A"/>
                          </a:solidFill>
                        </a:rPr>
                        <a:t>Urgencia moderada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3"/>
                  </a:ext>
                </a:extLst>
              </a:tr>
              <a:tr h="487680">
                <a:tc>
                  <a:txBody>
                    <a:bodyPr/>
                    <a:lstStyle/>
                    <a:p>
                      <a:pPr algn="ctr"/>
                      <a:r>
                        <a:rPr sz="1600" b="0">
                          <a:solidFill>
                            <a:srgbClr val="1A1A1A"/>
                          </a:solidFill>
                        </a:rPr>
                        <a:t>4</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alto, necesario para operar</a:t>
                      </a:r>
                      <a:endParaRPr sz="1600" b="0">
                        <a:solidFill>
                          <a:srgbClr val="1A1A1A"/>
                        </a:solidFill>
                        <a:latin typeface="Arial"/>
                      </a:endParaRPr>
                    </a:p>
                  </a:txBody>
                  <a:tcPr marL="73152" marR="73152" marT="27432" marB="27432"/>
                </a:tc>
                <a:tc>
                  <a:txBody>
                    <a:bodyPr/>
                    <a:lstStyle/>
                    <a:p>
                      <a:pPr algn="ctr"/>
                      <a:r>
                        <a:rPr sz="1600" b="0">
                          <a:solidFill>
                            <a:srgbClr val="1A1A1A"/>
                          </a:solidFill>
                        </a:rPr>
                        <a:t>Muy urgente</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4"/>
                  </a:ext>
                </a:extLst>
              </a:tr>
              <a:tr h="487680">
                <a:tc>
                  <a:txBody>
                    <a:bodyPr/>
                    <a:lstStyle/>
                    <a:p>
                      <a:pPr algn="ctr"/>
                      <a:r>
                        <a:rPr sz="1600" b="0">
                          <a:solidFill>
                            <a:srgbClr val="1A1A1A"/>
                          </a:solidFill>
                        </a:rPr>
                        <a:t>5</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crítico, indispensable</a:t>
                      </a:r>
                      <a:endParaRPr sz="1600" b="0">
                        <a:solidFill>
                          <a:srgbClr val="1A1A1A"/>
                        </a:solidFill>
                        <a:latin typeface="Arial"/>
                      </a:endParaRPr>
                    </a:p>
                  </a:txBody>
                  <a:tcPr marL="73152" marR="73152" marT="27432" marB="27432"/>
                </a:tc>
                <a:tc>
                  <a:txBody>
                    <a:bodyPr/>
                    <a:lstStyle/>
                    <a:p>
                      <a:pPr algn="ctr"/>
                      <a:r>
                        <a:rPr sz="1600" b="0" dirty="0" err="1">
                          <a:solidFill>
                            <a:srgbClr val="1A1A1A"/>
                          </a:solidFill>
                        </a:rPr>
                        <a:t>Debe implementarse de inmediato</a:t>
                      </a:r>
                      <a:endParaRPr sz="1600" b="0" dirty="0">
                        <a:solidFill>
                          <a:srgbClr val="33373D"/>
                        </a:solidFill>
                        <a:latin typeface="Arial"/>
                      </a:endParaRPr>
                    </a:p>
                  </a:txBody>
                  <a:tcPr marL="73152" marR="73152" marT="27432" marB="27432"/>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222054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579895E9-6FD1-3551-585E-B6BA860281DC}"/>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Conclusión General de la Priorización</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1361641970"/>
              </p:ext>
            </p:extLst>
          </p:nvPr>
        </p:nvGraphicFramePr>
        <p:xfrm>
          <a:off x="1463040" y="1187270"/>
          <a:ext cx="9235440" cy="4358640"/>
        </p:xfrm>
        <a:graphic>
          <a:graphicData uri="http://schemas.openxmlformats.org/drawingml/2006/table">
            <a:tbl>
              <a:tblPr firstRow="1" bandRow="1">
                <a:tableStyleId>{21E4AEA4-8DFA-4A89-87EB-49C32662AFE0}</a:tableStyleId>
              </a:tblPr>
              <a:tblGrid>
                <a:gridCol w="146304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96240">
                <a:tc>
                  <a:txBody>
                    <a:bodyPr/>
                    <a:lstStyle/>
                    <a:p>
                      <a:pPr algn="ctr"/>
                      <a:r>
                        <a:rPr sz="1600" b="1">
                          <a:solidFill>
                            <a:srgbClr val="FFFFFF"/>
                          </a:solidFill>
                        </a:rPr>
                        <a:t>Código</a:t>
                      </a:r>
                      <a:endParaRPr sz="1600" b="1">
                        <a:solidFill>
                          <a:srgbClr val="FFFFFF"/>
                        </a:solidFill>
                        <a:latin typeface="Arial"/>
                      </a:endParaRPr>
                    </a:p>
                  </a:txBody>
                  <a:tcPr marL="73152" marR="73152" marT="27432" marB="27432"/>
                </a:tc>
                <a:tc>
                  <a:txBody>
                    <a:bodyPr/>
                    <a:lstStyle/>
                    <a:p>
                      <a:pPr algn="ctr"/>
                      <a:r>
                        <a:rPr sz="1600" b="1" dirty="0" err="1">
                          <a:solidFill>
                            <a:srgbClr val="FFFFFF"/>
                          </a:solidFill>
                        </a:rPr>
                        <a:t>Módulo</a:t>
                      </a:r>
                      <a:endParaRPr sz="1600" b="1" dirty="0">
                        <a:solidFill>
                          <a:srgbClr val="FFFFFF"/>
                        </a:solidFill>
                        <a:latin typeface="Arial"/>
                      </a:endParaRPr>
                    </a:p>
                  </a:txBody>
                  <a:tcPr marL="73152" marR="73152" marT="27432" marB="27432"/>
                </a:tc>
                <a:tc>
                  <a:txBody>
                    <a:bodyPr/>
                    <a:lstStyle/>
                    <a:p>
                      <a:pPr algn="ctr"/>
                      <a:r>
                        <a:rPr sz="1600" b="1">
                          <a:solidFill>
                            <a:srgbClr val="FFFFFF"/>
                          </a:solidFill>
                        </a:rPr>
                        <a:t>Puntaje</a:t>
                      </a:r>
                      <a:endParaRPr sz="16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396240">
                <a:tc>
                  <a:txBody>
                    <a:bodyPr/>
                    <a:lstStyle/>
                    <a:p>
                      <a:pPr algn="ctr"/>
                      <a:r>
                        <a:rPr sz="1600" b="0">
                          <a:solidFill>
                            <a:srgbClr val="1A1A1A"/>
                          </a:solidFill>
                        </a:rPr>
                        <a:t>RF 5</a:t>
                      </a:r>
                      <a:endParaRPr sz="1600" b="0">
                        <a:solidFill>
                          <a:srgbClr val="1A1A1A"/>
                        </a:solidFill>
                        <a:latin typeface="Arial"/>
                      </a:endParaRPr>
                    </a:p>
                  </a:txBody>
                  <a:tcPr marL="73152" marR="73152" marT="27432" marB="27432"/>
                </a:tc>
                <a:tc>
                  <a:txBody>
                    <a:bodyPr/>
                    <a:lstStyle/>
                    <a:p>
                      <a:pPr algn="ctr"/>
                      <a:r>
                        <a:rPr sz="1600" b="0" dirty="0" err="1">
                          <a:solidFill>
                            <a:srgbClr val="1A1A1A"/>
                          </a:solidFill>
                        </a:rPr>
                        <a:t>Agendamiento de citas</a:t>
                      </a:r>
                      <a:endParaRPr sz="1600" b="0" dirty="0">
                        <a:solidFill>
                          <a:srgbClr val="33373D"/>
                        </a:solidFill>
                        <a:latin typeface="Arial"/>
                      </a:endParaRPr>
                    </a:p>
                  </a:txBody>
                  <a:tcPr marL="73152" marR="73152" marT="27432" marB="27432"/>
                </a:tc>
                <a:tc>
                  <a:txBody>
                    <a:bodyPr/>
                    <a:lstStyle/>
                    <a:p>
                      <a:pPr algn="ctr"/>
                      <a:r>
                        <a:rPr sz="1600" b="0">
                          <a:solidFill>
                            <a:srgbClr val="1A1A1A"/>
                          </a:solidFill>
                        </a:rPr>
                        <a:t>4.6</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1"/>
                  </a:ext>
                </a:extLst>
              </a:tr>
              <a:tr h="396240">
                <a:tc>
                  <a:txBody>
                    <a:bodyPr/>
                    <a:lstStyle/>
                    <a:p>
                      <a:pPr algn="ctr"/>
                      <a:r>
                        <a:rPr sz="1600" b="0">
                          <a:solidFill>
                            <a:srgbClr val="1A1A1A"/>
                          </a:solidFill>
                        </a:rPr>
                        <a:t>RF 1</a:t>
                      </a:r>
                      <a:endParaRPr sz="1600" b="0">
                        <a:solidFill>
                          <a:srgbClr val="1A1A1A"/>
                        </a:solidFill>
                        <a:latin typeface="Arial"/>
                      </a:endParaRPr>
                    </a:p>
                  </a:txBody>
                  <a:tcPr marL="73152" marR="73152" marT="27432" marB="27432"/>
                </a:tc>
                <a:tc>
                  <a:txBody>
                    <a:bodyPr/>
                    <a:lstStyle/>
                    <a:p>
                      <a:pPr algn="ctr"/>
                      <a:r>
                        <a:rPr sz="1600" b="0">
                          <a:solidFill>
                            <a:srgbClr val="1A1A1A"/>
                          </a:solidFill>
                        </a:rPr>
                        <a:t>Autenticación y sesión</a:t>
                      </a:r>
                      <a:endParaRPr sz="1600" b="0">
                        <a:solidFill>
                          <a:srgbClr val="1A1A1A"/>
                        </a:solidFill>
                        <a:latin typeface="Arial"/>
                      </a:endParaRPr>
                    </a:p>
                  </a:txBody>
                  <a:tcPr marL="73152" marR="73152" marT="27432" marB="27432"/>
                </a:tc>
                <a:tc>
                  <a:txBody>
                    <a:bodyPr/>
                    <a:lstStyle/>
                    <a:p>
                      <a:pPr algn="ctr"/>
                      <a:r>
                        <a:rPr sz="1600" b="0">
                          <a:solidFill>
                            <a:srgbClr val="1A1A1A"/>
                          </a:solidFill>
                        </a:rPr>
                        <a:t>4.5</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2"/>
                  </a:ext>
                </a:extLst>
              </a:tr>
              <a:tr h="396240">
                <a:tc>
                  <a:txBody>
                    <a:bodyPr/>
                    <a:lstStyle/>
                    <a:p>
                      <a:pPr algn="ctr"/>
                      <a:r>
                        <a:rPr sz="1600" b="0">
                          <a:solidFill>
                            <a:srgbClr val="1A1A1A"/>
                          </a:solidFill>
                        </a:rPr>
                        <a:t>RF 6</a:t>
                      </a:r>
                      <a:endParaRPr sz="1600" b="0">
                        <a:solidFill>
                          <a:srgbClr val="1A1A1A"/>
                        </a:solidFill>
                        <a:latin typeface="Arial"/>
                      </a:endParaRPr>
                    </a:p>
                  </a:txBody>
                  <a:tcPr marL="73152" marR="73152" marT="27432" marB="27432"/>
                </a:tc>
                <a:tc>
                  <a:txBody>
                    <a:bodyPr/>
                    <a:lstStyle/>
                    <a:p>
                      <a:pPr algn="ctr"/>
                      <a:r>
                        <a:rPr sz="1600" b="0">
                          <a:solidFill>
                            <a:srgbClr val="1A1A1A"/>
                          </a:solidFill>
                        </a:rPr>
                        <a:t>Historia clínica</a:t>
                      </a:r>
                      <a:endParaRPr sz="1600" b="0">
                        <a:solidFill>
                          <a:srgbClr val="1A1A1A"/>
                        </a:solidFill>
                        <a:latin typeface="Arial"/>
                      </a:endParaRPr>
                    </a:p>
                  </a:txBody>
                  <a:tcPr marL="73152" marR="73152" marT="27432" marB="27432"/>
                </a:tc>
                <a:tc>
                  <a:txBody>
                    <a:bodyPr/>
                    <a:lstStyle/>
                    <a:p>
                      <a:pPr algn="ctr"/>
                      <a:r>
                        <a:rPr sz="1600" b="0">
                          <a:solidFill>
                            <a:srgbClr val="1A1A1A"/>
                          </a:solidFill>
                        </a:rPr>
                        <a:t>4.3</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3"/>
                  </a:ext>
                </a:extLst>
              </a:tr>
              <a:tr h="396240">
                <a:tc>
                  <a:txBody>
                    <a:bodyPr/>
                    <a:lstStyle/>
                    <a:p>
                      <a:pPr algn="ctr"/>
                      <a:r>
                        <a:rPr sz="1600" b="0">
                          <a:solidFill>
                            <a:srgbClr val="1A1A1A"/>
                          </a:solidFill>
                        </a:rPr>
                        <a:t>RF 7</a:t>
                      </a:r>
                      <a:endParaRPr sz="1600" b="0">
                        <a:solidFill>
                          <a:srgbClr val="1A1A1A"/>
                        </a:solidFill>
                        <a:latin typeface="Arial"/>
                      </a:endParaRPr>
                    </a:p>
                  </a:txBody>
                  <a:tcPr marL="73152" marR="73152" marT="27432" marB="27432"/>
                </a:tc>
                <a:tc>
                  <a:txBody>
                    <a:bodyPr/>
                    <a:lstStyle/>
                    <a:p>
                      <a:pPr algn="ctr"/>
                      <a:r>
                        <a:rPr sz="1600" b="0">
                          <a:solidFill>
                            <a:srgbClr val="1A1A1A"/>
                          </a:solidFill>
                        </a:rPr>
                        <a:t>Consultas y diagnósticos</a:t>
                      </a:r>
                      <a:endParaRPr sz="1600" b="0">
                        <a:solidFill>
                          <a:srgbClr val="1A1A1A"/>
                        </a:solidFill>
                        <a:latin typeface="Arial"/>
                      </a:endParaRPr>
                    </a:p>
                  </a:txBody>
                  <a:tcPr marL="73152" marR="73152" marT="27432" marB="27432"/>
                </a:tc>
                <a:tc>
                  <a:txBody>
                    <a:bodyPr/>
                    <a:lstStyle/>
                    <a:p>
                      <a:pPr algn="ctr"/>
                      <a:r>
                        <a:rPr sz="1600" b="0">
                          <a:solidFill>
                            <a:srgbClr val="1A1A1A"/>
                          </a:solidFill>
                        </a:rPr>
                        <a:t>4.3</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4"/>
                  </a:ext>
                </a:extLst>
              </a:tr>
              <a:tr h="396240">
                <a:tc>
                  <a:txBody>
                    <a:bodyPr/>
                    <a:lstStyle/>
                    <a:p>
                      <a:pPr algn="ctr"/>
                      <a:r>
                        <a:rPr sz="1600" b="0">
                          <a:solidFill>
                            <a:srgbClr val="1A1A1A"/>
                          </a:solidFill>
                        </a:rPr>
                        <a:t>RF 8</a:t>
                      </a:r>
                      <a:endParaRPr sz="1600" b="0">
                        <a:solidFill>
                          <a:srgbClr val="1A1A1A"/>
                        </a:solidFill>
                        <a:latin typeface="Arial"/>
                      </a:endParaRPr>
                    </a:p>
                  </a:txBody>
                  <a:tcPr marL="73152" marR="73152" marT="27432" marB="27432"/>
                </a:tc>
                <a:tc>
                  <a:txBody>
                    <a:bodyPr/>
                    <a:lstStyle/>
                    <a:p>
                      <a:pPr algn="ctr"/>
                      <a:r>
                        <a:rPr sz="1600" b="0">
                          <a:solidFill>
                            <a:srgbClr val="1A1A1A"/>
                          </a:solidFill>
                        </a:rPr>
                        <a:t>Prescripciones</a:t>
                      </a:r>
                      <a:endParaRPr sz="1600" b="0">
                        <a:solidFill>
                          <a:srgbClr val="1A1A1A"/>
                        </a:solidFill>
                        <a:latin typeface="Arial"/>
                      </a:endParaRPr>
                    </a:p>
                  </a:txBody>
                  <a:tcPr marL="73152" marR="73152" marT="27432" marB="27432"/>
                </a:tc>
                <a:tc>
                  <a:txBody>
                    <a:bodyPr/>
                    <a:lstStyle/>
                    <a:p>
                      <a:pPr algn="ctr"/>
                      <a:r>
                        <a:rPr sz="1600" b="0">
                          <a:solidFill>
                            <a:srgbClr val="1A1A1A"/>
                          </a:solidFill>
                        </a:rPr>
                        <a:t>4.2</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5"/>
                  </a:ext>
                </a:extLst>
              </a:tr>
              <a:tr h="396240">
                <a:tc>
                  <a:txBody>
                    <a:bodyPr/>
                    <a:lstStyle/>
                    <a:p>
                      <a:pPr algn="ctr"/>
                      <a:r>
                        <a:rPr sz="1600" b="0">
                          <a:solidFill>
                            <a:srgbClr val="1A1A1A"/>
                          </a:solidFill>
                        </a:rPr>
                        <a:t>RF 9</a:t>
                      </a:r>
                      <a:endParaRPr sz="1600" b="0">
                        <a:solidFill>
                          <a:srgbClr val="1A1A1A"/>
                        </a:solidFill>
                        <a:latin typeface="Arial"/>
                      </a:endParaRPr>
                    </a:p>
                  </a:txBody>
                  <a:tcPr marL="73152" marR="73152" marT="27432" marB="27432"/>
                </a:tc>
                <a:tc>
                  <a:txBody>
                    <a:bodyPr/>
                    <a:lstStyle/>
                    <a:p>
                      <a:pPr algn="ctr"/>
                      <a:r>
                        <a:rPr sz="1600" b="0">
                          <a:solidFill>
                            <a:srgbClr val="1A1A1A"/>
                          </a:solidFill>
                        </a:rPr>
                        <a:t>Exámenes de laboratorio</a:t>
                      </a:r>
                      <a:endParaRPr sz="1600" b="0">
                        <a:solidFill>
                          <a:srgbClr val="1A1A1A"/>
                        </a:solidFill>
                        <a:latin typeface="Arial"/>
                      </a:endParaRPr>
                    </a:p>
                  </a:txBody>
                  <a:tcPr marL="73152" marR="73152" marT="27432" marB="27432"/>
                </a:tc>
                <a:tc>
                  <a:txBody>
                    <a:bodyPr/>
                    <a:lstStyle/>
                    <a:p>
                      <a:pPr algn="ctr"/>
                      <a:r>
                        <a:rPr sz="1600" b="0">
                          <a:solidFill>
                            <a:srgbClr val="1A1A1A"/>
                          </a:solidFill>
                        </a:rPr>
                        <a:t>4.2</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6"/>
                  </a:ext>
                </a:extLst>
              </a:tr>
              <a:tr h="396240">
                <a:tc>
                  <a:txBody>
                    <a:bodyPr/>
                    <a:lstStyle/>
                    <a:p>
                      <a:pPr algn="ctr"/>
                      <a:r>
                        <a:rPr sz="1600" b="0">
                          <a:solidFill>
                            <a:srgbClr val="1A1A1A"/>
                          </a:solidFill>
                        </a:rPr>
                        <a:t>RF 2</a:t>
                      </a:r>
                      <a:endParaRPr sz="1600" b="0">
                        <a:solidFill>
                          <a:srgbClr val="1A1A1A"/>
                        </a:solidFill>
                        <a:latin typeface="Arial"/>
                      </a:endParaRPr>
                    </a:p>
                  </a:txBody>
                  <a:tcPr marL="73152" marR="73152" marT="27432" marB="27432"/>
                </a:tc>
                <a:tc>
                  <a:txBody>
                    <a:bodyPr/>
                    <a:lstStyle/>
                    <a:p>
                      <a:pPr algn="ctr"/>
                      <a:r>
                        <a:rPr sz="1600" b="0">
                          <a:solidFill>
                            <a:srgbClr val="1A1A1A"/>
                          </a:solidFill>
                        </a:rPr>
                        <a:t>Gestión de usuarios</a:t>
                      </a:r>
                      <a:endParaRPr sz="1600" b="0">
                        <a:solidFill>
                          <a:srgbClr val="1A1A1A"/>
                        </a:solidFill>
                        <a:latin typeface="Arial"/>
                      </a:endParaRPr>
                    </a:p>
                  </a:txBody>
                  <a:tcPr marL="73152" marR="73152" marT="27432" marB="27432"/>
                </a:tc>
                <a:tc>
                  <a:txBody>
                    <a:bodyPr/>
                    <a:lstStyle/>
                    <a:p>
                      <a:pPr algn="ctr"/>
                      <a:r>
                        <a:rPr sz="1600" b="0">
                          <a:solidFill>
                            <a:srgbClr val="1A1A1A"/>
                          </a:solidFill>
                        </a:rPr>
                        <a:t>4.1</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7"/>
                  </a:ext>
                </a:extLst>
              </a:tr>
              <a:tr h="396240">
                <a:tc>
                  <a:txBody>
                    <a:bodyPr/>
                    <a:lstStyle/>
                    <a:p>
                      <a:pPr algn="ctr"/>
                      <a:r>
                        <a:rPr sz="1600" b="0">
                          <a:solidFill>
                            <a:srgbClr val="1A1A1A"/>
                          </a:solidFill>
                        </a:rPr>
                        <a:t>RF 3</a:t>
                      </a:r>
                      <a:endParaRPr sz="1600" b="0">
                        <a:solidFill>
                          <a:srgbClr val="1A1A1A"/>
                        </a:solidFill>
                        <a:latin typeface="Arial"/>
                      </a:endParaRPr>
                    </a:p>
                  </a:txBody>
                  <a:tcPr marL="73152" marR="73152" marT="27432" marB="27432"/>
                </a:tc>
                <a:tc>
                  <a:txBody>
                    <a:bodyPr/>
                    <a:lstStyle/>
                    <a:p>
                      <a:pPr algn="ctr"/>
                      <a:r>
                        <a:rPr sz="1600" b="0">
                          <a:solidFill>
                            <a:srgbClr val="1A1A1A"/>
                          </a:solidFill>
                        </a:rPr>
                        <a:t>Gestión de médicos</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4.1</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10008"/>
                  </a:ext>
                </a:extLst>
              </a:tr>
              <a:tr h="396240">
                <a:tc>
                  <a:txBody>
                    <a:bodyPr/>
                    <a:lstStyle/>
                    <a:p>
                      <a:pPr algn="ctr"/>
                      <a:r>
                        <a:rPr sz="1600" b="0">
                          <a:solidFill>
                            <a:srgbClr val="1A1A1A"/>
                          </a:solidFill>
                        </a:rPr>
                        <a:t>RF 4</a:t>
                      </a:r>
                      <a:endParaRPr sz="1600" b="0">
                        <a:solidFill>
                          <a:srgbClr val="1A1A1A"/>
                        </a:solidFill>
                        <a:latin typeface="Arial"/>
                      </a:endParaRPr>
                    </a:p>
                  </a:txBody>
                  <a:tcPr marL="73152" marR="73152" marT="27432" marB="27432"/>
                </a:tc>
                <a:tc>
                  <a:txBody>
                    <a:bodyPr/>
                    <a:lstStyle/>
                    <a:p>
                      <a:pPr algn="ctr"/>
                      <a:r>
                        <a:rPr sz="1600" b="0">
                          <a:solidFill>
                            <a:srgbClr val="1A1A1A"/>
                          </a:solidFill>
                        </a:rPr>
                        <a:t>Gestión de pacientes</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4.1</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3152726082"/>
                  </a:ext>
                </a:extLst>
              </a:tr>
              <a:tr h="396240">
                <a:tc>
                  <a:txBody>
                    <a:bodyPr/>
                    <a:lstStyle/>
                    <a:p>
                      <a:pPr algn="ctr"/>
                      <a:r>
                        <a:rPr sz="1600" b="0">
                          <a:solidFill>
                            <a:srgbClr val="1A1A1A"/>
                          </a:solidFill>
                        </a:rPr>
                        <a:t>RF 10</a:t>
                      </a:r>
                      <a:endParaRPr sz="1600" b="0">
                        <a:solidFill>
                          <a:srgbClr val="1A1A1A"/>
                        </a:solidFill>
                        <a:latin typeface="Arial"/>
                      </a:endParaRPr>
                    </a:p>
                  </a:txBody>
                  <a:tcPr marL="73152" marR="73152" marT="27432" marB="27432"/>
                </a:tc>
                <a:tc>
                  <a:txBody>
                    <a:bodyPr/>
                    <a:lstStyle/>
                    <a:p>
                      <a:pPr algn="ctr"/>
                      <a:r>
                        <a:rPr sz="1600" b="0">
                          <a:solidFill>
                            <a:srgbClr val="1A1A1A"/>
                          </a:solidFill>
                        </a:rPr>
                        <a:t>Catálogos</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3.6</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1547818867"/>
                  </a:ext>
                </a:extLst>
              </a:tr>
            </a:tbl>
          </a:graphicData>
        </a:graphic>
      </p:graphicFrame>
      <p:sp>
        <p:nvSpPr>
          <p:cNvPr id="25" name="TextBox 24"/>
          <p:cNvSpPr txBox="1"/>
          <p:nvPr/>
        </p:nvSpPr>
        <p:spPr>
          <a:xfrm>
            <a:off x="1164925" y="5617302"/>
            <a:ext cx="9862149" cy="923330"/>
          </a:xfrm>
          <a:prstGeom prst="rect">
            <a:avLst/>
          </a:prstGeom>
          <a:noFill/>
        </p:spPr>
        <p:txBody>
          <a:bodyPr wrap="square">
            <a:spAutoFit/>
          </a:bodyPr>
          <a:lstStyle/>
          <a:p>
            <a:pPr algn="l"/>
            <a:r>
              <a:rPr sz="1800" b="0" dirty="0" err="1">
                <a:solidFill>
                  <a:srgbClr val="1A1A1A"/>
                </a:solidFill>
                <a:latin typeface="Arial"/>
              </a:rPr>
              <a:t>Encabeza la lista agendamiento de citas, que es el módulo del que depende el problema que el proyecto viene a resolver, y cierra catálogos, que agrupa parámetros que se ajustan de vez en cuando.</a:t>
            </a:r>
          </a:p>
        </p:txBody>
      </p:sp>
    </p:spTree>
    <p:extLst>
      <p:ext uri="{BB962C8B-B14F-4D97-AF65-F5344CB8AC3E}">
        <p14:creationId xmlns:p14="http://schemas.microsoft.com/office/powerpoint/2010/main" val="1994318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794D8E1D-6EE8-ABF3-3FB0-CC387045F82E}"/>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Requisitos Funcionales</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2913115417"/>
              </p:ext>
            </p:extLst>
          </p:nvPr>
        </p:nvGraphicFramePr>
        <p:xfrm>
          <a:off x="1249679" y="1258505"/>
          <a:ext cx="9692640" cy="4718304"/>
        </p:xfrm>
        <a:graphic>
          <a:graphicData uri="http://schemas.openxmlformats.org/drawingml/2006/table">
            <a:tbl>
              <a:tblPr firstRow="1" bandRow="1">
                <a:tableStyleId>{21E4AEA4-8DFA-4A89-87EB-49C32662AFE0}</a:tableStyleId>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93192">
                <a:tc>
                  <a:txBody>
                    <a:bodyPr/>
                    <a:lstStyle/>
                    <a:p>
                      <a:pPr algn="ctr"/>
                      <a:r>
                        <a:rPr sz="1500" b="1" dirty="0">
                          <a:solidFill>
                            <a:srgbClr val="FFFFFF"/>
                          </a:solidFill>
                        </a:rPr>
                        <a:t>Código</a:t>
                      </a:r>
                      <a:endParaRPr sz="1500" b="1" dirty="0">
                        <a:solidFill>
                          <a:srgbClr val="FFFFFF"/>
                        </a:solidFill>
                        <a:latin typeface="Arial"/>
                      </a:endParaRPr>
                    </a:p>
                  </a:txBody>
                  <a:tcPr marL="73152" marR="73152" marT="27432" marB="27432"/>
                </a:tc>
                <a:tc>
                  <a:txBody>
                    <a:bodyPr/>
                    <a:lstStyle/>
                    <a:p>
                      <a:pPr algn="ctr"/>
                      <a:r>
                        <a:rPr sz="1500" b="1" dirty="0" err="1">
                          <a:solidFill>
                            <a:srgbClr val="FFFFFF"/>
                          </a:solidFill>
                        </a:rPr>
                        <a:t>Módulo</a:t>
                      </a:r>
                      <a:endParaRPr sz="1500" b="1" dirty="0">
                        <a:solidFill>
                          <a:srgbClr val="FFFFFF"/>
                        </a:solidFill>
                        <a:latin typeface="Arial"/>
                      </a:endParaRPr>
                    </a:p>
                  </a:txBody>
                  <a:tcPr marL="73152" marR="73152" marT="27432" marB="27432"/>
                </a:tc>
                <a:tc>
                  <a:txBody>
                    <a:bodyPr/>
                    <a:lstStyle/>
                    <a:p>
                      <a:pPr algn="ctr"/>
                      <a:r>
                        <a:rPr sz="1500" b="1">
                          <a:solidFill>
                            <a:srgbClr val="FFFFFF"/>
                          </a:solidFill>
                        </a:rPr>
                        <a:t>Requisitos</a:t>
                      </a:r>
                      <a:endParaRPr sz="1500" b="1">
                        <a:solidFill>
                          <a:srgbClr val="FFFFFF"/>
                        </a:solidFill>
                        <a:latin typeface="Arial"/>
                      </a:endParaRPr>
                    </a:p>
                  </a:txBody>
                  <a:tcPr marL="73152" marR="73152" marT="27432" marB="27432"/>
                </a:tc>
                <a:tc>
                  <a:txBody>
                    <a:bodyPr/>
                    <a:lstStyle/>
                    <a:p>
                      <a:pPr algn="ctr"/>
                      <a:r>
                        <a:rPr sz="1500" b="1">
                          <a:solidFill>
                            <a:srgbClr val="FFFFFF"/>
                          </a:solidFill>
                        </a:rPr>
                        <a:t>Críticos</a:t>
                      </a:r>
                      <a:endParaRPr sz="15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393192">
                <a:tc>
                  <a:txBody>
                    <a:bodyPr/>
                    <a:lstStyle/>
                    <a:p>
                      <a:pPr algn="ctr"/>
                      <a:r>
                        <a:rPr sz="1500" b="1">
                          <a:solidFill>
                            <a:srgbClr val="1A1A1A"/>
                          </a:solidFill>
                        </a:rPr>
                        <a:t>RF 1</a:t>
                      </a:r>
                      <a:endParaRPr sz="1500" b="1">
                        <a:solidFill>
                          <a:srgbClr val="1A1A1A"/>
                        </a:solidFill>
                        <a:latin typeface="Arial"/>
                      </a:endParaRPr>
                    </a:p>
                  </a:txBody>
                  <a:tcPr marL="73152" marR="73152" marT="27432" marB="27432"/>
                </a:tc>
                <a:tc>
                  <a:txBody>
                    <a:bodyPr/>
                    <a:lstStyle/>
                    <a:p>
                      <a:pPr algn="ctr"/>
                      <a:r>
                        <a:rPr sz="1500" b="1" dirty="0" err="1">
                          <a:solidFill>
                            <a:srgbClr val="1A1A1A"/>
                          </a:solidFill>
                        </a:rPr>
                        <a:t>Autenticación</a:t>
                      </a:r>
                      <a:r>
                        <a:rPr sz="1500" b="1" dirty="0">
                          <a:solidFill>
                            <a:srgbClr val="1A1A1A"/>
                          </a:solidFill>
                        </a:rPr>
                        <a:t> y </a:t>
                      </a:r>
                      <a:r>
                        <a:rPr sz="1500" b="1" dirty="0" err="1">
                          <a:solidFill>
                            <a:srgbClr val="1A1A1A"/>
                          </a:solidFill>
                        </a:rPr>
                        <a:t>sesión</a:t>
                      </a:r>
                      <a:endParaRPr sz="1500" b="1" dirty="0">
                        <a:solidFill>
                          <a:srgbClr val="1A1A1A"/>
                        </a:solidFill>
                        <a:latin typeface="Arial"/>
                      </a:endParaRPr>
                    </a:p>
                  </a:txBody>
                  <a:tcPr marL="73152" marR="73152" marT="27432" marB="27432"/>
                </a:tc>
                <a:tc>
                  <a:txBody>
                    <a:bodyPr/>
                    <a:lstStyle/>
                    <a:p>
                      <a:pPr algn="ctr"/>
                      <a:r>
                        <a:rPr sz="1500" b="1">
                          <a:solidFill>
                            <a:srgbClr val="1A1A1A"/>
                          </a:solidFill>
                        </a:rPr>
                        <a:t>9</a:t>
                      </a:r>
                      <a:endParaRPr sz="1500" b="1">
                        <a:solidFill>
                          <a:srgbClr val="1A1A1A"/>
                        </a:solidFill>
                        <a:latin typeface="Arial"/>
                      </a:endParaRPr>
                    </a:p>
                  </a:txBody>
                  <a:tcPr marL="73152" marR="73152" marT="27432" marB="27432"/>
                </a:tc>
                <a:tc>
                  <a:txBody>
                    <a:bodyPr/>
                    <a:lstStyle/>
                    <a:p>
                      <a:pPr algn="ctr"/>
                      <a:r>
                        <a:rPr sz="1500" b="1">
                          <a:solidFill>
                            <a:srgbClr val="1A1A1A"/>
                          </a:solidFill>
                        </a:rPr>
                        <a:t>6</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1"/>
                  </a:ext>
                </a:extLst>
              </a:tr>
              <a:tr h="393192">
                <a:tc>
                  <a:txBody>
                    <a:bodyPr/>
                    <a:lstStyle/>
                    <a:p>
                      <a:pPr algn="ctr"/>
                      <a:r>
                        <a:rPr sz="1500" b="1">
                          <a:solidFill>
                            <a:srgbClr val="1A1A1A"/>
                          </a:solidFill>
                        </a:rPr>
                        <a:t>RF 2</a:t>
                      </a:r>
                      <a:endParaRPr sz="1500" b="1">
                        <a:solidFill>
                          <a:srgbClr val="1A1A1A"/>
                        </a:solidFill>
                        <a:latin typeface="Arial"/>
                      </a:endParaRPr>
                    </a:p>
                  </a:txBody>
                  <a:tcPr marL="73152" marR="73152" marT="27432" marB="27432"/>
                </a:tc>
                <a:tc>
                  <a:txBody>
                    <a:bodyPr/>
                    <a:lstStyle/>
                    <a:p>
                      <a:pPr algn="ctr"/>
                      <a:r>
                        <a:rPr sz="1500" b="1" dirty="0" err="1">
                          <a:solidFill>
                            <a:srgbClr val="1A1A1A"/>
                          </a:solidFill>
                        </a:rPr>
                        <a:t>Gestión</a:t>
                      </a:r>
                      <a:r>
                        <a:rPr sz="1500" b="1" dirty="0">
                          <a:solidFill>
                            <a:srgbClr val="1A1A1A"/>
                          </a:solidFill>
                        </a:rPr>
                        <a:t> de </a:t>
                      </a:r>
                      <a:r>
                        <a:rPr sz="1500" b="1" dirty="0" err="1">
                          <a:solidFill>
                            <a:srgbClr val="1A1A1A"/>
                          </a:solidFill>
                        </a:rPr>
                        <a:t>usuarios</a:t>
                      </a:r>
                      <a:endParaRPr sz="1500" b="1" dirty="0">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2"/>
                  </a:ext>
                </a:extLst>
              </a:tr>
              <a:tr h="393192">
                <a:tc>
                  <a:txBody>
                    <a:bodyPr/>
                    <a:lstStyle/>
                    <a:p>
                      <a:pPr algn="ctr"/>
                      <a:r>
                        <a:rPr sz="1500" b="1">
                          <a:solidFill>
                            <a:srgbClr val="1A1A1A"/>
                          </a:solidFill>
                        </a:rPr>
                        <a:t>RF 3</a:t>
                      </a:r>
                      <a:endParaRPr sz="1500" b="1">
                        <a:solidFill>
                          <a:srgbClr val="1A1A1A"/>
                        </a:solidFill>
                        <a:latin typeface="Arial"/>
                      </a:endParaRPr>
                    </a:p>
                  </a:txBody>
                  <a:tcPr marL="73152" marR="73152" marT="27432" marB="27432"/>
                </a:tc>
                <a:tc>
                  <a:txBody>
                    <a:bodyPr/>
                    <a:lstStyle/>
                    <a:p>
                      <a:pPr algn="ctr"/>
                      <a:r>
                        <a:rPr sz="1500" b="1">
                          <a:solidFill>
                            <a:srgbClr val="1A1A1A"/>
                          </a:solidFill>
                        </a:rPr>
                        <a:t>Gestión de médicos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3"/>
                  </a:ext>
                </a:extLst>
              </a:tr>
              <a:tr h="393192">
                <a:tc>
                  <a:txBody>
                    <a:bodyPr/>
                    <a:lstStyle/>
                    <a:p>
                      <a:pPr algn="ctr"/>
                      <a:r>
                        <a:rPr sz="1500" b="1">
                          <a:solidFill>
                            <a:srgbClr val="1A1A1A"/>
                          </a:solidFill>
                        </a:rPr>
                        <a:t>RF 4</a:t>
                      </a:r>
                      <a:endParaRPr sz="1500" b="1">
                        <a:solidFill>
                          <a:srgbClr val="1A1A1A"/>
                        </a:solidFill>
                        <a:latin typeface="Arial"/>
                      </a:endParaRPr>
                    </a:p>
                  </a:txBody>
                  <a:tcPr marL="73152" marR="73152" marT="27432" marB="27432"/>
                </a:tc>
                <a:tc>
                  <a:txBody>
                    <a:bodyPr/>
                    <a:lstStyle/>
                    <a:p>
                      <a:pPr algn="ctr"/>
                      <a:r>
                        <a:rPr sz="1500" b="1">
                          <a:solidFill>
                            <a:srgbClr val="1A1A1A"/>
                          </a:solidFill>
                        </a:rPr>
                        <a:t>Gestión de pacientes</a:t>
                      </a:r>
                      <a:endParaRPr sz="1500" b="1">
                        <a:solidFill>
                          <a:srgbClr val="1A1A1A"/>
                        </a:solidFill>
                        <a:latin typeface="Arial"/>
                      </a:endParaRPr>
                    </a:p>
                  </a:txBody>
                  <a:tcPr marL="73152" marR="73152" marT="27432" marB="27432"/>
                </a:tc>
                <a:tc>
                  <a:txBody>
                    <a:bodyPr/>
                    <a:lstStyle/>
                    <a:p>
                      <a:pPr algn="ctr"/>
                      <a:r>
                        <a:rPr sz="1500" b="1">
                          <a:solidFill>
                            <a:srgbClr val="1A1A1A"/>
                          </a:solidFill>
                        </a:rPr>
                        <a:t>9</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4"/>
                  </a:ext>
                </a:extLst>
              </a:tr>
              <a:tr h="393192">
                <a:tc>
                  <a:txBody>
                    <a:bodyPr/>
                    <a:lstStyle/>
                    <a:p>
                      <a:pPr algn="ctr"/>
                      <a:r>
                        <a:rPr sz="1500" b="1">
                          <a:solidFill>
                            <a:srgbClr val="1A1A1A"/>
                          </a:solidFill>
                        </a:rPr>
                        <a:t>RF 5</a:t>
                      </a:r>
                      <a:endParaRPr sz="1500" b="1">
                        <a:solidFill>
                          <a:srgbClr val="1A1A1A"/>
                        </a:solidFill>
                        <a:latin typeface="Arial"/>
                      </a:endParaRPr>
                    </a:p>
                  </a:txBody>
                  <a:tcPr marL="73152" marR="73152" marT="27432" marB="27432"/>
                </a:tc>
                <a:tc>
                  <a:txBody>
                    <a:bodyPr/>
                    <a:lstStyle/>
                    <a:p>
                      <a:pPr algn="ctr"/>
                      <a:r>
                        <a:rPr sz="1500" b="1">
                          <a:solidFill>
                            <a:srgbClr val="1A1A1A"/>
                          </a:solidFill>
                        </a:rPr>
                        <a:t>Agendamiento de citas</a:t>
                      </a:r>
                      <a:endParaRPr sz="1500" b="1">
                        <a:solidFill>
                          <a:srgbClr val="1A1A1A"/>
                        </a:solidFill>
                        <a:latin typeface="Arial"/>
                      </a:endParaRPr>
                    </a:p>
                  </a:txBody>
                  <a:tcPr marL="73152" marR="73152" marT="27432" marB="27432"/>
                </a:tc>
                <a:tc>
                  <a:txBody>
                    <a:bodyPr/>
                    <a:lstStyle/>
                    <a:p>
                      <a:pPr algn="ctr"/>
                      <a:r>
                        <a:rPr sz="1500" b="1">
                          <a:solidFill>
                            <a:srgbClr val="1A1A1A"/>
                          </a:solidFill>
                        </a:rPr>
                        <a:t>14</a:t>
                      </a:r>
                      <a:endParaRPr sz="1500" b="1">
                        <a:solidFill>
                          <a:srgbClr val="1A1A1A"/>
                        </a:solidFill>
                        <a:latin typeface="Arial"/>
                      </a:endParaRPr>
                    </a:p>
                  </a:txBody>
                  <a:tcPr marL="73152" marR="73152" marT="27432" marB="27432"/>
                </a:tc>
                <a:tc>
                  <a:txBody>
                    <a:bodyPr/>
                    <a:lstStyle/>
                    <a:p>
                      <a:pPr algn="ctr"/>
                      <a:r>
                        <a:rPr sz="1500" b="1">
                          <a:solidFill>
                            <a:srgbClr val="1A1A1A"/>
                          </a:solidFill>
                        </a:rPr>
                        <a:t>11</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5"/>
                  </a:ext>
                </a:extLst>
              </a:tr>
              <a:tr h="393192">
                <a:tc>
                  <a:txBody>
                    <a:bodyPr/>
                    <a:lstStyle/>
                    <a:p>
                      <a:pPr algn="ctr"/>
                      <a:r>
                        <a:rPr sz="1500" b="1">
                          <a:solidFill>
                            <a:srgbClr val="1A1A1A"/>
                          </a:solidFill>
                        </a:rPr>
                        <a:t>RF 6</a:t>
                      </a:r>
                      <a:endParaRPr sz="1500" b="1">
                        <a:solidFill>
                          <a:srgbClr val="1A1A1A"/>
                        </a:solidFill>
                        <a:latin typeface="Arial"/>
                      </a:endParaRPr>
                    </a:p>
                  </a:txBody>
                  <a:tcPr marL="73152" marR="73152" marT="27432" marB="27432"/>
                </a:tc>
                <a:tc>
                  <a:txBody>
                    <a:bodyPr/>
                    <a:lstStyle/>
                    <a:p>
                      <a:pPr algn="ctr"/>
                      <a:r>
                        <a:rPr sz="1500" b="1">
                          <a:solidFill>
                            <a:srgbClr val="1A1A1A"/>
                          </a:solidFill>
                        </a:rPr>
                        <a:t>Historia clínica</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5</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6"/>
                  </a:ext>
                </a:extLst>
              </a:tr>
              <a:tr h="393192">
                <a:tc>
                  <a:txBody>
                    <a:bodyPr/>
                    <a:lstStyle/>
                    <a:p>
                      <a:pPr algn="ctr"/>
                      <a:r>
                        <a:rPr sz="1500" b="1">
                          <a:solidFill>
                            <a:srgbClr val="1A1A1A"/>
                          </a:solidFill>
                        </a:rPr>
                        <a:t>RF 7</a:t>
                      </a:r>
                      <a:endParaRPr sz="1500" b="1">
                        <a:solidFill>
                          <a:srgbClr val="1A1A1A"/>
                        </a:solidFill>
                        <a:latin typeface="Arial"/>
                      </a:endParaRPr>
                    </a:p>
                  </a:txBody>
                  <a:tcPr marL="73152" marR="73152" marT="27432" marB="27432"/>
                </a:tc>
                <a:tc>
                  <a:txBody>
                    <a:bodyPr/>
                    <a:lstStyle/>
                    <a:p>
                      <a:pPr algn="ctr"/>
                      <a:r>
                        <a:rPr sz="1500" b="1">
                          <a:solidFill>
                            <a:srgbClr val="1A1A1A"/>
                          </a:solidFill>
                        </a:rPr>
                        <a:t>Consultas y diagnósticos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5</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7"/>
                  </a:ext>
                </a:extLst>
              </a:tr>
              <a:tr h="393192">
                <a:tc>
                  <a:txBody>
                    <a:bodyPr/>
                    <a:lstStyle/>
                    <a:p>
                      <a:pPr algn="ctr"/>
                      <a:r>
                        <a:rPr sz="1500" b="1">
                          <a:solidFill>
                            <a:srgbClr val="1A1A1A"/>
                          </a:solidFill>
                        </a:rPr>
                        <a:t>RF 8</a:t>
                      </a:r>
                      <a:endParaRPr sz="1500" b="1">
                        <a:solidFill>
                          <a:srgbClr val="1A1A1A"/>
                        </a:solidFill>
                        <a:latin typeface="Arial"/>
                      </a:endParaRPr>
                    </a:p>
                  </a:txBody>
                  <a:tcPr marL="73152" marR="73152" marT="27432" marB="27432"/>
                </a:tc>
                <a:tc>
                  <a:txBody>
                    <a:bodyPr/>
                    <a:lstStyle/>
                    <a:p>
                      <a:pPr algn="ctr"/>
                      <a:r>
                        <a:rPr sz="1500" b="1">
                          <a:solidFill>
                            <a:srgbClr val="1A1A1A"/>
                          </a:solidFill>
                        </a:rPr>
                        <a:t>Prescripciones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8"/>
                  </a:ext>
                </a:extLst>
              </a:tr>
              <a:tr h="393192">
                <a:tc>
                  <a:txBody>
                    <a:bodyPr/>
                    <a:lstStyle/>
                    <a:p>
                      <a:pPr algn="ctr"/>
                      <a:r>
                        <a:rPr>
                          <a:solidFill/>
                        </a:rPr>
                        <a:t>RF 9</a:t>
                      </a:r>
                      <a:endParaRPr b="1"/>
                    </a:p>
                  </a:txBody>
                  <a:tcPr marL="73152" marR="73152" marT="27432" marB="27432"/>
                </a:tc>
                <a:tc>
                  <a:txBody>
                    <a:bodyPr/>
                    <a:lstStyle/>
                    <a:p>
                      <a:pPr algn="ctr"/>
                      <a:r>
                        <a:rPr sz="1500" b="1">
                          <a:solidFill>
                            <a:srgbClr val="1A1A1A"/>
                          </a:solidFill>
                        </a:rPr>
                        <a:t>Exámenes de laboratorio</a:t>
                      </a:r>
                      <a:endParaRPr sz="1500" b="1">
                        <a:solidFill>
                          <a:srgbClr val="1A1A1A"/>
                        </a:solidFill>
                        <a:latin typeface="Arial"/>
                      </a:endParaRPr>
                    </a:p>
                  </a:txBody>
                  <a:tcPr marL="73152" marR="73152" marT="27432" marB="27432"/>
                </a:tc>
                <a:tc>
                  <a:txBody>
                    <a:bodyPr/>
                    <a:lstStyle/>
                    <a:p>
                      <a:pPr algn="ctr"/>
                      <a:r>
                        <a:rPr sz="1500" b="1">
                          <a:solidFill>
                            <a:srgbClr val="1A1A1A"/>
                          </a:solidFill>
                        </a:rPr>
                        <a:t>7</a:t>
                      </a:r>
                      <a:endParaRPr sz="1500" b="1">
                        <a:solidFill>
                          <a:srgbClr val="1A1A1A"/>
                        </a:solidFill>
                        <a:latin typeface="Arial"/>
                      </a:endParaRPr>
                    </a:p>
                  </a:txBody>
                  <a:tcPr marL="73152" marR="73152" marT="27432" marB="27432"/>
                </a:tc>
                <a:tc>
                  <a:txBody>
                    <a:bodyPr/>
                    <a:lstStyle/>
                    <a:p>
                      <a:pPr algn="ctr"/>
                      <a:r>
                        <a:rPr sz="1500" b="1" dirty="0">
                          <a:solidFill>
                            <a:srgbClr val="1A1A1A"/>
                          </a:solidFill>
                        </a:rPr>
                        <a:t>3</a:t>
                      </a:r>
                      <a:endParaRPr sz="1500" b="1" dirty="0">
                        <a:solidFill>
                          <a:srgbClr val="1A1A1A"/>
                        </a:solidFill>
                        <a:latin typeface="Arial"/>
                      </a:endParaRPr>
                    </a:p>
                  </a:txBody>
                  <a:tcPr marL="73152" marR="73152" marT="27432" marB="27432"/>
                </a:tc>
                <a:extLst>
                  <a:ext uri="{0D108BD9-81ED-4DB2-BD59-A6C34878D82A}">
                    <a16:rowId xmlns:a16="http://schemas.microsoft.com/office/drawing/2014/main" val="10009"/>
                  </a:ext>
                </a:extLst>
              </a:tr>
              <a:tr h="393192">
                <a:tc>
                  <a:txBody>
                    <a:bodyPr/>
                    <a:lstStyle/>
                    <a:p>
                      <a:pPr algn="ctr"/>
                      <a:r>
                        <a:rPr>
                          <a:solidFill/>
                        </a:rPr>
                        <a:t>RF 10</a:t>
                      </a:r>
                      <a:endParaRPr b="1"/>
                    </a:p>
                  </a:txBody>
                  <a:tcPr marL="73152" marR="73152" marT="27432" marB="27432"/>
                </a:tc>
                <a:tc>
                  <a:txBody>
                    <a:bodyPr/>
                    <a:lstStyle/>
                    <a:p>
                      <a:pPr algn="ctr"/>
                      <a:r>
                        <a:rPr sz="1500" b="1">
                          <a:solidFill>
                            <a:srgbClr val="1A1A1A"/>
                          </a:solidFill>
                        </a:rPr>
                        <a:t>Catálogos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dirty="0">
                          <a:solidFill>
                            <a:srgbClr val="1A1A1A"/>
                          </a:solidFill>
                        </a:rPr>
                        <a:t>0</a:t>
                      </a:r>
                      <a:endParaRPr sz="1500" b="1" dirty="0">
                        <a:solidFill>
                          <a:srgbClr val="1A1A1A"/>
                        </a:solidFill>
                        <a:latin typeface="Arial"/>
                      </a:endParaRPr>
                    </a:p>
                  </a:txBody>
                  <a:tcPr marL="73152" marR="73152" marT="27432" marB="27432"/>
                </a:tc>
                <a:extLst>
                  <a:ext uri="{0D108BD9-81ED-4DB2-BD59-A6C34878D82A}">
                    <a16:rowId xmlns:a16="http://schemas.microsoft.com/office/drawing/2014/main" val="2962975058"/>
                  </a:ext>
                </a:extLst>
              </a:tr>
              <a:tr h="393192">
                <a:tc>
                  <a:txBody>
                    <a:bodyPr/>
                    <a:lstStyle/>
                    <a:p>
                      <a:pPr algn="ctr"/>
                      <a:endParaRPr b="1"/>
                    </a:p>
                  </a:txBody>
                  <a:tcPr marL="73152" marR="73152" marT="27432" marB="27432"/>
                </a:tc>
                <a:tc>
                  <a:txBody>
                    <a:bodyPr/>
                    <a:lstStyle/>
                    <a:p>
                      <a:pPr algn="ctr"/>
                      <a:r>
                        <a:rPr sz="1500" b="1">
                          <a:solidFill>
                            <a:srgbClr val="1A1A1A"/>
                          </a:solidFill>
                        </a:rPr>
                        <a:t>Total</a:t>
                      </a:r>
                      <a:endParaRPr sz="1500" b="1">
                        <a:solidFill>
                          <a:srgbClr val="1A1A1A"/>
                        </a:solidFill>
                        <a:latin typeface="Arial"/>
                      </a:endParaRPr>
                    </a:p>
                  </a:txBody>
                  <a:tcPr marL="73152" marR="73152" marT="27432" marB="27432"/>
                </a:tc>
                <a:tc>
                  <a:txBody>
                    <a:bodyPr/>
                    <a:lstStyle/>
                    <a:p>
                      <a:pPr algn="ctr"/>
                      <a:r>
                        <a:rPr sz="1500" b="1">
                          <a:solidFill>
                            <a:srgbClr val="1A1A1A"/>
                          </a:solidFill>
                        </a:rPr>
                        <a:t>87</a:t>
                      </a:r>
                      <a:endParaRPr sz="1500" b="1">
                        <a:solidFill>
                          <a:srgbClr val="1A1A1A"/>
                        </a:solidFill>
                        <a:latin typeface="Arial"/>
                      </a:endParaRPr>
                    </a:p>
                  </a:txBody>
                  <a:tcPr marL="73152" marR="73152" marT="27432" marB="27432"/>
                </a:tc>
                <a:tc>
                  <a:txBody>
                    <a:bodyPr/>
                    <a:lstStyle/>
                    <a:p>
                      <a:pPr algn="ctr"/>
                      <a:r>
                        <a:rPr sz="1500" b="1" dirty="0">
                          <a:solidFill>
                            <a:srgbClr val="1A1A1A"/>
                          </a:solidFill>
                        </a:rPr>
                        <a:t>42</a:t>
                      </a:r>
                      <a:endParaRPr sz="1500" b="1" dirty="0">
                        <a:solidFill>
                          <a:srgbClr val="1A1A1A"/>
                        </a:solidFill>
                        <a:latin typeface="Arial"/>
                      </a:endParaRPr>
                    </a:p>
                  </a:txBody>
                  <a:tcPr marL="73152" marR="73152" marT="27432" marB="27432"/>
                </a:tc>
                <a:extLst>
                  <a:ext uri="{0D108BD9-81ED-4DB2-BD59-A6C34878D82A}">
                    <a16:rowId xmlns:a16="http://schemas.microsoft.com/office/drawing/2014/main" val="1879936815"/>
                  </a:ext>
                </a:extLst>
              </a:tr>
            </a:tbl>
          </a:graphicData>
        </a:graphic>
      </p:graphicFrame>
    </p:spTree>
    <p:extLst>
      <p:ext uri="{BB962C8B-B14F-4D97-AF65-F5344CB8AC3E}">
        <p14:creationId xmlns:p14="http://schemas.microsoft.com/office/powerpoint/2010/main" val="41090064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F7C78399-1E29-27CA-5313-4AC6DD3B1930}"/>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Requisitos No Funcionales</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3978885928"/>
              </p:ext>
            </p:extLst>
          </p:nvPr>
        </p:nvGraphicFramePr>
        <p:xfrm>
          <a:off x="678179" y="1972998"/>
          <a:ext cx="10835640" cy="2912004"/>
        </p:xfrm>
        <a:graphic>
          <a:graphicData uri="http://schemas.openxmlformats.org/drawingml/2006/table">
            <a:tbl>
              <a:tblPr firstRow="1" bandRow="1">
                <a:tableStyleId>{21E4AEA4-8DFA-4A89-87EB-49C32662AFE0}</a:tableStyleId>
              </a:tblPr>
              <a:tblGrid>
                <a:gridCol w="2834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086600">
                  <a:extLst>
                    <a:ext uri="{9D8B030D-6E8A-4147-A177-3AD203B41FA5}">
                      <a16:colId xmlns:a16="http://schemas.microsoft.com/office/drawing/2014/main" val="20002"/>
                    </a:ext>
                  </a:extLst>
                </a:gridCol>
              </a:tblGrid>
              <a:tr h="323556">
                <a:tc>
                  <a:txBody>
                    <a:bodyPr/>
                    <a:lstStyle/>
                    <a:p>
                      <a:pPr algn="ctr"/>
                      <a:r>
                        <a:rPr sz="1400" b="1">
                          <a:solidFill>
                            <a:srgbClr val="FFFFFF"/>
                          </a:solidFill>
                        </a:rPr>
                        <a:t>Categoría</a:t>
                      </a:r>
                      <a:endParaRPr sz="1400" b="1">
                        <a:solidFill>
                          <a:srgbClr val="FFFFFF"/>
                        </a:solidFill>
                        <a:latin typeface="Arial"/>
                      </a:endParaRPr>
                    </a:p>
                  </a:txBody>
                  <a:tcPr marL="73152" marR="73152" marT="27432" marB="27432"/>
                </a:tc>
                <a:tc>
                  <a:txBody>
                    <a:bodyPr/>
                    <a:lstStyle/>
                    <a:p>
                      <a:pPr algn="ctr"/>
                      <a:r>
                        <a:rPr sz="1400" b="1">
                          <a:solidFill>
                            <a:srgbClr val="FFFFFF"/>
                          </a:solidFill>
                        </a:rPr>
                        <a:t>N.º</a:t>
                      </a:r>
                      <a:endParaRPr sz="1400" b="1">
                        <a:solidFill>
                          <a:srgbClr val="FFFFFF"/>
                        </a:solidFill>
                        <a:latin typeface="Arial"/>
                      </a:endParaRPr>
                    </a:p>
                  </a:txBody>
                  <a:tcPr marL="73152" marR="73152" marT="27432" marB="27432"/>
                </a:tc>
                <a:tc>
                  <a:txBody>
                    <a:bodyPr/>
                    <a:lstStyle/>
                    <a:p>
                      <a:pPr algn="ctr"/>
                      <a:r>
                        <a:rPr sz="1400" b="1" dirty="0" err="1">
                          <a:solidFill>
                            <a:srgbClr val="FFFFFF"/>
                          </a:solidFill>
                        </a:rPr>
                        <a:t>Ejemplo</a:t>
                      </a:r>
                      <a:endParaRPr sz="14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323556">
                <a:tc>
                  <a:txBody>
                    <a:bodyPr/>
                    <a:lstStyle/>
                    <a:p>
                      <a:pPr algn="ctr"/>
                      <a:r>
                        <a:rPr sz="1400" b="1">
                          <a:solidFill>
                            <a:srgbClr val="1A1A1A"/>
                          </a:solidFill>
                        </a:rPr>
                        <a:t>Seguridad</a:t>
                      </a:r>
                      <a:endParaRPr sz="1400" b="1">
                        <a:solidFill>
                          <a:srgbClr val="1A1A1A"/>
                        </a:solidFill>
                        <a:latin typeface="Arial"/>
                      </a:endParaRPr>
                    </a:p>
                  </a:txBody>
                  <a:tcPr marL="73152" marR="73152" marT="27432" marB="27432"/>
                </a:tc>
                <a:tc>
                  <a:txBody>
                    <a:bodyPr/>
                    <a:lstStyle/>
                    <a:p>
                      <a:pPr algn="ctr"/>
                      <a:r>
                        <a:rPr sz="1400" b="1">
                          <a:solidFill>
                            <a:srgbClr val="1A1A1A"/>
                          </a:solidFill>
                        </a:rPr>
                        <a:t>7</a:t>
                      </a:r>
                      <a:endParaRPr sz="1400" b="1">
                        <a:solidFill>
                          <a:srgbClr val="1A1A1A"/>
                        </a:solidFill>
                        <a:latin typeface="Arial"/>
                      </a:endParaRPr>
                    </a:p>
                  </a:txBody>
                  <a:tcPr marL="73152" marR="73152" marT="27432" marB="27432"/>
                </a:tc>
                <a:tc>
                  <a:txBody>
                    <a:bodyPr/>
                    <a:lstStyle/>
                    <a:p>
                      <a:pPr algn="ctr"/>
                      <a:r>
                        <a:rPr sz="1400" b="1">
                          <a:solidFill>
                            <a:srgbClr val="1A1A1A"/>
                          </a:solidFill>
                        </a:rPr>
                        <a:t>La autoría de un registro clínico se toma de la sesión y nunca del formulario</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1"/>
                  </a:ext>
                </a:extLst>
              </a:tr>
              <a:tr h="323556">
                <a:tc>
                  <a:txBody>
                    <a:bodyPr/>
                    <a:lstStyle/>
                    <a:p>
                      <a:pPr algn="ctr"/>
                      <a:r>
                        <a:rPr sz="1400" b="1">
                          <a:solidFill>
                            <a:srgbClr val="1A1A1A"/>
                          </a:solidFill>
                        </a:rPr>
                        <a:t>Fiabilidad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4</a:t>
                      </a:r>
                      <a:endParaRPr sz="1400" b="1">
                        <a:solidFill>
                          <a:srgbClr val="1A1A1A"/>
                        </a:solidFill>
                        <a:latin typeface="Arial"/>
                      </a:endParaRPr>
                    </a:p>
                  </a:txBody>
                  <a:tcPr marL="73152" marR="73152" marT="27432" marB="27432"/>
                </a:tc>
                <a:tc>
                  <a:txBody>
                    <a:bodyPr/>
                    <a:lstStyle/>
                    <a:p>
                      <a:pPr algn="ctr"/>
                      <a:r>
                        <a:rPr sz="1400" b="1">
                          <a:solidFill>
                            <a:srgbClr val="1A1A1A"/>
                          </a:solidFill>
                        </a:rPr>
                        <a:t>De dos reservas simultáneas del mismo turno solo una queda en firme</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2"/>
                  </a:ext>
                </a:extLst>
              </a:tr>
              <a:tr h="323556">
                <a:tc>
                  <a:txBody>
                    <a:bodyPr/>
                    <a:lstStyle/>
                    <a:p>
                      <a:pPr algn="ctr"/>
                      <a:r>
                        <a:rPr sz="1400" b="1">
                          <a:solidFill>
                            <a:srgbClr val="1A1A1A"/>
                          </a:solidFill>
                        </a:rPr>
                        <a:t>Usabilidad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4</a:t>
                      </a:r>
                      <a:endParaRPr sz="1400" b="1">
                        <a:solidFill>
                          <a:srgbClr val="1A1A1A"/>
                        </a:solidFill>
                        <a:latin typeface="Arial"/>
                      </a:endParaRPr>
                    </a:p>
                  </a:txBody>
                  <a:tcPr marL="73152" marR="73152" marT="27432" marB="27432"/>
                </a:tc>
                <a:tc>
                  <a:txBody>
                    <a:bodyPr/>
                    <a:lstStyle/>
                    <a:p>
                      <a:pPr algn="ctr"/>
                      <a:r>
                        <a:rPr sz="1400" b="1">
                          <a:solidFill>
                            <a:srgbClr val="1A1A1A"/>
                          </a:solidFill>
                        </a:rPr>
                        <a:t>El ingreso lleva directo al panel del rol, sin pedir que se elija perfil</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3"/>
                  </a:ext>
                </a:extLst>
              </a:tr>
              <a:tr h="323556">
                <a:tc>
                  <a:txBody>
                    <a:bodyPr/>
                    <a:lstStyle/>
                    <a:p>
                      <a:pPr algn="ctr"/>
                      <a:r>
                        <a:rPr sz="1400" b="1">
                          <a:solidFill>
                            <a:srgbClr val="1A1A1A"/>
                          </a:solidFill>
                        </a:rPr>
                        <a:t>Mantenibilidad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4</a:t>
                      </a:r>
                      <a:endParaRPr sz="1400" b="1">
                        <a:solidFill>
                          <a:srgbClr val="1A1A1A"/>
                        </a:solidFill>
                        <a:latin typeface="Arial"/>
                      </a:endParaRPr>
                    </a:p>
                  </a:txBody>
                  <a:tcPr marL="73152" marR="73152" marT="27432" marB="27432"/>
                </a:tc>
                <a:tc>
                  <a:txBody>
                    <a:bodyPr/>
                    <a:lstStyle/>
                    <a:p>
                      <a:pPr algn="ctr"/>
                      <a:r>
                        <a:rPr sz="1400" b="1">
                          <a:solidFill>
                            <a:srgbClr val="1A1A1A"/>
                          </a:solidFill>
                        </a:rPr>
                        <a:t>La comprobación del rol está implementada una sola vez, como decorador</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4"/>
                  </a:ext>
                </a:extLst>
              </a:tr>
              <a:tr h="323556">
                <a:tc>
                  <a:txBody>
                    <a:bodyPr/>
                    <a:lstStyle/>
                    <a:p>
                      <a:pPr algn="ctr"/>
                      <a:r>
                        <a:rPr sz="1400" b="1">
                          <a:solidFill>
                            <a:srgbClr val="1A1A1A"/>
                          </a:solidFill>
                        </a:rPr>
                        <a:t>Rendimiento</a:t>
                      </a:r>
                      <a:endParaRPr sz="1400" b="1">
                        <a:solidFill>
                          <a:srgbClr val="1A1A1A"/>
                        </a:solidFill>
                        <a:latin typeface="Arial"/>
                      </a:endParaRPr>
                    </a:p>
                  </a:txBody>
                  <a:tcPr marL="73152" marR="73152" marT="27432" marB="27432"/>
                </a:tc>
                <a:tc>
                  <a:txBody>
                    <a:bodyPr/>
                    <a:lstStyle/>
                    <a:p>
                      <a:pPr algn="ctr"/>
                      <a:r>
                        <a:rPr sz="1400" b="1">
                          <a:solidFill>
                            <a:srgbClr val="1A1A1A"/>
                          </a:solidFill>
                        </a:rPr>
                        <a:t>2</a:t>
                      </a:r>
                      <a:endParaRPr sz="1400" b="1">
                        <a:solidFill>
                          <a:srgbClr val="1A1A1A"/>
                        </a:solidFill>
                        <a:latin typeface="Arial"/>
                      </a:endParaRPr>
                    </a:p>
                  </a:txBody>
                  <a:tcPr marL="73152" marR="73152" marT="27432" marB="27432"/>
                </a:tc>
                <a:tc>
                  <a:txBody>
                    <a:bodyPr/>
                    <a:lstStyle/>
                    <a:p>
                      <a:pPr algn="ctr"/>
                      <a:r>
                        <a:rPr sz="1400" b="1">
                          <a:solidFill>
                            <a:srgbClr val="1A1A1A"/>
                          </a:solidFill>
                        </a:rPr>
                        <a:t>El calendario de un médico se arma en menos de dos segundos</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5"/>
                  </a:ext>
                </a:extLst>
              </a:tr>
              <a:tr h="323556">
                <a:tc>
                  <a:txBody>
                    <a:bodyPr/>
                    <a:lstStyle/>
                    <a:p>
                      <a:pPr algn="ctr"/>
                      <a:r>
                        <a:rPr sz="1400" b="1">
                          <a:solidFill>
                            <a:srgbClr val="1A1A1A"/>
                          </a:solidFill>
                        </a:rPr>
                        <a:t>Portabilidad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2</a:t>
                      </a:r>
                      <a:endParaRPr sz="1400" b="1">
                        <a:solidFill>
                          <a:srgbClr val="1A1A1A"/>
                        </a:solidFill>
                        <a:latin typeface="Arial"/>
                      </a:endParaRPr>
                    </a:p>
                  </a:txBody>
                  <a:tcPr marL="73152" marR="73152" marT="27432" marB="27432"/>
                </a:tc>
                <a:tc>
                  <a:txBody>
                    <a:bodyPr/>
                    <a:lstStyle/>
                    <a:p>
                      <a:pPr algn="ctr"/>
                      <a:r>
                        <a:rPr sz="1400" b="1">
                          <a:solidFill>
                            <a:srgbClr val="1A1A1A"/>
                          </a:solidFill>
                        </a:rPr>
                        <a:t>Opera desde cualquier sistema operativo con un navegador vigente</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6"/>
                  </a:ext>
                </a:extLst>
              </a:tr>
              <a:tr h="323556">
                <a:tc>
                  <a:txBody>
                    <a:bodyPr/>
                    <a:lstStyle/>
                    <a:p>
                      <a:pPr algn="ctr"/>
                      <a:r>
                        <a:rPr sz="1400" b="1">
                          <a:solidFill>
                            <a:srgbClr val="1A1A1A"/>
                          </a:solidFill>
                        </a:rPr>
                        <a:t>Escalabilidad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1</a:t>
                      </a:r>
                      <a:endParaRPr sz="1400" b="1">
                        <a:solidFill>
                          <a:srgbClr val="1A1A1A"/>
                        </a:solidFill>
                        <a:latin typeface="Arial"/>
                      </a:endParaRPr>
                    </a:p>
                  </a:txBody>
                  <a:tcPr marL="73152" marR="73152" marT="27432" marB="27432"/>
                </a:tc>
                <a:tc>
                  <a:txBody>
                    <a:bodyPr/>
                    <a:lstStyle/>
                    <a:p>
                      <a:pPr algn="ctr"/>
                      <a:r>
                        <a:rPr sz="1400" b="1">
                          <a:solidFill>
                            <a:srgbClr val="1A1A1A"/>
                          </a:solidFill>
                        </a:rPr>
                        <a:t>Admite nuevas especialidades y medicamentos sin cambios en el código</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7"/>
                  </a:ext>
                </a:extLst>
              </a:tr>
              <a:tr h="323556">
                <a:tc>
                  <a:txBody>
                    <a:bodyPr/>
                    <a:lstStyle/>
                    <a:p>
                      <a:pPr algn="ctr"/>
                      <a:r>
                        <a:rPr sz="1400" b="1">
                          <a:solidFill>
                            <a:srgbClr val="1A1A1A"/>
                          </a:solidFill>
                        </a:rPr>
                        <a:t>Total</a:t>
                      </a:r>
                      <a:endParaRPr sz="1400" b="1">
                        <a:solidFill>
                          <a:srgbClr val="1A1A1A"/>
                        </a:solidFill>
                        <a:latin typeface="Arial"/>
                      </a:endParaRPr>
                    </a:p>
                  </a:txBody>
                  <a:tcPr marL="73152" marR="73152" marT="27432" marB="27432"/>
                </a:tc>
                <a:tc>
                  <a:txBody>
                    <a:bodyPr/>
                    <a:lstStyle/>
                    <a:p>
                      <a:pPr algn="ctr"/>
                      <a:r>
                        <a:rPr sz="1400" b="1">
                          <a:solidFill>
                            <a:srgbClr val="1A1A1A"/>
                          </a:solidFill>
                        </a:rPr>
                        <a:t>24</a:t>
                      </a:r>
                      <a:endParaRPr sz="1400" b="1">
                        <a:solidFill>
                          <a:srgbClr val="1A1A1A"/>
                        </a:solidFill>
                        <a:latin typeface="Arial"/>
                      </a:endParaRPr>
                    </a:p>
                  </a:txBody>
                  <a:tcPr marL="73152" marR="73152" marT="27432" marB="27432"/>
                </a:tc>
                <a:tc>
                  <a:txBody>
                    <a:bodyPr/>
                    <a:lstStyle/>
                    <a:p>
                      <a:pPr algn="ctr"/>
                      <a:endParaRPr dirty="0"/>
                    </a:p>
                  </a:txBody>
                  <a:tcPr marL="73152" marR="73152" marT="27432" marB="27432"/>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139588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282;p23">
            <a:extLst>
              <a:ext uri="{FF2B5EF4-FFF2-40B4-BE49-F238E27FC236}">
                <a16:creationId xmlns:a16="http://schemas.microsoft.com/office/drawing/2014/main" id="{A5A9BDB2-C597-8A4A-8476-8F00C90E6F0D}"/>
              </a:ext>
            </a:extLst>
          </p:cNvPr>
          <p:cNvSpPr txBox="1"/>
          <p:nvPr/>
        </p:nvSpPr>
        <p:spPr>
          <a:xfrm>
            <a:off x="3585431" y="2982671"/>
            <a:ext cx="5021137" cy="89265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III. DISEÑO</a:t>
            </a:r>
            <a:endParaRPr sz="4800" b="1" i="0" u="none" strike="noStrike" cap="none"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42182163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a:solidFill>
                  <a:schemeClr val="bg2"/>
                </a:solidFill>
                <a:latin typeface="Plus Jakarta Sans ExtraBold"/>
                <a:ea typeface="Plus Jakarta Sans ExtraBold"/>
                <a:cs typeface="Plus Jakarta Sans ExtraBold"/>
                <a:sym typeface="Plus Jakarta Sans ExtraBold"/>
              </a:rPr>
              <a:t>Panel del Administrador</a:t>
            </a:r>
            <a:endParaRPr dirty="0">
              <a:solidFill>
                <a:schemeClr val="bg2"/>
              </a:solidFill>
            </a:endParaRPr>
          </a:p>
        </p:txBody>
      </p:sp>
      <p:pic>
        <p:nvPicPr>
          <p:cNvPr id="13" name="Picture 12"/>
          <p:cNvPicPr>
            <a:picLocks noChangeAspect="1"/>
          </p:cNvPicPr>
          <p:nvPr/>
        </p:nvPicPr>
        <p:blipFill>
          <a:blip r:embed="rId4"/>
          <a:srcRect/>
          <a:stretch/>
        </p:blipFill>
        <p:spPr>
          <a:xfrm>
            <a:off x="1455079" y="1714581"/>
            <a:ext cx="9281841" cy="4296477"/>
          </a:xfrm>
          <a:prstGeom prst="rect">
            <a:avLst/>
          </a:prstGeom>
        </p:spPr>
      </p:pic>
    </p:spTree>
    <p:extLst>
      <p:ext uri="{BB962C8B-B14F-4D97-AF65-F5344CB8AC3E}">
        <p14:creationId xmlns:p14="http://schemas.microsoft.com/office/powerpoint/2010/main" val="15558039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a:solidFill>
                  <a:schemeClr val="bg2"/>
                </a:solidFill>
                <a:latin typeface="Plus Jakarta Sans ExtraBold"/>
                <a:ea typeface="Plus Jakarta Sans ExtraBold"/>
                <a:cs typeface="Plus Jakarta Sans ExtraBold"/>
                <a:sym typeface="Plus Jakarta Sans ExtraBold"/>
              </a:rPr>
              <a:t>Calendario de Disponibilidad</a:t>
            </a:r>
            <a:endParaRPr dirty="0">
              <a:solidFill>
                <a:schemeClr val="bg2"/>
              </a:solidFill>
            </a:endParaRPr>
          </a:p>
        </p:txBody>
      </p:sp>
      <p:pic>
        <p:nvPicPr>
          <p:cNvPr id="3" name="Picture 2">
            <a:extLst>
              <a:ext uri="{FF2B5EF4-FFF2-40B4-BE49-F238E27FC236}">
                <a16:creationId xmlns:a16="http://schemas.microsoft.com/office/drawing/2014/main" id="{BB13B0D8-127C-F7D0-51F3-F5B80F24EB79}"/>
              </a:ext>
            </a:extLst>
          </p:cNvPr>
          <p:cNvPicPr>
            <a:picLocks noChangeAspect="1"/>
          </p:cNvPicPr>
          <p:nvPr/>
        </p:nvPicPr>
        <p:blipFill>
          <a:blip r:embed="rId4"/>
          <a:srcRect/>
          <a:stretch/>
        </p:blipFill>
        <p:spPr>
          <a:xfrm>
            <a:off x="1455079" y="1643070"/>
            <a:ext cx="9281841" cy="4296477"/>
          </a:xfrm>
          <a:prstGeom prst="rect">
            <a:avLst/>
          </a:prstGeom>
        </p:spPr>
      </p:pic>
    </p:spTree>
    <p:extLst>
      <p:ext uri="{BB962C8B-B14F-4D97-AF65-F5344CB8AC3E}">
        <p14:creationId xmlns:p14="http://schemas.microsoft.com/office/powerpoint/2010/main" val="18438772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Modelo Físico de la Base de Datos</a:t>
            </a:r>
            <a:endParaRPr sz="2700" dirty="0">
              <a:solidFill>
                <a:schemeClr val="bg2"/>
              </a:solidFill>
              <a:latin typeface="Plus Jakarta Sans ExtraBold"/>
              <a:cs typeface="Plus Jakarta Sans ExtraBold"/>
            </a:endParaRPr>
          </a:p>
        </p:txBody>
      </p:sp>
      <p:pic>
        <p:nvPicPr>
          <p:cNvPr id="3" name="Picture 2">
            <a:extLst>
              <a:ext uri="{FF2B5EF4-FFF2-40B4-BE49-F238E27FC236}">
                <a16:creationId xmlns:a16="http://schemas.microsoft.com/office/drawing/2014/main" id="{3309C4C5-2F5C-8C88-8027-DDE1BF5FBA92}"/>
              </a:ext>
            </a:extLst>
          </p:cNvPr>
          <p:cNvPicPr>
            <a:picLocks noChangeAspect="1"/>
          </p:cNvPicPr>
          <p:nvPr/>
        </p:nvPicPr>
        <p:blipFill>
          <a:blip r:embed="rId5"/>
          <a:stretch>
            <a:fillRect/>
          </a:stretch>
        </p:blipFill>
        <p:spPr>
          <a:xfrm>
            <a:off x="1551438" y="904875"/>
            <a:ext cx="9089122" cy="5836981"/>
          </a:xfrm>
          <a:prstGeom prst="rect">
            <a:avLst/>
          </a:prstGeom>
        </p:spPr>
      </p:pic>
    </p:spTree>
    <p:extLst>
      <p:ext uri="{BB962C8B-B14F-4D97-AF65-F5344CB8AC3E}">
        <p14:creationId xmlns:p14="http://schemas.microsoft.com/office/powerpoint/2010/main" val="1712759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Base de Datos</a:t>
            </a:r>
            <a:endParaRPr sz="2700" dirty="0">
              <a:solidFill>
                <a:schemeClr val="bg2"/>
              </a:solidFill>
              <a:latin typeface="Plus Jakarta Sans ExtraBold"/>
              <a:cs typeface="Plus Jakarta Sans ExtraBold"/>
            </a:endParaRPr>
          </a:p>
        </p:txBody>
      </p:sp>
      <p:pic>
        <p:nvPicPr>
          <p:cNvPr id="3" name="Picture 2">
            <a:extLst>
              <a:ext uri="{FF2B5EF4-FFF2-40B4-BE49-F238E27FC236}">
                <a16:creationId xmlns:a16="http://schemas.microsoft.com/office/drawing/2014/main" id="{B29853C2-0F5B-C5BA-23A0-9DCD9DE783F0}"/>
              </a:ext>
            </a:extLst>
          </p:cNvPr>
          <p:cNvPicPr>
            <a:picLocks noChangeAspect="1"/>
          </p:cNvPicPr>
          <p:nvPr/>
        </p:nvPicPr>
        <p:blipFill>
          <a:blip r:embed="rId5"/>
          <a:stretch>
            <a:fillRect/>
          </a:stretch>
        </p:blipFill>
        <p:spPr>
          <a:xfrm>
            <a:off x="1691092" y="1501609"/>
            <a:ext cx="3219899" cy="4115374"/>
          </a:xfrm>
          <a:prstGeom prst="rect">
            <a:avLst/>
          </a:prstGeom>
        </p:spPr>
      </p:pic>
      <p:pic>
        <p:nvPicPr>
          <p:cNvPr id="7" name="Picture 6">
            <a:extLst>
              <a:ext uri="{FF2B5EF4-FFF2-40B4-BE49-F238E27FC236}">
                <a16:creationId xmlns:a16="http://schemas.microsoft.com/office/drawing/2014/main" id="{326A8190-9211-F2A4-5400-61E672AB63DB}"/>
              </a:ext>
            </a:extLst>
          </p:cNvPr>
          <p:cNvPicPr>
            <a:picLocks noChangeAspect="1"/>
          </p:cNvPicPr>
          <p:nvPr/>
        </p:nvPicPr>
        <p:blipFill>
          <a:blip r:embed="rId6"/>
          <a:stretch>
            <a:fillRect/>
          </a:stretch>
        </p:blipFill>
        <p:spPr>
          <a:xfrm>
            <a:off x="6802288" y="1501609"/>
            <a:ext cx="3259500" cy="3728579"/>
          </a:xfrm>
          <a:prstGeom prst="rect">
            <a:avLst/>
          </a:prstGeom>
        </p:spPr>
      </p:pic>
    </p:spTree>
    <p:extLst>
      <p:ext uri="{BB962C8B-B14F-4D97-AF65-F5344CB8AC3E}">
        <p14:creationId xmlns:p14="http://schemas.microsoft.com/office/powerpoint/2010/main" val="807938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Diccionario de Datos</a:t>
            </a:r>
            <a:endParaRPr sz="2700" dirty="0">
              <a:solidFill>
                <a:schemeClr val="bg2"/>
              </a:solidFill>
              <a:latin typeface="Plus Jakarta Sans ExtraBold"/>
              <a:cs typeface="Plus Jakarta Sans ExtraBold"/>
            </a:endParaRPr>
          </a:p>
        </p:txBody>
      </p:sp>
      <p:graphicFrame>
        <p:nvGraphicFramePr>
          <p:cNvPr id="25" name="Table 24"/>
          <p:cNvGraphicFramePr>
            <a:graphicFrameLocks noGrp="1"/>
          </p:cNvGraphicFramePr>
          <p:nvPr>
            <p:extLst>
              <p:ext uri="{D42A27DB-BD31-4B8C-83A1-F6EECF244321}">
                <p14:modId xmlns:p14="http://schemas.microsoft.com/office/powerpoint/2010/main" val="88212849"/>
              </p:ext>
            </p:extLst>
          </p:nvPr>
        </p:nvGraphicFramePr>
        <p:xfrm>
          <a:off x="678179" y="1817885"/>
          <a:ext cx="10835640" cy="3889802"/>
        </p:xfrm>
        <a:graphic>
          <a:graphicData uri="http://schemas.openxmlformats.org/drawingml/2006/table">
            <a:tbl>
              <a:tblPr firstRow="1" bandRow="1">
                <a:tableStyleId>{21E4AEA4-8DFA-4A89-87EB-49C32662AFE0}</a:tableStyleId>
              </a:tblPr>
              <a:tblGrid>
                <a:gridCol w="24688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5257800">
                  <a:extLst>
                    <a:ext uri="{9D8B030D-6E8A-4147-A177-3AD203B41FA5}">
                      <a16:colId xmlns:a16="http://schemas.microsoft.com/office/drawing/2014/main" val="20003"/>
                    </a:ext>
                  </a:extLst>
                </a:gridCol>
              </a:tblGrid>
              <a:tr h="340821">
                <a:tc>
                  <a:txBody>
                    <a:bodyPr/>
                    <a:lstStyle/>
                    <a:p>
                      <a:pPr algn="ctr"/>
                      <a:r>
                        <a:rPr sz="1400" b="1" dirty="0">
                          <a:solidFill>
                            <a:srgbClr val="FFFFFF"/>
                          </a:solidFill>
                        </a:rPr>
                        <a:t>Campo</a:t>
                      </a:r>
                      <a:endParaRPr sz="1400" b="1" dirty="0">
                        <a:solidFill>
                          <a:srgbClr val="FFFFFF"/>
                        </a:solidFill>
                        <a:latin typeface="Arial"/>
                      </a:endParaRPr>
                    </a:p>
                  </a:txBody>
                  <a:tcPr marL="73152" marR="73152" marT="27432" marB="27432"/>
                </a:tc>
                <a:tc>
                  <a:txBody>
                    <a:bodyPr/>
                    <a:lstStyle/>
                    <a:p>
                      <a:pPr algn="ctr"/>
                      <a:r>
                        <a:rPr sz="1400" b="1">
                          <a:solidFill>
                            <a:srgbClr val="FFFFFF"/>
                          </a:solidFill>
                        </a:rPr>
                        <a:t>Tipo</a:t>
                      </a:r>
                      <a:endParaRPr sz="1400" b="1">
                        <a:solidFill>
                          <a:srgbClr val="FFFFFF"/>
                        </a:solidFill>
                        <a:latin typeface="Arial"/>
                      </a:endParaRPr>
                    </a:p>
                  </a:txBody>
                  <a:tcPr marL="73152" marR="73152" marT="27432" marB="27432"/>
                </a:tc>
                <a:tc>
                  <a:txBody>
                    <a:bodyPr/>
                    <a:lstStyle/>
                    <a:p>
                      <a:pPr algn="ctr"/>
                      <a:r>
                        <a:rPr sz="1400" b="1">
                          <a:solidFill>
                            <a:srgbClr val="FFFFFF"/>
                          </a:solidFill>
                        </a:rPr>
                        <a:t>Clave</a:t>
                      </a:r>
                      <a:endParaRPr sz="1400" b="1">
                        <a:solidFill>
                          <a:srgbClr val="FFFFFF"/>
                        </a:solidFill>
                        <a:latin typeface="Arial"/>
                      </a:endParaRPr>
                    </a:p>
                  </a:txBody>
                  <a:tcPr marL="73152" marR="73152" marT="27432" marB="27432"/>
                </a:tc>
                <a:tc>
                  <a:txBody>
                    <a:bodyPr/>
                    <a:lstStyle/>
                    <a:p>
                      <a:pPr algn="ctr"/>
                      <a:r>
                        <a:rPr sz="1400" b="1">
                          <a:solidFill>
                            <a:srgbClr val="FFFFFF"/>
                          </a:solidFill>
                        </a:rPr>
                        <a:t>Descripción</a:t>
                      </a:r>
                      <a:endParaRPr sz="14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id_paciente</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dirty="0" err="1">
                          <a:solidFill>
                            <a:srgbClr val="1A1A1A"/>
                          </a:solidFill>
                          <a:sym typeface="Arial"/>
                        </a:rPr>
                        <a:t>Entero (11)</a:t>
                      </a:r>
                      <a:endParaRPr sz="1400" b="1" i="0" u="none" strike="noStrike" cap="none" dirty="0" err="1">
                        <a:solidFill>
                          <a:srgbClr val="1A1A1A"/>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a:solidFill>
                            <a:srgbClr val="1A1A1A"/>
                          </a:solidFill>
                          <a:sym typeface="Arial"/>
                        </a:rPr>
                        <a:t>PK</a:t>
                      </a:r>
                      <a:endParaRPr sz="1400" b="1" i="0" u="none" strike="noStrike" cap="none">
                        <a:solidFill>
                          <a:srgbClr val="1A1A1A"/>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Identificador interno del paciente</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1"/>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nombre</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(100)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Nombre completo de la persona atendida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2"/>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tipo_documento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dirty="0">
                          <a:solidFill>
                            <a:srgbClr val="1A1A1A"/>
                          </a:solidFill>
                          <a:sym typeface="Arial"/>
                        </a:rPr>
                        <a:t>No aplica</a:t>
                      </a:r>
                      <a:endParaRPr sz="1400" b="1" i="0" u="none" strike="noStrike" cap="none" dirty="0">
                        <a:solidFill>
                          <a:srgbClr val="1A1A1A"/>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Clase de documento de identidad presentado</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3"/>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numero_documento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(30)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Única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Número del documento; impide registrar dos veces a la misma persona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4"/>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fecha_nacimiento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Fecha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dirty="0" err="1">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Fecha de nacimiento, de la que se deriva la edad</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5"/>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telefono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Número de contacto para avisos sobre la cita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6"/>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direccion</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(150)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Dirección de residencia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7"/>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email</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(120)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Correo de contacto del paciente</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8"/>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id_usuario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Entero (11)</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FK</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Cuenta con la que el paciente ingresa a consultar lo suyo</a:t>
                      </a:r>
                      <a:endParaRPr lang="es-CO" sz="1400" b="1" i="0" u="none" strike="noStrike" cap="none" dirty="0">
                        <a:solidFill>
                          <a:srgbClr val="1A1A1A"/>
                        </a:solidFill>
                        <a:latin typeface="Arial"/>
                        <a:ea typeface="+mn-ea"/>
                        <a:cs typeface="+mn-cs"/>
                        <a:sym typeface="Arial"/>
                      </a:endParaRPr>
                    </a:p>
                  </a:txBody>
                  <a:tcPr marL="73152" marR="73152" marT="27432" marB="27432"/>
                </a:tc>
                <a:extLst>
                  <a:ext uri="{0D108BD9-81ED-4DB2-BD59-A6C34878D82A}">
                    <a16:rowId xmlns:a16="http://schemas.microsoft.com/office/drawing/2014/main" val="10009"/>
                  </a:ext>
                </a:extLst>
              </a:tr>
              <a:tr h="340829">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estado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Activo o inactivo; la baja es lógica y conserva el historial</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3707147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7AA0D39-E2EC-02DC-5EF0-8FAFFA955D29}"/>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Casos de Uso</a:t>
            </a:r>
            <a:endParaRPr sz="2700" dirty="0">
              <a:solidFill>
                <a:schemeClr val="bg2"/>
              </a:solidFill>
              <a:latin typeface="Plus Jakarta Sans ExtraBold"/>
              <a:cs typeface="Plus Jakarta Sans ExtraBold"/>
            </a:endParaRPr>
          </a:p>
        </p:txBody>
      </p:sp>
      <p:sp>
        <p:nvSpPr>
          <p:cNvPr id="24" name="TextBox 23"/>
          <p:cNvSpPr txBox="1"/>
          <p:nvPr/>
        </p:nvSpPr>
        <p:spPr>
          <a:xfrm>
            <a:off x="777240" y="1280160"/>
            <a:ext cx="10607040" cy="923330"/>
          </a:xfrm>
          <a:prstGeom prst="rect">
            <a:avLst/>
          </a:prstGeom>
          <a:noFill/>
        </p:spPr>
        <p:txBody>
          <a:bodyPr wrap="square">
            <a:spAutoFit/>
          </a:bodyPr>
          <a:lstStyle/>
          <a:p>
            <a:pPr algn="l"/>
            <a:r>
              <a:rPr sz="1800" b="0" dirty="0">
                <a:solidFill>
                  <a:srgbClr val="1A1A1A"/>
                </a:solidFill>
                <a:latin typeface="Arial"/>
              </a:rPr>
              <a:t>El análisis identificó 60 casos de uso agrupados en los diez módulos del sistema, con cuatro actores. Uno de ellos no es una persona, ya que es el propio sistema el que aplica por su cuenta las dos reglas de la agenda.</a:t>
            </a:r>
          </a:p>
        </p:txBody>
      </p:sp>
      <p:pic>
        <p:nvPicPr>
          <p:cNvPr id="3" name="Picture 2">
            <a:extLst>
              <a:ext uri="{FF2B5EF4-FFF2-40B4-BE49-F238E27FC236}">
                <a16:creationId xmlns:a16="http://schemas.microsoft.com/office/drawing/2014/main" id="{454038FF-E97E-A578-5823-E0E838D646D3}"/>
              </a:ext>
            </a:extLst>
          </p:cNvPr>
          <p:cNvPicPr>
            <a:picLocks noChangeAspect="1"/>
          </p:cNvPicPr>
          <p:nvPr/>
        </p:nvPicPr>
        <p:blipFill>
          <a:blip r:embed="rId5"/>
          <a:stretch>
            <a:fillRect/>
          </a:stretch>
        </p:blipFill>
        <p:spPr>
          <a:xfrm>
            <a:off x="4265130" y="2110023"/>
            <a:ext cx="3631260" cy="4640256"/>
          </a:xfrm>
          <a:prstGeom prst="rect">
            <a:avLst/>
          </a:prstGeom>
        </p:spPr>
      </p:pic>
    </p:spTree>
    <p:extLst>
      <p:ext uri="{BB962C8B-B14F-4D97-AF65-F5344CB8AC3E}">
        <p14:creationId xmlns:p14="http://schemas.microsoft.com/office/powerpoint/2010/main" val="30389313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Documentación de Casos de Uso</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2942993276"/>
              </p:ext>
            </p:extLst>
          </p:nvPr>
        </p:nvGraphicFramePr>
        <p:xfrm>
          <a:off x="678179" y="1896859"/>
          <a:ext cx="10835640" cy="4034028"/>
        </p:xfrm>
        <a:graphic>
          <a:graphicData uri="http://schemas.openxmlformats.org/drawingml/2006/table">
            <a:tbl>
              <a:tblPr firstRow="1" bandRow="1">
                <a:tableStyleId>{21E4AEA4-8DFA-4A89-87EB-49C32662AFE0}</a:tableStyleId>
              </a:tblPr>
              <a:tblGrid>
                <a:gridCol w="2286000">
                  <a:extLst>
                    <a:ext uri="{9D8B030D-6E8A-4147-A177-3AD203B41FA5}">
                      <a16:colId xmlns:a16="http://schemas.microsoft.com/office/drawing/2014/main" val="20000"/>
                    </a:ext>
                  </a:extLst>
                </a:gridCol>
                <a:gridCol w="8549640">
                  <a:extLst>
                    <a:ext uri="{9D8B030D-6E8A-4147-A177-3AD203B41FA5}">
                      <a16:colId xmlns:a16="http://schemas.microsoft.com/office/drawing/2014/main" val="20001"/>
                    </a:ext>
                  </a:extLst>
                </a:gridCol>
              </a:tblGrid>
              <a:tr h="491490">
                <a:tc>
                  <a:txBody>
                    <a:bodyPr/>
                    <a:lstStyle/>
                    <a:p>
                      <a:pPr algn="ctr"/>
                      <a:r>
                        <a:rPr sz="1600" b="1" dirty="0">
                          <a:solidFill>
                            <a:srgbClr val="FFFFFF"/>
                          </a:solidFill>
                        </a:rPr>
                        <a:t>CU-24</a:t>
                      </a:r>
                      <a:endParaRPr sz="1600" b="1" dirty="0">
                        <a:solidFill>
                          <a:srgbClr val="FFFFFF"/>
                        </a:solidFill>
                        <a:latin typeface="Arial"/>
                      </a:endParaRPr>
                    </a:p>
                  </a:txBody>
                  <a:tcPr marL="73152" marR="73152" marT="27432" marB="27432"/>
                </a:tc>
                <a:tc>
                  <a:txBody>
                    <a:bodyPr/>
                    <a:lstStyle/>
                    <a:p>
                      <a:pPr algn="ctr"/>
                      <a:r>
                        <a:rPr sz="1600" b="1">
                          <a:solidFill>
                            <a:srgbClr val="FFFFFF"/>
                          </a:solidFill>
                        </a:rPr>
                        <a:t>Reservar una cita desde el calendario</a:t>
                      </a:r>
                      <a:endParaRPr sz="16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491490">
                <a:tc>
                  <a:txBody>
                    <a:bodyPr/>
                    <a:lstStyle/>
                    <a:p>
                      <a:pPr algn="ctr"/>
                      <a:r>
                        <a:rPr sz="1600" b="0">
                          <a:solidFill>
                            <a:srgbClr val="1A1A1A"/>
                          </a:solidFill>
                        </a:rPr>
                        <a:t>Actores</a:t>
                      </a:r>
                      <a:endParaRPr sz="1600" b="0">
                        <a:solidFill>
                          <a:srgbClr val="1A1A1A"/>
                        </a:solidFill>
                        <a:latin typeface="Arial"/>
                      </a:endParaRPr>
                    </a:p>
                  </a:txBody>
                  <a:tcPr marL="73152" marR="73152" marT="27432" marB="27432"/>
                </a:tc>
                <a:tc>
                  <a:txBody>
                    <a:bodyPr/>
                    <a:lstStyle/>
                    <a:p>
                      <a:pPr algn="ctr"/>
                      <a:r>
                        <a:rPr sz="1600" b="0">
                          <a:solidFill>
                            <a:srgbClr val="1A1A1A"/>
                          </a:solidFill>
                        </a:rPr>
                        <a:t>Paciente, Sistema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1"/>
                  </a:ext>
                </a:extLst>
              </a:tr>
              <a:tr h="491490">
                <a:tc>
                  <a:txBody>
                    <a:bodyPr/>
                    <a:lstStyle/>
                    <a:p>
                      <a:pPr algn="ctr"/>
                      <a:r>
                        <a:rPr sz="1600" b="0">
                          <a:solidFill>
                            <a:srgbClr val="1A1A1A"/>
                          </a:solidFill>
                        </a:rPr>
                        <a:t>Precondición</a:t>
                      </a:r>
                      <a:endParaRPr sz="1600" b="0">
                        <a:solidFill>
                          <a:srgbClr val="1A1A1A"/>
                        </a:solidFill>
                        <a:latin typeface="Arial"/>
                      </a:endParaRPr>
                    </a:p>
                  </a:txBody>
                  <a:tcPr marL="73152" marR="73152" marT="27432" marB="27432"/>
                </a:tc>
                <a:tc>
                  <a:txBody>
                    <a:bodyPr/>
                    <a:lstStyle/>
                    <a:p>
                      <a:pPr algn="ctr"/>
                      <a:r>
                        <a:rPr sz="1600" b="0">
                          <a:solidFill>
                            <a:srgbClr val="1A1A1A"/>
                          </a:solidFill>
                        </a:rPr>
                        <a:t>El paciente tiene sesión iniciada y el médico tiene disponibilidad cargada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2"/>
                  </a:ext>
                </a:extLst>
              </a:tr>
              <a:tr h="491490">
                <a:tc>
                  <a:txBody>
                    <a:bodyPr/>
                    <a:lstStyle/>
                    <a:p>
                      <a:pPr algn="ctr"/>
                      <a:r>
                        <a:rPr sz="1600" b="0">
                          <a:solidFill>
                            <a:srgbClr val="1A1A1A"/>
                          </a:solidFill>
                        </a:rPr>
                        <a:t>Pasos 1 a 3</a:t>
                      </a:r>
                      <a:endParaRPr sz="1600" b="0">
                        <a:solidFill>
                          <a:srgbClr val="1A1A1A"/>
                        </a:solidFill>
                        <a:latin typeface="Arial"/>
                      </a:endParaRPr>
                    </a:p>
                  </a:txBody>
                  <a:tcPr marL="73152" marR="73152" marT="27432" marB="27432"/>
                </a:tc>
                <a:tc>
                  <a:txBody>
                    <a:bodyPr/>
                    <a:lstStyle/>
                    <a:p>
                      <a:pPr algn="ctr"/>
                      <a:r>
                        <a:rPr sz="1600" b="0">
                          <a:solidFill>
                            <a:srgbClr val="1A1A1A"/>
                          </a:solidFill>
                        </a:rPr>
                        <a:t>Elige médico y semana, el sistema muestra los turnos libres de treinta minutos y el paciente escoge uno</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3"/>
                  </a:ext>
                </a:extLst>
              </a:tr>
              <a:tr h="491490">
                <a:tc>
                  <a:txBody>
                    <a:bodyPr/>
                    <a:lstStyle/>
                    <a:p>
                      <a:pPr algn="ctr"/>
                      <a:r>
                        <a:rPr sz="1600" b="0">
                          <a:solidFill>
                            <a:srgbClr val="1A1A1A"/>
                          </a:solidFill>
                        </a:rPr>
                        <a:t>Pasos 4 a 6</a:t>
                      </a:r>
                      <a:endParaRPr sz="1600" b="0">
                        <a:solidFill>
                          <a:srgbClr val="1A1A1A"/>
                        </a:solidFill>
                        <a:latin typeface="Arial"/>
                      </a:endParaRPr>
                    </a:p>
                  </a:txBody>
                  <a:tcPr marL="73152" marR="73152" marT="27432" marB="27432"/>
                </a:tc>
                <a:tc>
                  <a:txBody>
                    <a:bodyPr/>
                    <a:lstStyle/>
                    <a:p>
                      <a:pPr algn="ctr"/>
                      <a:r>
                        <a:rPr sz="1600" b="0">
                          <a:solidFill>
                            <a:srgbClr val="1A1A1A"/>
                          </a:solidFill>
                        </a:rPr>
                        <a:t>El servidor toma la identidad de la sesión, comprueba la separación mínima y el máximo de una cita al día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4"/>
                  </a:ext>
                </a:extLst>
              </a:tr>
              <a:tr h="491490">
                <a:tc>
                  <a:txBody>
                    <a:bodyPr/>
                    <a:lstStyle/>
                    <a:p>
                      <a:pPr algn="ctr"/>
                      <a:r>
                        <a:rPr sz="1600" b="0">
                          <a:solidFill>
                            <a:srgbClr val="1A1A1A"/>
                          </a:solidFill>
                        </a:rPr>
                        <a:t>Paso 7</a:t>
                      </a:r>
                      <a:endParaRPr sz="1600" b="0">
                        <a:solidFill>
                          <a:srgbClr val="1A1A1A"/>
                        </a:solidFill>
                        <a:latin typeface="Arial"/>
                      </a:endParaRPr>
                    </a:p>
                  </a:txBody>
                  <a:tcPr marL="73152" marR="73152" marT="27432" marB="27432"/>
                </a:tc>
                <a:tc>
                  <a:txBody>
                    <a:bodyPr/>
                    <a:lstStyle/>
                    <a:p>
                      <a:pPr algn="ctr"/>
                      <a:r>
                        <a:rPr sz="1600" b="0">
                          <a:solidFill>
                            <a:srgbClr val="1A1A1A"/>
                          </a:solidFill>
                        </a:rPr>
                        <a:t>Guarda la cita en estado agendada y la muestra en el panel del paciente</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5"/>
                  </a:ext>
                </a:extLst>
              </a:tr>
              <a:tr h="491490">
                <a:tc>
                  <a:txBody>
                    <a:bodyPr/>
                    <a:lstStyle/>
                    <a:p>
                      <a:pPr algn="ctr"/>
                      <a:r>
                        <a:rPr sz="1600" b="0">
                          <a:solidFill>
                            <a:srgbClr val="1A1A1A"/>
                          </a:solidFill>
                        </a:rPr>
                        <a:t>Postcondición</a:t>
                      </a:r>
                      <a:endParaRPr sz="1600" b="0">
                        <a:solidFill>
                          <a:srgbClr val="1A1A1A"/>
                        </a:solidFill>
                        <a:latin typeface="Arial"/>
                      </a:endParaRPr>
                    </a:p>
                  </a:txBody>
                  <a:tcPr marL="73152" marR="73152" marT="27432" marB="27432"/>
                </a:tc>
                <a:tc>
                  <a:txBody>
                    <a:bodyPr/>
                    <a:lstStyle/>
                    <a:p>
                      <a:pPr algn="ctr"/>
                      <a:r>
                        <a:rPr sz="1600" b="0" dirty="0" err="1">
                          <a:solidFill>
                            <a:srgbClr val="1A1A1A"/>
                          </a:solidFill>
                        </a:rPr>
                        <a:t>Existe</a:t>
                      </a:r>
                      <a:r>
                        <a:rPr sz="1600" b="0" dirty="0">
                          <a:solidFill>
                            <a:srgbClr val="1A1A1A"/>
                          </a:solidFill>
                        </a:rPr>
                        <a:t> </a:t>
                      </a:r>
                      <a:r>
                        <a:rPr sz="1600" b="0" dirty="0" err="1">
                          <a:solidFill>
                            <a:srgbClr val="1A1A1A"/>
                          </a:solidFill>
                        </a:rPr>
                        <a:t>una</a:t>
                      </a:r>
                      <a:r>
                        <a:rPr sz="1600" b="0" dirty="0">
                          <a:solidFill>
                            <a:srgbClr val="1A1A1A"/>
                          </a:solidFill>
                        </a:rPr>
                        <a:t> </a:t>
                      </a:r>
                      <a:r>
                        <a:rPr sz="1600" b="0" dirty="0" err="1">
                          <a:solidFill>
                            <a:srgbClr val="1A1A1A"/>
                          </a:solidFill>
                        </a:rPr>
                        <a:t>cita</a:t>
                      </a:r>
                      <a:r>
                        <a:rPr sz="1600" b="0" dirty="0">
                          <a:solidFill>
                            <a:srgbClr val="1A1A1A"/>
                          </a:solidFill>
                        </a:rPr>
                        <a:t> a </a:t>
                      </a:r>
                      <a:r>
                        <a:rPr sz="1600" b="0" dirty="0" err="1">
                          <a:solidFill>
                            <a:srgbClr val="1A1A1A"/>
                          </a:solidFill>
                        </a:rPr>
                        <a:t>nombre</a:t>
                      </a:r>
                      <a:r>
                        <a:rPr sz="1600" b="0" dirty="0">
                          <a:solidFill>
                            <a:srgbClr val="1A1A1A"/>
                          </a:solidFill>
                        </a:rPr>
                        <a:t> de </a:t>
                      </a:r>
                      <a:r>
                        <a:rPr sz="1600" b="0" dirty="0" err="1">
                          <a:solidFill>
                            <a:srgbClr val="1A1A1A"/>
                          </a:solidFill>
                        </a:rPr>
                        <a:t>quien</a:t>
                      </a:r>
                      <a:r>
                        <a:rPr sz="1600" b="0" dirty="0">
                          <a:solidFill>
                            <a:srgbClr val="1A1A1A"/>
                          </a:solidFill>
                        </a:rPr>
                        <a:t> la </a:t>
                      </a:r>
                      <a:r>
                        <a:rPr sz="1600" b="0" dirty="0" err="1">
                          <a:solidFill>
                            <a:srgbClr val="1A1A1A"/>
                          </a:solidFill>
                        </a:rPr>
                        <a:t>pidió</a:t>
                      </a:r>
                      <a:r>
                        <a:rPr sz="1600" b="0" dirty="0">
                          <a:solidFill>
                            <a:srgbClr val="1A1A1A"/>
                          </a:solidFill>
                        </a:rPr>
                        <a:t> y </a:t>
                      </a:r>
                      <a:r>
                        <a:rPr sz="1600" b="0" dirty="0" err="1">
                          <a:solidFill>
                            <a:srgbClr val="1A1A1A"/>
                          </a:solidFill>
                        </a:rPr>
                        <a:t>el</a:t>
                      </a:r>
                      <a:r>
                        <a:rPr sz="1600" b="0" dirty="0">
                          <a:solidFill>
                            <a:srgbClr val="1A1A1A"/>
                          </a:solidFill>
                        </a:rPr>
                        <a:t> </a:t>
                      </a:r>
                      <a:r>
                        <a:rPr sz="1600" b="0" dirty="0" err="1">
                          <a:solidFill>
                            <a:srgbClr val="1A1A1A"/>
                          </a:solidFill>
                        </a:rPr>
                        <a:t>turno</a:t>
                      </a:r>
                      <a:r>
                        <a:rPr sz="1600" b="0" dirty="0">
                          <a:solidFill>
                            <a:srgbClr val="1A1A1A"/>
                          </a:solidFill>
                        </a:rPr>
                        <a:t> </a:t>
                      </a:r>
                      <a:r>
                        <a:rPr sz="1600" b="0" dirty="0" err="1">
                          <a:solidFill>
                            <a:srgbClr val="1A1A1A"/>
                          </a:solidFill>
                        </a:rPr>
                        <a:t>deja</a:t>
                      </a:r>
                      <a:r>
                        <a:rPr sz="1600" b="0" dirty="0">
                          <a:solidFill>
                            <a:srgbClr val="1A1A1A"/>
                          </a:solidFill>
                        </a:rPr>
                        <a:t> de </a:t>
                      </a:r>
                      <a:r>
                        <a:rPr sz="1600" b="0" dirty="0" err="1">
                          <a:solidFill>
                            <a:srgbClr val="1A1A1A"/>
                          </a:solidFill>
                        </a:rPr>
                        <a:t>ofrecerse</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10006"/>
                  </a:ext>
                </a:extLst>
              </a:tr>
              <a:tr h="491490">
                <a:tc>
                  <a:txBody>
                    <a:bodyPr/>
                    <a:lstStyle/>
                    <a:p>
                      <a:pPr algn="ctr"/>
                      <a:r>
                        <a:rPr sz="1600" b="0">
                          <a:solidFill>
                            <a:srgbClr val="1A1A1A"/>
                          </a:solidFill>
                        </a:rPr>
                        <a:t>Excepción</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Si el turno cae dentro de los treinta minutos de otra cita del mismo médico, se rechaza</a:t>
                      </a:r>
                      <a:endParaRPr sz="1600" b="0" dirty="0">
                        <a:solidFill>
                          <a:srgbClr val="33373D"/>
                        </a:solidFill>
                        <a:latin typeface="Arial"/>
                      </a:endParaRPr>
                    </a:p>
                  </a:txBody>
                  <a:tcPr marL="73152" marR="73152" marT="27432" marB="27432"/>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2879158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13" name="Imagen 12">
            <a:extLst>
              <a:ext uri="{FF2B5EF4-FFF2-40B4-BE49-F238E27FC236}">
                <a16:creationId xmlns:a16="http://schemas.microsoft.com/office/drawing/2014/main" id="{A5E5D415-B509-BDF6-3699-3CAA5A9D86C8}"/>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Metodología de Desarrollo</a:t>
            </a:r>
            <a:endParaRPr dirty="0">
              <a:solidFill>
                <a:schemeClr val="bg2"/>
              </a:solidFill>
            </a:endParaRPr>
          </a:p>
        </p:txBody>
      </p:sp>
      <p:sp>
        <p:nvSpPr>
          <p:cNvPr id="14" name="TextBox 13"/>
          <p:cNvSpPr txBox="1"/>
          <p:nvPr/>
        </p:nvSpPr>
        <p:spPr>
          <a:xfrm>
            <a:off x="777240" y="1280160"/>
            <a:ext cx="10607040" cy="731520"/>
          </a:xfrm>
          <a:prstGeom prst="rect">
            <a:avLst/>
          </a:prstGeom>
          <a:noFill/>
        </p:spPr>
        <p:txBody>
          <a:bodyPr wrap="square">
            <a:spAutoFit/>
          </a:bodyPr>
          <a:lstStyle/>
          <a:p>
            <a:pPr algn="l"/>
            <a:r>
              <a:rPr sz="1800" b="0" dirty="0">
                <a:solidFill>
                  <a:srgbClr val="1A1A1A"/>
                </a:solidFill>
                <a:latin typeface="Arial"/>
              </a:rPr>
              <a:t>Scrum, con </a:t>
            </a:r>
            <a:r>
              <a:rPr sz="1800" b="0" dirty="0" err="1">
                <a:solidFill>
                  <a:srgbClr val="1A1A1A"/>
                </a:solidFill>
                <a:latin typeface="Arial"/>
              </a:rPr>
              <a:t>diez</a:t>
            </a:r>
            <a:r>
              <a:rPr sz="1800" b="0" dirty="0">
                <a:solidFill>
                  <a:srgbClr val="1A1A1A"/>
                </a:solidFill>
                <a:latin typeface="Arial"/>
              </a:rPr>
              <a:t> sprints de dos </a:t>
            </a:r>
            <a:r>
              <a:rPr sz="1800" b="0" dirty="0" err="1">
                <a:solidFill>
                  <a:srgbClr val="1A1A1A"/>
                </a:solidFill>
                <a:latin typeface="Arial"/>
              </a:rPr>
              <a:t>semanas</a:t>
            </a:r>
            <a:r>
              <a:rPr sz="1800" b="0" dirty="0">
                <a:solidFill>
                  <a:srgbClr val="1A1A1A"/>
                </a:solidFill>
                <a:latin typeface="Arial"/>
              </a:rPr>
              <a:t>, </a:t>
            </a:r>
            <a:r>
              <a:rPr sz="1800" b="0" dirty="0" err="1">
                <a:solidFill>
                  <a:srgbClr val="1A1A1A"/>
                </a:solidFill>
                <a:latin typeface="Arial"/>
              </a:rPr>
              <a:t>aproximadamente</a:t>
            </a:r>
            <a:r>
              <a:rPr sz="1800" b="0" dirty="0">
                <a:solidFill>
                  <a:srgbClr val="1A1A1A"/>
                </a:solidFill>
                <a:latin typeface="Arial"/>
              </a:rPr>
              <a:t> uno </a:t>
            </a:r>
            <a:r>
              <a:rPr sz="1800" b="0" dirty="0" err="1">
                <a:solidFill>
                  <a:srgbClr val="1A1A1A"/>
                </a:solidFill>
                <a:latin typeface="Arial"/>
              </a:rPr>
              <a:t>por</a:t>
            </a:r>
            <a:r>
              <a:rPr sz="1800" b="0" dirty="0">
                <a:solidFill>
                  <a:srgbClr val="1A1A1A"/>
                </a:solidFill>
                <a:latin typeface="Arial"/>
              </a:rPr>
              <a:t> </a:t>
            </a:r>
            <a:r>
              <a:rPr sz="1800" b="0" dirty="0" err="1">
                <a:solidFill>
                  <a:srgbClr val="1A1A1A"/>
                </a:solidFill>
                <a:latin typeface="Arial"/>
              </a:rPr>
              <a:t>cada</a:t>
            </a:r>
            <a:r>
              <a:rPr sz="1800" b="0" dirty="0">
                <a:solidFill>
                  <a:srgbClr val="1A1A1A"/>
                </a:solidFill>
                <a:latin typeface="Arial"/>
              </a:rPr>
              <a:t> </a:t>
            </a:r>
            <a:r>
              <a:rPr sz="1800" b="0" dirty="0" err="1">
                <a:solidFill>
                  <a:srgbClr val="1A1A1A"/>
                </a:solidFill>
                <a:latin typeface="Arial"/>
              </a:rPr>
              <a:t>módulo</a:t>
            </a:r>
            <a:r>
              <a:rPr sz="1800" b="0" dirty="0">
                <a:solidFill>
                  <a:srgbClr val="1A1A1A"/>
                </a:solidFill>
                <a:latin typeface="Arial"/>
              </a:rPr>
              <a:t> del </a:t>
            </a:r>
            <a:r>
              <a:rPr sz="1800" b="0" dirty="0" err="1">
                <a:solidFill>
                  <a:srgbClr val="1A1A1A"/>
                </a:solidFill>
                <a:latin typeface="Arial"/>
              </a:rPr>
              <a:t>sistema</a:t>
            </a:r>
            <a:r>
              <a:rPr sz="1800" b="0" dirty="0">
                <a:solidFill>
                  <a:srgbClr val="1A1A1A"/>
                </a:solidFill>
                <a:latin typeface="Arial"/>
              </a:rPr>
              <a:t>. </a:t>
            </a:r>
            <a:r>
              <a:rPr sz="1800" b="0" dirty="0" err="1">
                <a:solidFill>
                  <a:srgbClr val="1A1A1A"/>
                </a:solidFill>
                <a:latin typeface="Arial"/>
              </a:rPr>
              <a:t>Cada</a:t>
            </a:r>
            <a:r>
              <a:rPr sz="1800" b="0" dirty="0">
                <a:solidFill>
                  <a:srgbClr val="1A1A1A"/>
                </a:solidFill>
                <a:latin typeface="Arial"/>
              </a:rPr>
              <a:t> sprint </a:t>
            </a:r>
            <a:r>
              <a:rPr sz="1800" b="0" dirty="0" err="1">
                <a:solidFill>
                  <a:srgbClr val="1A1A1A"/>
                </a:solidFill>
                <a:latin typeface="Arial"/>
              </a:rPr>
              <a:t>cerró</a:t>
            </a:r>
            <a:r>
              <a:rPr sz="1800" b="0" dirty="0">
                <a:solidFill>
                  <a:srgbClr val="1A1A1A"/>
                </a:solidFill>
                <a:latin typeface="Arial"/>
              </a:rPr>
              <a:t> con un </a:t>
            </a:r>
            <a:r>
              <a:rPr sz="1800" b="0" dirty="0" err="1">
                <a:solidFill>
                  <a:srgbClr val="1A1A1A"/>
                </a:solidFill>
                <a:latin typeface="Arial"/>
              </a:rPr>
              <a:t>módulo</a:t>
            </a:r>
            <a:r>
              <a:rPr sz="1800" b="0" dirty="0">
                <a:solidFill>
                  <a:srgbClr val="1A1A1A"/>
                </a:solidFill>
                <a:latin typeface="Arial"/>
              </a:rPr>
              <a:t> utilizable y no con </a:t>
            </a:r>
            <a:r>
              <a:rPr sz="1800" b="0" dirty="0" err="1">
                <a:solidFill>
                  <a:srgbClr val="1A1A1A"/>
                </a:solidFill>
                <a:latin typeface="Arial"/>
              </a:rPr>
              <a:t>una</a:t>
            </a:r>
            <a:r>
              <a:rPr sz="1800" b="0" dirty="0">
                <a:solidFill>
                  <a:srgbClr val="1A1A1A"/>
                </a:solidFill>
                <a:latin typeface="Arial"/>
              </a:rPr>
              <a:t> </a:t>
            </a:r>
            <a:r>
              <a:rPr sz="1800" b="0" dirty="0" err="1">
                <a:solidFill>
                  <a:srgbClr val="1A1A1A"/>
                </a:solidFill>
                <a:latin typeface="Arial"/>
              </a:rPr>
              <a:t>parte</a:t>
            </a:r>
            <a:r>
              <a:rPr sz="1800" b="0" dirty="0">
                <a:solidFill>
                  <a:srgbClr val="1A1A1A"/>
                </a:solidFill>
                <a:latin typeface="Arial"/>
              </a:rPr>
              <a:t> de </a:t>
            </a:r>
            <a:r>
              <a:rPr sz="1800" b="0" dirty="0" err="1">
                <a:solidFill>
                  <a:srgbClr val="1A1A1A"/>
                </a:solidFill>
                <a:latin typeface="Arial"/>
              </a:rPr>
              <a:t>varios</a:t>
            </a:r>
            <a:r>
              <a:rPr sz="1800" b="0" dirty="0">
                <a:solidFill>
                  <a:srgbClr val="1A1A1A"/>
                </a:solidFill>
                <a:latin typeface="Arial"/>
              </a:rPr>
              <a:t>.</a:t>
            </a:r>
          </a:p>
        </p:txBody>
      </p:sp>
      <p:pic>
        <p:nvPicPr>
          <p:cNvPr id="15" name="Picture 14" descr="FIG-scrum.png"/>
          <p:cNvPicPr>
            <a:picLocks noChangeAspect="1"/>
          </p:cNvPicPr>
          <p:nvPr/>
        </p:nvPicPr>
        <p:blipFill>
          <a:blip r:embed="rId5"/>
          <a:stretch>
            <a:fillRect/>
          </a:stretch>
        </p:blipFill>
        <p:spPr>
          <a:xfrm>
            <a:off x="1935235" y="1978921"/>
            <a:ext cx="8321529" cy="4402829"/>
          </a:xfrm>
          <a:prstGeom prst="rect">
            <a:avLst/>
          </a:prstGeom>
        </p:spPr>
      </p:pic>
    </p:spTree>
    <p:extLst>
      <p:ext uri="{BB962C8B-B14F-4D97-AF65-F5344CB8AC3E}">
        <p14:creationId xmlns:p14="http://schemas.microsoft.com/office/powerpoint/2010/main" val="24431547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363;p33">
            <a:extLst>
              <a:ext uri="{FF2B5EF4-FFF2-40B4-BE49-F238E27FC236}">
                <a16:creationId xmlns:a16="http://schemas.microsoft.com/office/drawing/2014/main" id="{138F84EF-3724-48DD-F366-6C02647240C4}"/>
              </a:ext>
            </a:extLst>
          </p:cNvPr>
          <p:cNvSpPr txBox="1"/>
          <p:nvPr/>
        </p:nvSpPr>
        <p:spPr>
          <a:xfrm>
            <a:off x="2733120" y="3034882"/>
            <a:ext cx="6725759" cy="7882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dirty="0">
                <a:solidFill>
                  <a:schemeClr val="lt1"/>
                </a:solidFill>
                <a:latin typeface="Arial"/>
                <a:ea typeface="Arial"/>
                <a:cs typeface="Arial"/>
                <a:sym typeface="Arial"/>
              </a:rPr>
              <a:t>IV. DESARROLLO</a:t>
            </a:r>
            <a:endParaRPr sz="4800" b="1"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643411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graphicFrame>
        <p:nvGraphicFramePr>
          <p:cNvPr id="18" name="Google Shape;369;p34">
            <a:extLst>
              <a:ext uri="{FF2B5EF4-FFF2-40B4-BE49-F238E27FC236}">
                <a16:creationId xmlns:a16="http://schemas.microsoft.com/office/drawing/2014/main" id="{03B7E3F0-3B02-36F5-11B8-4870F2E887D0}"/>
              </a:ext>
            </a:extLst>
          </p:cNvPr>
          <p:cNvGraphicFramePr/>
          <p:nvPr>
            <p:extLst>
              <p:ext uri="{D42A27DB-BD31-4B8C-83A1-F6EECF244321}">
                <p14:modId xmlns:p14="http://schemas.microsoft.com/office/powerpoint/2010/main" val="1682503462"/>
              </p:ext>
            </p:extLst>
          </p:nvPr>
        </p:nvGraphicFramePr>
        <p:xfrm>
          <a:off x="672362" y="1209675"/>
          <a:ext cx="10847275" cy="5385500"/>
        </p:xfrm>
        <a:graphic>
          <a:graphicData uri="http://schemas.openxmlformats.org/drawingml/2006/table">
            <a:tbl>
              <a:tblPr firstRow="1" bandRow="1">
                <a:noFill/>
              </a:tblPr>
              <a:tblGrid>
                <a:gridCol w="1479175">
                  <a:extLst>
                    <a:ext uri="{9D8B030D-6E8A-4147-A177-3AD203B41FA5}">
                      <a16:colId xmlns:a16="http://schemas.microsoft.com/office/drawing/2014/main" val="20000"/>
                    </a:ext>
                  </a:extLst>
                </a:gridCol>
                <a:gridCol w="2474250">
                  <a:extLst>
                    <a:ext uri="{9D8B030D-6E8A-4147-A177-3AD203B41FA5}">
                      <a16:colId xmlns:a16="http://schemas.microsoft.com/office/drawing/2014/main" val="20001"/>
                    </a:ext>
                  </a:extLst>
                </a:gridCol>
                <a:gridCol w="6893850">
                  <a:extLst>
                    <a:ext uri="{9D8B030D-6E8A-4147-A177-3AD203B41FA5}">
                      <a16:colId xmlns:a16="http://schemas.microsoft.com/office/drawing/2014/main" val="20002"/>
                    </a:ext>
                  </a:extLst>
                </a:gridCol>
              </a:tblGrid>
              <a:tr h="358600">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NOMBRE</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LOGO</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DESCRIPCION</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extLst>
                  <a:ext uri="{0D108BD9-81ED-4DB2-BD59-A6C34878D82A}">
                    <a16:rowId xmlns:a16="http://schemas.microsoft.com/office/drawing/2014/main" val="10000"/>
                  </a:ext>
                </a:extLst>
              </a:tr>
              <a:tr h="1203075">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1"/>
                  </a:ext>
                </a:extLst>
              </a:tr>
              <a:tr h="1302950">
                <a:tc>
                  <a:txBody>
                    <a:bodyPr/>
                    <a:lstStyle/>
                    <a:p>
                      <a:pPr marL="0" marR="0" lvl="0" indent="0" algn="ctr" rtl="0">
                        <a:spcBef>
                          <a:spcPts val="0"/>
                        </a:spcBef>
                        <a:spcAft>
                          <a:spcPts val="0"/>
                        </a:spcAft>
                        <a:buNone/>
                      </a:pPr>
                      <a:endParaRPr sz="2000" b="1"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2"/>
                  </a:ext>
                </a:extLst>
              </a:tr>
              <a:tr h="1346500">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3"/>
                  </a:ext>
                </a:extLst>
              </a:tr>
              <a:tr h="1174375">
                <a:tc>
                  <a:txBody>
                    <a:bodyPr/>
                    <a:lstStyle/>
                    <a:p>
                      <a:pPr marL="0" marR="0" lvl="0" indent="0" algn="ctr" rtl="0">
                        <a:spcBef>
                          <a:spcPts val="0"/>
                        </a:spcBef>
                        <a:spcAft>
                          <a:spcPts val="0"/>
                        </a:spcAft>
                        <a:buNone/>
                      </a:pPr>
                      <a:endParaRPr dirty="0"/>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4"/>
                  </a:ext>
                </a:extLst>
              </a:tr>
            </a:tbl>
          </a:graphicData>
        </a:graphic>
      </p:graphicFrame>
      <p:sp>
        <p:nvSpPr>
          <p:cNvPr id="3" name="Google Shape;192;p18">
            <a:extLst>
              <a:ext uri="{FF2B5EF4-FFF2-40B4-BE49-F238E27FC236}">
                <a16:creationId xmlns:a16="http://schemas.microsoft.com/office/drawing/2014/main" id="{D93CB84A-018B-D336-DE20-54CF3DE4976B}"/>
              </a:ext>
            </a:extLst>
          </p:cNvPr>
          <p:cNvSpPr txBox="1"/>
          <p:nvPr/>
        </p:nvSpPr>
        <p:spPr>
          <a:xfrm>
            <a:off x="375882" y="418247"/>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Herramientas de Backend, Base de Datos y Web</a:t>
            </a:r>
            <a:endParaRPr dirty="0">
              <a:solidFill>
                <a:schemeClr val="bg2"/>
              </a:solidFill>
            </a:endParaRPr>
          </a:p>
        </p:txBody>
      </p:sp>
      <p:pic>
        <p:nvPicPr>
          <p:cNvPr id="5" name="Imagen 4">
            <a:extLst>
              <a:ext uri="{FF2B5EF4-FFF2-40B4-BE49-F238E27FC236}">
                <a16:creationId xmlns:a16="http://schemas.microsoft.com/office/drawing/2014/main" id="{DB4794E1-CF16-E507-6236-947F0502DFC1}"/>
              </a:ext>
            </a:extLst>
          </p:cNvPr>
          <p:cNvPicPr>
            <a:picLocks noChangeAspect="1"/>
          </p:cNvPicPr>
          <p:nvPr/>
        </p:nvPicPr>
        <p:blipFill>
          <a:blip r:embed="rId4">
            <a:alphaModFix/>
          </a:blip>
          <a:stretch>
            <a:fillRect/>
          </a:stretch>
        </p:blipFill>
        <p:spPr>
          <a:xfrm>
            <a:off x="976882" y="3001135"/>
            <a:ext cx="836219" cy="855730"/>
          </a:xfrm>
          <a:prstGeom prst="rect">
            <a:avLst/>
          </a:prstGeom>
          <a:noFill/>
          <a:ln>
            <a:noFill/>
          </a:ln>
        </p:spPr>
      </p:pic>
      <p:pic>
        <p:nvPicPr>
          <p:cNvPr id="6" name="Google Shape;189;p18" descr="image.png">
            <a:extLst>
              <a:ext uri="{FF2B5EF4-FFF2-40B4-BE49-F238E27FC236}">
                <a16:creationId xmlns:a16="http://schemas.microsoft.com/office/drawing/2014/main" id="{4FEBBEC8-0141-3C90-2E15-08B2F7C13ADC}"/>
              </a:ext>
            </a:extLst>
          </p:cNvPr>
          <p:cNvPicPr preferRelativeResize="0"/>
          <p:nvPr/>
        </p:nvPicPr>
        <p:blipFill rotWithShape="1">
          <a:blip r:embed="rId5">
            <a:alphaModFix/>
          </a:blip>
          <a:srcRect/>
          <a:stretch/>
        </p:blipFill>
        <p:spPr>
          <a:xfrm>
            <a:off x="774876" y="4513521"/>
            <a:ext cx="361950" cy="476250"/>
          </a:xfrm>
          <a:prstGeom prst="rect">
            <a:avLst/>
          </a:prstGeom>
          <a:noFill/>
          <a:ln>
            <a:noFill/>
          </a:ln>
        </p:spPr>
      </p:pic>
      <p:pic>
        <p:nvPicPr>
          <p:cNvPr id="7" name="Google Shape;190;p18" descr="image.png">
            <a:extLst>
              <a:ext uri="{FF2B5EF4-FFF2-40B4-BE49-F238E27FC236}">
                <a16:creationId xmlns:a16="http://schemas.microsoft.com/office/drawing/2014/main" id="{CB7BA741-7142-72B7-51B6-CFA76538A06A}"/>
              </a:ext>
            </a:extLst>
          </p:cNvPr>
          <p:cNvPicPr preferRelativeResize="0"/>
          <p:nvPr/>
        </p:nvPicPr>
        <p:blipFill rotWithShape="1">
          <a:blip r:embed="rId6">
            <a:alphaModFix/>
          </a:blip>
          <a:srcRect/>
          <a:stretch/>
        </p:blipFill>
        <p:spPr>
          <a:xfrm>
            <a:off x="1203501" y="4513521"/>
            <a:ext cx="361950" cy="476250"/>
          </a:xfrm>
          <a:prstGeom prst="rect">
            <a:avLst/>
          </a:prstGeom>
          <a:noFill/>
          <a:ln>
            <a:noFill/>
          </a:ln>
        </p:spPr>
      </p:pic>
      <p:pic>
        <p:nvPicPr>
          <p:cNvPr id="8" name="Google Shape;191;p18" descr="image.png">
            <a:extLst>
              <a:ext uri="{FF2B5EF4-FFF2-40B4-BE49-F238E27FC236}">
                <a16:creationId xmlns:a16="http://schemas.microsoft.com/office/drawing/2014/main" id="{18D8E3B5-0E01-F98D-D66D-0E43963D8938}"/>
              </a:ext>
            </a:extLst>
          </p:cNvPr>
          <p:cNvPicPr preferRelativeResize="0"/>
          <p:nvPr/>
        </p:nvPicPr>
        <p:blipFill rotWithShape="1">
          <a:blip r:embed="rId7">
            <a:alphaModFix/>
          </a:blip>
          <a:srcRect/>
          <a:stretch/>
        </p:blipFill>
        <p:spPr>
          <a:xfrm>
            <a:off x="1614806" y="4513521"/>
            <a:ext cx="419100" cy="476250"/>
          </a:xfrm>
          <a:prstGeom prst="rect">
            <a:avLst/>
          </a:prstGeom>
          <a:noFill/>
          <a:ln>
            <a:noFill/>
          </a:ln>
        </p:spPr>
      </p:pic>
      <p:sp>
        <p:nvSpPr>
          <p:cNvPr id="10" name="Google Shape;179;p18">
            <a:extLst>
              <a:ext uri="{FF2B5EF4-FFF2-40B4-BE49-F238E27FC236}">
                <a16:creationId xmlns:a16="http://schemas.microsoft.com/office/drawing/2014/main" id="{7FA6E4FA-849F-7242-4DD4-B79BC9680F1C}"/>
              </a:ext>
            </a:extLst>
          </p:cNvPr>
          <p:cNvSpPr txBox="1"/>
          <p:nvPr/>
        </p:nvSpPr>
        <p:spPr>
          <a:xfrm>
            <a:off x="2411122" y="2063799"/>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a:solidFill>
                  <a:srgbClr val="1A1A1A"/>
                </a:solidFill>
                <a:latin typeface="Plus Jakarta Sans"/>
                <a:ea typeface="Plus Jakarta Sans"/>
                <a:cs typeface="Plus Jakarta Sans"/>
                <a:sym typeface="Plus Jakarta Sans"/>
              </a:rPr>
              <a:t>Python con Flask</a:t>
            </a:r>
            <a:endParaRPr lang="en-US" sz="1600" dirty="0"/>
          </a:p>
        </p:txBody>
      </p:sp>
      <p:sp>
        <p:nvSpPr>
          <p:cNvPr id="11" name="Google Shape;181;p18">
            <a:extLst>
              <a:ext uri="{FF2B5EF4-FFF2-40B4-BE49-F238E27FC236}">
                <a16:creationId xmlns:a16="http://schemas.microsoft.com/office/drawing/2014/main" id="{D6966D3D-7FE9-763C-8FB5-72EA12BC27A2}"/>
              </a:ext>
            </a:extLst>
          </p:cNvPr>
          <p:cNvSpPr txBox="1"/>
          <p:nvPr/>
        </p:nvSpPr>
        <p:spPr>
          <a:xfrm>
            <a:off x="2808674" y="3325125"/>
            <a:ext cx="1080135" cy="207749"/>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1A1A1A"/>
                </a:solidFill>
                <a:latin typeface="Plus Jakarta Sans"/>
                <a:ea typeface="Plus Jakarta Sans"/>
                <a:cs typeface="Plus Jakarta Sans"/>
                <a:sym typeface="Plus Jakarta Sans"/>
              </a:rPr>
              <a:t>MySQL / MariaDB</a:t>
            </a:r>
            <a:endParaRPr dirty="0"/>
          </a:p>
        </p:txBody>
      </p:sp>
      <p:sp>
        <p:nvSpPr>
          <p:cNvPr id="12" name="Google Shape;183;p18">
            <a:extLst>
              <a:ext uri="{FF2B5EF4-FFF2-40B4-BE49-F238E27FC236}">
                <a16:creationId xmlns:a16="http://schemas.microsoft.com/office/drawing/2014/main" id="{AE8E8D92-0E30-06D2-639B-4BEC87153D25}"/>
              </a:ext>
            </a:extLst>
          </p:cNvPr>
          <p:cNvSpPr txBox="1"/>
          <p:nvPr/>
        </p:nvSpPr>
        <p:spPr>
          <a:xfrm>
            <a:off x="2328613" y="4642108"/>
            <a:ext cx="2040255"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1A1A1A"/>
                </a:solidFill>
                <a:latin typeface="Plus Jakarta Sans"/>
                <a:ea typeface="Plus Jakarta Sans"/>
                <a:cs typeface="Plus Jakarta Sans"/>
                <a:sym typeface="Plus Jakarta Sans"/>
              </a:rPr>
              <a:t>HTML, CSS y JavaScript</a:t>
            </a:r>
            <a:endParaRPr dirty="0"/>
          </a:p>
        </p:txBody>
      </p:sp>
      <p:sp>
        <p:nvSpPr>
          <p:cNvPr id="13" name="Google Shape;185;p18">
            <a:extLst>
              <a:ext uri="{FF2B5EF4-FFF2-40B4-BE49-F238E27FC236}">
                <a16:creationId xmlns:a16="http://schemas.microsoft.com/office/drawing/2014/main" id="{49BF5F14-A201-FA4C-9BEA-C612C4078AF5}"/>
              </a:ext>
            </a:extLst>
          </p:cNvPr>
          <p:cNvSpPr txBox="1"/>
          <p:nvPr/>
        </p:nvSpPr>
        <p:spPr>
          <a:xfrm>
            <a:off x="2938688" y="5742453"/>
            <a:ext cx="820102" cy="62324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1A1A1A"/>
                </a:solidFill>
                <a:latin typeface="Plus Jakarta Sans"/>
                <a:ea typeface="Plus Jakarta Sans"/>
                <a:cs typeface="Plus Jakarta Sans"/>
                <a:sym typeface="Plus Jakarta Sans"/>
              </a:rPr>
              <a:t>Visual Studio Code</a:t>
            </a:r>
            <a:endParaRPr dirty="0"/>
          </a:p>
        </p:txBody>
      </p:sp>
      <p:sp>
        <p:nvSpPr>
          <p:cNvPr id="14" name="Google Shape;180;p18">
            <a:extLst>
              <a:ext uri="{FF2B5EF4-FFF2-40B4-BE49-F238E27FC236}">
                <a16:creationId xmlns:a16="http://schemas.microsoft.com/office/drawing/2014/main" id="{B06F346E-BCBE-44F9-D1D7-C4A1D8FBBB80}"/>
              </a:ext>
            </a:extLst>
          </p:cNvPr>
          <p:cNvSpPr txBox="1"/>
          <p:nvPr/>
        </p:nvSpPr>
        <p:spPr>
          <a:xfrm>
            <a:off x="5185480" y="1937869"/>
            <a:ext cx="5787319" cy="415498"/>
          </a:xfrm>
          <a:prstGeom prst="rect">
            <a:avLst/>
          </a:prstGeom>
          <a:noFill/>
          <a:ln>
            <a:noFill/>
          </a:ln>
        </p:spPr>
        <p:txBody>
          <a:bodyPr spcFirstLastPara="1" wrap="square" lIns="0" tIns="0" rIns="0" bIns="0" anchor="t" anchorCtr="0">
            <a:spAutoFit/>
          </a:bodyPr>
          <a:lstStyle/>
          <a:p>
            <a:pPr algn="ctr"/>
            <a:r>
              <a:rPr sz="1500" dirty="0" err="1">
                <a:solidFill>
                  <a:srgbClr val="1A1A1A"/>
                </a:solidFill>
                <a:latin typeface="Arial"/>
              </a:rPr>
              <a:t>Lenguaje</a:t>
            </a:r>
            <a:r>
              <a:rPr sz="1500" dirty="0">
                <a:solidFill>
                  <a:srgbClr val="1A1A1A"/>
                </a:solidFill>
                <a:latin typeface="Arial"/>
              </a:rPr>
              <a:t> y framework del </a:t>
            </a:r>
            <a:r>
              <a:rPr sz="1500" dirty="0" err="1">
                <a:solidFill>
                  <a:srgbClr val="1A1A1A"/>
                </a:solidFill>
                <a:latin typeface="Arial"/>
              </a:rPr>
              <a:t>servidor</a:t>
            </a:r>
            <a:r>
              <a:rPr sz="1500" dirty="0">
                <a:solidFill>
                  <a:srgbClr val="1A1A1A"/>
                </a:solidFill>
                <a:latin typeface="Arial"/>
              </a:rPr>
              <a:t>. </a:t>
            </a:r>
            <a:r>
              <a:rPr sz="1500" dirty="0" err="1">
                <a:solidFill>
                  <a:srgbClr val="1A1A1A"/>
                </a:solidFill>
                <a:latin typeface="Arial"/>
              </a:rPr>
              <a:t>Resuelve</a:t>
            </a:r>
            <a:r>
              <a:rPr sz="1500" dirty="0">
                <a:solidFill>
                  <a:srgbClr val="1A1A1A"/>
                </a:solidFill>
                <a:latin typeface="Arial"/>
              </a:rPr>
              <a:t> </a:t>
            </a:r>
            <a:r>
              <a:rPr sz="1500" dirty="0" err="1">
                <a:solidFill>
                  <a:srgbClr val="1A1A1A"/>
                </a:solidFill>
                <a:latin typeface="Arial"/>
              </a:rPr>
              <a:t>el</a:t>
            </a:r>
            <a:r>
              <a:rPr sz="1500" dirty="0">
                <a:solidFill>
                  <a:srgbClr val="1A1A1A"/>
                </a:solidFill>
                <a:latin typeface="Arial"/>
              </a:rPr>
              <a:t> </a:t>
            </a:r>
            <a:r>
              <a:rPr sz="1500" dirty="0" err="1">
                <a:solidFill>
                  <a:srgbClr val="1A1A1A"/>
                </a:solidFill>
                <a:latin typeface="Arial"/>
              </a:rPr>
              <a:t>enrutamiento</a:t>
            </a:r>
            <a:r>
              <a:rPr sz="1500" dirty="0">
                <a:solidFill>
                  <a:srgbClr val="1A1A1A"/>
                </a:solidFill>
                <a:latin typeface="Arial"/>
              </a:rPr>
              <a:t>, la </a:t>
            </a:r>
            <a:r>
              <a:rPr sz="1500" dirty="0" err="1">
                <a:solidFill>
                  <a:srgbClr val="1A1A1A"/>
                </a:solidFill>
                <a:latin typeface="Arial"/>
              </a:rPr>
              <a:t>sesión</a:t>
            </a:r>
            <a:r>
              <a:rPr sz="1500" dirty="0">
                <a:solidFill>
                  <a:srgbClr val="1A1A1A"/>
                </a:solidFill>
                <a:latin typeface="Arial"/>
              </a:rPr>
              <a:t> y las </a:t>
            </a:r>
            <a:r>
              <a:rPr sz="1500" dirty="0" err="1">
                <a:solidFill>
                  <a:srgbClr val="1A1A1A"/>
                </a:solidFill>
                <a:latin typeface="Arial"/>
              </a:rPr>
              <a:t>reglas</a:t>
            </a:r>
            <a:r>
              <a:rPr sz="1500" dirty="0">
                <a:solidFill>
                  <a:srgbClr val="1A1A1A"/>
                </a:solidFill>
                <a:latin typeface="Arial"/>
              </a:rPr>
              <a:t> de la agenda antes de </a:t>
            </a:r>
            <a:r>
              <a:rPr sz="1500" dirty="0" err="1">
                <a:solidFill>
                  <a:srgbClr val="1A1A1A"/>
                </a:solidFill>
                <a:latin typeface="Arial"/>
              </a:rPr>
              <a:t>escribir</a:t>
            </a:r>
            <a:r>
              <a:rPr sz="1500" dirty="0">
                <a:solidFill>
                  <a:srgbClr val="1A1A1A"/>
                </a:solidFill>
                <a:latin typeface="Arial"/>
              </a:rPr>
              <a:t> </a:t>
            </a:r>
            <a:r>
              <a:rPr sz="1500" dirty="0" err="1">
                <a:solidFill>
                  <a:srgbClr val="1A1A1A"/>
                </a:solidFill>
                <a:latin typeface="Arial"/>
              </a:rPr>
              <a:t>en</a:t>
            </a:r>
            <a:r>
              <a:rPr sz="1500" dirty="0">
                <a:solidFill>
                  <a:srgbClr val="1A1A1A"/>
                </a:solidFill>
                <a:latin typeface="Arial"/>
              </a:rPr>
              <a:t> la base.</a:t>
            </a:r>
            <a:endParaRPr sz="1350" b="1" dirty="0">
              <a:solidFill>
                <a:srgbClr val="003366"/>
              </a:solidFill>
              <a:latin typeface="Plus Jakarta Sans"/>
              <a:cs typeface="Plus Jakarta Sans"/>
            </a:endParaRPr>
          </a:p>
        </p:txBody>
      </p:sp>
      <p:sp>
        <p:nvSpPr>
          <p:cNvPr id="16" name="Google Shape;182;p18">
            <a:extLst>
              <a:ext uri="{FF2B5EF4-FFF2-40B4-BE49-F238E27FC236}">
                <a16:creationId xmlns:a16="http://schemas.microsoft.com/office/drawing/2014/main" id="{E5F35F2E-E15D-32B4-EFE9-854E706A4D7C}"/>
              </a:ext>
            </a:extLst>
          </p:cNvPr>
          <p:cNvSpPr txBox="1"/>
          <p:nvPr/>
        </p:nvSpPr>
        <p:spPr>
          <a:xfrm>
            <a:off x="5264501" y="3214070"/>
            <a:ext cx="5787319" cy="415498"/>
          </a:xfrm>
          <a:prstGeom prst="rect">
            <a:avLst/>
          </a:prstGeom>
          <a:noFill/>
          <a:ln>
            <a:noFill/>
          </a:ln>
        </p:spPr>
        <p:txBody>
          <a:bodyPr spcFirstLastPara="1" wrap="square" lIns="0" tIns="0" rIns="0" bIns="0" anchor="t" anchorCtr="0">
            <a:spAutoFit/>
          </a:bodyPr>
          <a:lstStyle/>
          <a:p>
            <a:pPr algn="ctr"/>
            <a:r>
              <a:rPr sz="1500" dirty="0">
                <a:solidFill>
                  <a:srgbClr val="1A1A1A"/>
                </a:solidFill>
                <a:latin typeface="Arial"/>
              </a:rPr>
              <a:t>Gestor </a:t>
            </a:r>
            <a:r>
              <a:rPr sz="1500" dirty="0" err="1">
                <a:solidFill>
                  <a:srgbClr val="1A1A1A"/>
                </a:solidFill>
                <a:latin typeface="Arial"/>
              </a:rPr>
              <a:t>relacional</a:t>
            </a:r>
            <a:r>
              <a:rPr sz="1500" dirty="0">
                <a:solidFill>
                  <a:srgbClr val="1A1A1A"/>
                </a:solidFill>
                <a:latin typeface="Arial"/>
              </a:rPr>
              <a:t> con once </a:t>
            </a:r>
            <a:r>
              <a:rPr sz="1500" dirty="0" err="1">
                <a:solidFill>
                  <a:srgbClr val="1A1A1A"/>
                </a:solidFill>
                <a:latin typeface="Arial"/>
              </a:rPr>
              <a:t>tablas</a:t>
            </a:r>
            <a:r>
              <a:rPr sz="1500" dirty="0">
                <a:solidFill>
                  <a:srgbClr val="1A1A1A"/>
                </a:solidFill>
                <a:latin typeface="Arial"/>
              </a:rPr>
              <a:t>, </a:t>
            </a:r>
            <a:r>
              <a:rPr sz="1500" dirty="0" err="1">
                <a:solidFill>
                  <a:srgbClr val="1A1A1A"/>
                </a:solidFill>
                <a:latin typeface="Arial"/>
              </a:rPr>
              <a:t>sesenta</a:t>
            </a:r>
            <a:r>
              <a:rPr sz="1500" dirty="0">
                <a:solidFill>
                  <a:srgbClr val="1A1A1A"/>
                </a:solidFill>
                <a:latin typeface="Arial"/>
              </a:rPr>
              <a:t> y </a:t>
            </a:r>
            <a:r>
              <a:rPr sz="1500" dirty="0" err="1">
                <a:solidFill>
                  <a:srgbClr val="1A1A1A"/>
                </a:solidFill>
                <a:latin typeface="Arial"/>
              </a:rPr>
              <a:t>tres</a:t>
            </a:r>
            <a:r>
              <a:rPr sz="1500" dirty="0">
                <a:solidFill>
                  <a:srgbClr val="1A1A1A"/>
                </a:solidFill>
                <a:latin typeface="Arial"/>
              </a:rPr>
              <a:t> </a:t>
            </a:r>
            <a:r>
              <a:rPr sz="1500" dirty="0" err="1">
                <a:solidFill>
                  <a:srgbClr val="1A1A1A"/>
                </a:solidFill>
                <a:latin typeface="Arial"/>
              </a:rPr>
              <a:t>columnas</a:t>
            </a:r>
            <a:r>
              <a:rPr sz="1500" dirty="0">
                <a:solidFill>
                  <a:srgbClr val="1A1A1A"/>
                </a:solidFill>
                <a:latin typeface="Arial"/>
              </a:rPr>
              <a:t> y </a:t>
            </a:r>
            <a:r>
              <a:rPr sz="1500" dirty="0" err="1">
                <a:solidFill>
                  <a:srgbClr val="1A1A1A"/>
                </a:solidFill>
                <a:latin typeface="Arial"/>
              </a:rPr>
              <a:t>catorce</a:t>
            </a:r>
            <a:r>
              <a:rPr sz="1500" dirty="0">
                <a:solidFill>
                  <a:srgbClr val="1A1A1A"/>
                </a:solidFill>
                <a:latin typeface="Arial"/>
              </a:rPr>
              <a:t> claves </a:t>
            </a:r>
            <a:r>
              <a:rPr sz="1500" dirty="0" err="1">
                <a:solidFill>
                  <a:srgbClr val="1A1A1A"/>
                </a:solidFill>
                <a:latin typeface="Arial"/>
              </a:rPr>
              <a:t>foráneas</a:t>
            </a:r>
            <a:r>
              <a:rPr sz="1500" dirty="0">
                <a:solidFill>
                  <a:srgbClr val="1A1A1A"/>
                </a:solidFill>
                <a:latin typeface="Arial"/>
              </a:rPr>
              <a:t>, con </a:t>
            </a:r>
            <a:r>
              <a:rPr sz="1500" dirty="0" err="1">
                <a:solidFill>
                  <a:srgbClr val="1A1A1A"/>
                </a:solidFill>
                <a:latin typeface="Arial"/>
              </a:rPr>
              <a:t>acceso</a:t>
            </a:r>
            <a:r>
              <a:rPr sz="1500" dirty="0">
                <a:solidFill>
                  <a:srgbClr val="1A1A1A"/>
                </a:solidFill>
                <a:latin typeface="Arial"/>
              </a:rPr>
              <a:t> </a:t>
            </a:r>
            <a:r>
              <a:rPr sz="1500" dirty="0" err="1">
                <a:solidFill>
                  <a:srgbClr val="1A1A1A"/>
                </a:solidFill>
                <a:latin typeface="Arial"/>
              </a:rPr>
              <a:t>mediante</a:t>
            </a:r>
            <a:r>
              <a:rPr sz="1500" dirty="0">
                <a:solidFill>
                  <a:srgbClr val="1A1A1A"/>
                </a:solidFill>
                <a:latin typeface="Arial"/>
              </a:rPr>
              <a:t> </a:t>
            </a:r>
            <a:r>
              <a:rPr sz="1500" dirty="0" err="1">
                <a:solidFill>
                  <a:srgbClr val="1A1A1A"/>
                </a:solidFill>
                <a:latin typeface="Arial"/>
              </a:rPr>
              <a:t>consultas</a:t>
            </a:r>
            <a:r>
              <a:rPr sz="1500" dirty="0">
                <a:solidFill>
                  <a:srgbClr val="1A1A1A"/>
                </a:solidFill>
                <a:latin typeface="Arial"/>
              </a:rPr>
              <a:t> SQL </a:t>
            </a:r>
            <a:r>
              <a:rPr sz="1500" dirty="0" err="1">
                <a:solidFill>
                  <a:srgbClr val="1A1A1A"/>
                </a:solidFill>
                <a:latin typeface="Arial"/>
              </a:rPr>
              <a:t>explícitas</a:t>
            </a:r>
            <a:r>
              <a:rPr sz="1500" dirty="0">
                <a:solidFill>
                  <a:srgbClr val="1A1A1A"/>
                </a:solidFill>
                <a:latin typeface="Arial"/>
              </a:rPr>
              <a:t>.</a:t>
            </a:r>
            <a:endParaRPr sz="1350" b="1" dirty="0">
              <a:solidFill>
                <a:srgbClr val="003366"/>
              </a:solidFill>
              <a:latin typeface="Plus Jakarta Sans"/>
              <a:cs typeface="Plus Jakarta Sans"/>
            </a:endParaRPr>
          </a:p>
        </p:txBody>
      </p:sp>
      <p:sp>
        <p:nvSpPr>
          <p:cNvPr id="19" name="Google Shape;184;p18">
            <a:extLst>
              <a:ext uri="{FF2B5EF4-FFF2-40B4-BE49-F238E27FC236}">
                <a16:creationId xmlns:a16="http://schemas.microsoft.com/office/drawing/2014/main" id="{A0DC273B-02A0-08EC-448F-6B6D27AB28B5}"/>
              </a:ext>
            </a:extLst>
          </p:cNvPr>
          <p:cNvSpPr txBox="1"/>
          <p:nvPr/>
        </p:nvSpPr>
        <p:spPr>
          <a:xfrm>
            <a:off x="5724878" y="4490271"/>
            <a:ext cx="4708524" cy="415498"/>
          </a:xfrm>
          <a:prstGeom prst="rect">
            <a:avLst/>
          </a:prstGeom>
          <a:noFill/>
          <a:ln>
            <a:noFill/>
          </a:ln>
        </p:spPr>
        <p:txBody>
          <a:bodyPr spcFirstLastPara="1" wrap="square" lIns="0" tIns="0" rIns="0" bIns="0" anchor="t" anchorCtr="0">
            <a:spAutoFit/>
          </a:bodyPr>
          <a:lstStyle/>
          <a:p>
            <a:pPr algn="ctr"/>
            <a:r>
              <a:rPr sz="1500">
                <a:solidFill>
                  <a:srgbClr val="1A1A1A"/>
                </a:solidFill>
                <a:latin typeface="Arial"/>
              </a:rPr>
              <a:t>Plantillas Jinja2 con Bootstrap 5 para las tres vistas de rol y el calendario de disponibilidad.</a:t>
            </a:r>
            <a:endParaRPr sz="1350" b="1" dirty="0">
              <a:solidFill>
                <a:srgbClr val="003366"/>
              </a:solidFill>
              <a:latin typeface="Plus Jakarta Sans"/>
              <a:cs typeface="Plus Jakarta Sans"/>
            </a:endParaRPr>
          </a:p>
        </p:txBody>
      </p:sp>
      <p:sp>
        <p:nvSpPr>
          <p:cNvPr id="20" name="Google Shape;186;p18">
            <a:extLst>
              <a:ext uri="{FF2B5EF4-FFF2-40B4-BE49-F238E27FC236}">
                <a16:creationId xmlns:a16="http://schemas.microsoft.com/office/drawing/2014/main" id="{AF261DFC-D721-ED25-DE9B-C426812B8699}"/>
              </a:ext>
            </a:extLst>
          </p:cNvPr>
          <p:cNvSpPr txBox="1"/>
          <p:nvPr/>
        </p:nvSpPr>
        <p:spPr>
          <a:xfrm>
            <a:off x="5751496" y="5699271"/>
            <a:ext cx="4813331" cy="623248"/>
          </a:xfrm>
          <a:prstGeom prst="rect">
            <a:avLst/>
          </a:prstGeom>
          <a:noFill/>
          <a:ln>
            <a:noFill/>
          </a:ln>
        </p:spPr>
        <p:txBody>
          <a:bodyPr spcFirstLastPara="1" wrap="square" lIns="0" tIns="0" rIns="0" bIns="0" anchor="t" anchorCtr="0">
            <a:spAutoFit/>
          </a:bodyPr>
          <a:lstStyle/>
          <a:p>
            <a:pPr algn="ctr"/>
            <a:r>
              <a:rPr sz="1500">
                <a:solidFill>
                  <a:srgbClr val="1A1A1A"/>
                </a:solidFill>
                <a:latin typeface="Arial"/>
              </a:rPr>
              <a:t>Entorno de desarrollo usado para escribir, depurar y mantener el código.</a:t>
            </a:r>
            <a:endParaRPr sz="1350" b="1" dirty="0">
              <a:solidFill>
                <a:srgbClr val="003366"/>
              </a:solidFill>
              <a:latin typeface="Plus Jakarta Sans"/>
              <a:cs typeface="Plus Jakarta Sans"/>
            </a:endParaRPr>
          </a:p>
        </p:txBody>
      </p:sp>
      <p:pic>
        <p:nvPicPr>
          <p:cNvPr id="1026" name="Picture 2">
            <a:extLst>
              <a:ext uri="{FF2B5EF4-FFF2-40B4-BE49-F238E27FC236}">
                <a16:creationId xmlns:a16="http://schemas.microsoft.com/office/drawing/2014/main" id="{86BB7797-F797-E88B-AF54-6397BEDB470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89190" y="1937869"/>
            <a:ext cx="47625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Flask logo - free Icon PNG, SVG">
            <a:extLst>
              <a:ext uri="{FF2B5EF4-FFF2-40B4-BE49-F238E27FC236}">
                <a16:creationId xmlns:a16="http://schemas.microsoft.com/office/drawing/2014/main" id="{02CFD3C6-077B-9028-2F17-398F1780B7B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436028" y="1888030"/>
            <a:ext cx="526089" cy="526089"/>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a:extLst>
              <a:ext uri="{FF2B5EF4-FFF2-40B4-BE49-F238E27FC236}">
                <a16:creationId xmlns:a16="http://schemas.microsoft.com/office/drawing/2014/main" id="{C647D5AE-F575-4D95-65DF-31590DAE0AC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72852" y="5683009"/>
            <a:ext cx="623248" cy="623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65072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sp>
        <p:nvSpPr>
          <p:cNvPr id="17" name="Google Shape;212;p19">
            <a:extLst>
              <a:ext uri="{FF2B5EF4-FFF2-40B4-BE49-F238E27FC236}">
                <a16:creationId xmlns:a16="http://schemas.microsoft.com/office/drawing/2014/main" id="{DA5B7F3C-C4E1-2C3C-A80A-D53E220848D0}"/>
              </a:ext>
            </a:extLst>
          </p:cNvPr>
          <p:cNvSpPr txBox="1"/>
          <p:nvPr/>
        </p:nvSpPr>
        <p:spPr>
          <a:xfrm>
            <a:off x="481189" y="408305"/>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Herramientas de Apoyo, Pruebas y Control de Versiones</a:t>
            </a:r>
            <a:endParaRPr dirty="0">
              <a:solidFill>
                <a:schemeClr val="bg2"/>
              </a:solidFill>
            </a:endParaRPr>
          </a:p>
        </p:txBody>
      </p:sp>
      <p:graphicFrame>
        <p:nvGraphicFramePr>
          <p:cNvPr id="18" name="Google Shape;369;p34">
            <a:extLst>
              <a:ext uri="{FF2B5EF4-FFF2-40B4-BE49-F238E27FC236}">
                <a16:creationId xmlns:a16="http://schemas.microsoft.com/office/drawing/2014/main" id="{03B7E3F0-3B02-36F5-11B8-4870F2E887D0}"/>
              </a:ext>
            </a:extLst>
          </p:cNvPr>
          <p:cNvGraphicFramePr/>
          <p:nvPr>
            <p:extLst>
              <p:ext uri="{D42A27DB-BD31-4B8C-83A1-F6EECF244321}">
                <p14:modId xmlns:p14="http://schemas.microsoft.com/office/powerpoint/2010/main" val="2345715555"/>
              </p:ext>
            </p:extLst>
          </p:nvPr>
        </p:nvGraphicFramePr>
        <p:xfrm>
          <a:off x="672362" y="1209675"/>
          <a:ext cx="10847275" cy="5385498"/>
        </p:xfrm>
        <a:graphic>
          <a:graphicData uri="http://schemas.openxmlformats.org/drawingml/2006/table">
            <a:tbl>
              <a:tblPr firstRow="1" bandRow="1">
                <a:noFill/>
              </a:tblPr>
              <a:tblGrid>
                <a:gridCol w="1479175">
                  <a:extLst>
                    <a:ext uri="{9D8B030D-6E8A-4147-A177-3AD203B41FA5}">
                      <a16:colId xmlns:a16="http://schemas.microsoft.com/office/drawing/2014/main" val="20000"/>
                    </a:ext>
                  </a:extLst>
                </a:gridCol>
                <a:gridCol w="2474250">
                  <a:extLst>
                    <a:ext uri="{9D8B030D-6E8A-4147-A177-3AD203B41FA5}">
                      <a16:colId xmlns:a16="http://schemas.microsoft.com/office/drawing/2014/main" val="20001"/>
                    </a:ext>
                  </a:extLst>
                </a:gridCol>
                <a:gridCol w="6893850">
                  <a:extLst>
                    <a:ext uri="{9D8B030D-6E8A-4147-A177-3AD203B41FA5}">
                      <a16:colId xmlns:a16="http://schemas.microsoft.com/office/drawing/2014/main" val="20002"/>
                    </a:ext>
                  </a:extLst>
                </a:gridCol>
              </a:tblGrid>
              <a:tr h="640080">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NOMBRE</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LOGO</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DESCRIPCION</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extLst>
                  <a:ext uri="{0D108BD9-81ED-4DB2-BD59-A6C34878D82A}">
                    <a16:rowId xmlns:a16="http://schemas.microsoft.com/office/drawing/2014/main" val="10000"/>
                  </a:ext>
                </a:extLst>
              </a:tr>
              <a:tr h="1581806">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lang="es-CO" sz="1600" b="1" dirty="0">
                        <a:solidFill>
                          <a:srgbClr val="1F3B73"/>
                        </a:solidFill>
                        <a:latin typeface="Plus Jakarta Sans" panose="020B0604020202020204" charset="0"/>
                        <a:cs typeface="Plus Jakarta Sans" panose="020B0604020202020204" charset="0"/>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dirty="0">
                          <a:solidFill/>
                        </a:rPr>
                        <a:t>  </a:t>
                      </a:r>
                      <a:endParaRPr lang="es-CO" sz="1500" b="0" dirty="0">
                        <a:solidFill>
                          <a:srgbClr val="33373D"/>
                        </a:solidFill>
                        <a:latin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1"/>
                  </a:ext>
                </a:extLst>
              </a:tr>
              <a:tr h="1581806">
                <a:tc>
                  <a:txBody>
                    <a:bodyPr/>
                    <a:lstStyle/>
                    <a:p>
                      <a:pPr marL="0" marR="0" lvl="0" indent="0" algn="ctr" rtl="0">
                        <a:lnSpc>
                          <a:spcPct val="100000"/>
                        </a:lnSpc>
                        <a:spcBef>
                          <a:spcPts val="0"/>
                        </a:spcBef>
                        <a:spcAft>
                          <a:spcPts val="0"/>
                        </a:spcAft>
                        <a:buClr>
                          <a:srgbClr val="000000"/>
                        </a:buClr>
                        <a:buFont typeface="Arial"/>
                        <a:buNone/>
                      </a:pPr>
                      <a:endParaRPr sz="1400" b="0" i="0" u="none" strike="noStrike" cap="none" dirty="0">
                        <a:solidFill>
                          <a:schemeClr val="tx1"/>
                        </a:solidFill>
                        <a:highlight>
                          <a:srgbClr val="C0C0C0"/>
                        </a:highlight>
                        <a:latin typeface="+mn-lt"/>
                        <a:ea typeface="+mn-ea"/>
                        <a:cs typeface="+mn-cs"/>
                        <a:sym typeface="Arial"/>
                      </a:endParaRPr>
                    </a:p>
                  </a:txBody>
                  <a:tcPr marL="91450" marR="91450" marT="45725" marB="45725">
                    <a:solidFill>
                      <a:schemeClr val="bg1">
                        <a:lumMod val="95000"/>
                      </a:schemeClr>
                    </a:solidFill>
                  </a:tcPr>
                </a:tc>
                <a:tc>
                  <a:txBody>
                    <a:bodyPr/>
                    <a:lstStyle/>
                    <a:p>
                      <a:pPr marL="0" marR="0" lvl="0" indent="0" algn="ctr" rtl="0">
                        <a:lnSpc>
                          <a:spcPct val="100000"/>
                        </a:lnSpc>
                        <a:spcBef>
                          <a:spcPts val="0"/>
                        </a:spcBef>
                        <a:spcAft>
                          <a:spcPts val="0"/>
                        </a:spcAft>
                        <a:buClr>
                          <a:srgbClr val="000000"/>
                        </a:buClr>
                        <a:buFont typeface="Arial"/>
                        <a:buNone/>
                      </a:pPr>
                      <a:endParaRPr lang="es-CO" sz="1500" b="1" dirty="0">
                        <a:solidFill>
                          <a:srgbClr val="1F3B73"/>
                        </a:solidFill>
                        <a:latin typeface="Arial"/>
                      </a:endParaRPr>
                    </a:p>
                  </a:txBody>
                  <a:tcPr marL="91450" marR="91450" marT="45725" marB="45725">
                    <a:solidFill>
                      <a:schemeClr val="bg1">
                        <a:lumMod val="95000"/>
                      </a:schemeClr>
                    </a:solidFill>
                  </a:tcPr>
                </a:tc>
                <a:tc>
                  <a:txBody>
                    <a:bodyPr/>
                    <a:lstStyle/>
                    <a:p>
                      <a:pPr marL="0" marR="0" lvl="0" indent="0" algn="ctr" rtl="0">
                        <a:lnSpc>
                          <a:spcPct val="100000"/>
                        </a:lnSpc>
                        <a:spcBef>
                          <a:spcPts val="0"/>
                        </a:spcBef>
                        <a:spcAft>
                          <a:spcPts val="0"/>
                        </a:spcAft>
                        <a:buClr>
                          <a:srgbClr val="000000"/>
                        </a:buClr>
                        <a:buFont typeface="Arial"/>
                        <a:buNone/>
                      </a:pPr>
                      <a:endParaRPr lang="es-CO" sz="1500" b="0" dirty="0">
                        <a:solidFill>
                          <a:srgbClr val="33373D"/>
                        </a:solidFill>
                        <a:latin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2"/>
                  </a:ext>
                </a:extLst>
              </a:tr>
              <a:tr h="1581806">
                <a:tc>
                  <a:txBody>
                    <a:bodyPr/>
                    <a:lstStyle/>
                    <a:p>
                      <a:pPr marL="0" marR="0" lvl="0" indent="0" algn="ctr" rtl="0">
                        <a:spcBef>
                          <a:spcPts val="0"/>
                        </a:spcBef>
                        <a:spcAft>
                          <a:spcPts val="0"/>
                        </a:spcAft>
                        <a:buNone/>
                      </a:pPr>
                      <a:endParaRPr dirty="0"/>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dirty="0">
                          <a:solidFill/>
                        </a:rPr>
                        <a:t>  </a:t>
                      </a:r>
                      <a:endParaRPr lang="es-CO" sz="1500" b="1" dirty="0">
                        <a:solidFill>
                          <a:srgbClr val="1F3B73"/>
                        </a:solidFill>
                        <a:latin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lang="es-CO" sz="1500" b="0" dirty="0">
                        <a:solidFill>
                          <a:srgbClr val="33373D"/>
                        </a:solidFill>
                        <a:latin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3"/>
                  </a:ext>
                </a:extLst>
              </a:tr>
            </a:tbl>
          </a:graphicData>
        </a:graphic>
      </p:graphicFrame>
      <p:pic>
        <p:nvPicPr>
          <p:cNvPr id="21" name="Google Shape;210;p19" descr="image.png">
            <a:extLst>
              <a:ext uri="{FF2B5EF4-FFF2-40B4-BE49-F238E27FC236}">
                <a16:creationId xmlns:a16="http://schemas.microsoft.com/office/drawing/2014/main" id="{F5A32B8F-B913-5C82-028A-AF747D09BF81}"/>
              </a:ext>
            </a:extLst>
          </p:cNvPr>
          <p:cNvPicPr preferRelativeResize="0"/>
          <p:nvPr/>
        </p:nvPicPr>
        <p:blipFill rotWithShape="1">
          <a:blip r:embed="rId4">
            <a:alphaModFix/>
          </a:blip>
          <a:srcRect/>
          <a:stretch/>
        </p:blipFill>
        <p:spPr>
          <a:xfrm>
            <a:off x="882719" y="3993864"/>
            <a:ext cx="457200" cy="457200"/>
          </a:xfrm>
          <a:prstGeom prst="rect">
            <a:avLst/>
          </a:prstGeom>
          <a:noFill/>
          <a:ln>
            <a:noFill/>
          </a:ln>
        </p:spPr>
      </p:pic>
      <p:pic>
        <p:nvPicPr>
          <p:cNvPr id="22" name="Google Shape;211;p19" descr="image.png">
            <a:extLst>
              <a:ext uri="{FF2B5EF4-FFF2-40B4-BE49-F238E27FC236}">
                <a16:creationId xmlns:a16="http://schemas.microsoft.com/office/drawing/2014/main" id="{85243684-8CB1-3508-B1BA-C5247D4660EB}"/>
              </a:ext>
            </a:extLst>
          </p:cNvPr>
          <p:cNvPicPr preferRelativeResize="0"/>
          <p:nvPr/>
        </p:nvPicPr>
        <p:blipFill rotWithShape="1">
          <a:blip r:embed="rId5">
            <a:alphaModFix/>
          </a:blip>
          <a:srcRect/>
          <a:stretch/>
        </p:blipFill>
        <p:spPr>
          <a:xfrm>
            <a:off x="1492319" y="3993864"/>
            <a:ext cx="457200" cy="457200"/>
          </a:xfrm>
          <a:prstGeom prst="rect">
            <a:avLst/>
          </a:prstGeom>
          <a:noFill/>
          <a:ln>
            <a:noFill/>
          </a:ln>
        </p:spPr>
      </p:pic>
      <p:pic>
        <p:nvPicPr>
          <p:cNvPr id="1026" name="Picture 2" descr="Pytest IntelliSense - Visual Studio Marketplace">
            <a:extLst>
              <a:ext uri="{FF2B5EF4-FFF2-40B4-BE49-F238E27FC236}">
                <a16:creationId xmlns:a16="http://schemas.microsoft.com/office/drawing/2014/main" id="{A7E67D01-D353-132A-38B7-B5E0779F3C9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41053" y="5375644"/>
            <a:ext cx="857251" cy="857251"/>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80;p18">
            <a:extLst>
              <a:ext uri="{FF2B5EF4-FFF2-40B4-BE49-F238E27FC236}">
                <a16:creationId xmlns:a16="http://schemas.microsoft.com/office/drawing/2014/main" id="{8FE4C52D-EB53-95BF-DA92-0147FEB8F2FC}"/>
              </a:ext>
            </a:extLst>
          </p:cNvPr>
          <p:cNvSpPr txBox="1"/>
          <p:nvPr/>
        </p:nvSpPr>
        <p:spPr>
          <a:xfrm>
            <a:off x="5034941" y="2382384"/>
            <a:ext cx="5787319" cy="430887"/>
          </a:xfrm>
          <a:prstGeom prst="rect">
            <a:avLst/>
          </a:prstGeom>
          <a:noFill/>
          <a:ln>
            <a:noFill/>
          </a:ln>
        </p:spPr>
        <p:txBody>
          <a:bodyPr spcFirstLastPara="1" wrap="square" lIns="0" tIns="0" rIns="0" bIns="0" anchor="t" anchorCtr="0">
            <a:spAutoFit/>
          </a:bodyPr>
          <a:lstStyle/>
          <a:p>
            <a:pPr algn="ctr"/>
            <a:r>
              <a:rPr kumimoji="0" lang="es-MX" sz="1400" b="0" i="0" u="none" strike="noStrike" kern="0" cap="none" spc="0" normalizeH="0" baseline="0" noProof="0" dirty="0">
                <a:ln>
                  <a:noFill/>
                </a:ln>
                <a:solidFill/>
                <a:effectLst/>
                <a:uLnTx/>
                <a:uFillTx/>
                <a:latin typeface="Arial"/>
                <a:ea typeface="+mn-ea"/>
                <a:cs typeface="+mn-cs"/>
                <a:sym typeface="Arial"/>
              </a:rPr>
              <a:t> Asistente empleado para revisar código, contrastar decisiones de diseño y redactar documentación.</a:t>
            </a:r>
            <a:endParaRPr sz="1350" b="1" dirty="0">
              <a:solidFill>
                <a:srgbClr val="003366"/>
              </a:solidFill>
              <a:latin typeface="Plus Jakarta Sans"/>
              <a:cs typeface="Plus Jakarta Sans"/>
            </a:endParaRPr>
          </a:p>
        </p:txBody>
      </p:sp>
      <p:sp>
        <p:nvSpPr>
          <p:cNvPr id="4" name="Google Shape;180;p18">
            <a:extLst>
              <a:ext uri="{FF2B5EF4-FFF2-40B4-BE49-F238E27FC236}">
                <a16:creationId xmlns:a16="http://schemas.microsoft.com/office/drawing/2014/main" id="{0E85B60A-86F7-19F4-5A59-6D4AFDBCEAF2}"/>
              </a:ext>
            </a:extLst>
          </p:cNvPr>
          <p:cNvSpPr txBox="1"/>
          <p:nvPr/>
        </p:nvSpPr>
        <p:spPr>
          <a:xfrm>
            <a:off x="5034939" y="4101248"/>
            <a:ext cx="5787319" cy="430887"/>
          </a:xfrm>
          <a:prstGeom prst="rect">
            <a:avLst/>
          </a:prstGeom>
          <a:noFill/>
          <a:ln>
            <a:noFill/>
          </a:ln>
        </p:spPr>
        <p:txBody>
          <a:bodyPr spcFirstLastPara="1" wrap="square" lIns="0" tIns="0" rIns="0" bIns="0" anchor="t" anchorCtr="0">
            <a:spAutoFit/>
          </a:bodyPr>
          <a:lstStyle/>
          <a:p>
            <a:pPr algn="ctr"/>
            <a:r>
              <a:rPr kumimoji="0" lang="es-MX" sz="1400" b="0" i="0" u="none" strike="noStrike" kern="0" cap="none" spc="0" normalizeH="0" baseline="0" noProof="0" dirty="0">
                <a:ln>
                  <a:noFill/>
                </a:ln>
                <a:solidFill/>
                <a:effectLst/>
                <a:uLnTx/>
                <a:uFillTx/>
                <a:latin typeface="Arial"/>
                <a:ea typeface="+mn-ea"/>
                <a:cs typeface="+mn-cs"/>
                <a:sym typeface="Arial"/>
              </a:rPr>
              <a:t> Control de versiones y alojamiento remoto para el trabajo colaborativo del equipo.</a:t>
            </a:r>
            <a:endParaRPr lang="es-MX" sz="1350" b="1" dirty="0">
              <a:solidFill>
                <a:srgbClr val="003366"/>
              </a:solidFill>
              <a:latin typeface="Plus Jakarta Sans"/>
              <a:cs typeface="Plus Jakarta Sans"/>
            </a:endParaRPr>
          </a:p>
        </p:txBody>
      </p:sp>
      <p:sp>
        <p:nvSpPr>
          <p:cNvPr id="5" name="Google Shape;180;p18">
            <a:extLst>
              <a:ext uri="{FF2B5EF4-FFF2-40B4-BE49-F238E27FC236}">
                <a16:creationId xmlns:a16="http://schemas.microsoft.com/office/drawing/2014/main" id="{1E9E6623-45E9-CF2B-24D7-6A5C67297424}"/>
              </a:ext>
            </a:extLst>
          </p:cNvPr>
          <p:cNvSpPr txBox="1"/>
          <p:nvPr/>
        </p:nvSpPr>
        <p:spPr>
          <a:xfrm>
            <a:off x="5034939" y="5726878"/>
            <a:ext cx="5787319" cy="215444"/>
          </a:xfrm>
          <a:prstGeom prst="rect">
            <a:avLst/>
          </a:prstGeom>
          <a:noFill/>
          <a:ln>
            <a:noFill/>
          </a:ln>
        </p:spPr>
        <p:txBody>
          <a:bodyPr spcFirstLastPara="1" wrap="square" lIns="0" tIns="0" rIns="0" bIns="0" anchor="t" anchorCtr="0">
            <a:spAutoFit/>
          </a:bodyPr>
          <a:lstStyle/>
          <a:p>
            <a:pPr algn="ctr"/>
            <a:r>
              <a:rPr kumimoji="0" lang="es-MX" sz="1400" b="0" i="0" u="none" strike="noStrike" kern="0" cap="none" spc="0" normalizeH="0" baseline="0" noProof="0" dirty="0">
                <a:ln>
                  <a:noFill/>
                </a:ln>
                <a:solidFill/>
                <a:effectLst/>
                <a:uLnTx/>
                <a:uFillTx/>
                <a:latin typeface="Arial"/>
                <a:ea typeface="+mn-ea"/>
                <a:cs typeface="+mn-cs"/>
                <a:sym typeface="Arial"/>
              </a:rPr>
              <a:t> Ejecuta las 91 pruebas automatizadas del proyecto en 6,9 segundos.</a:t>
            </a:r>
            <a:endParaRPr lang="es-MX" sz="1350" b="1" dirty="0">
              <a:solidFill>
                <a:srgbClr val="003366"/>
              </a:solidFill>
              <a:latin typeface="Plus Jakarta Sans"/>
              <a:cs typeface="Plus Jakarta Sans"/>
            </a:endParaRPr>
          </a:p>
        </p:txBody>
      </p:sp>
      <p:sp>
        <p:nvSpPr>
          <p:cNvPr id="6" name="Google Shape;179;p18">
            <a:extLst>
              <a:ext uri="{FF2B5EF4-FFF2-40B4-BE49-F238E27FC236}">
                <a16:creationId xmlns:a16="http://schemas.microsoft.com/office/drawing/2014/main" id="{0D1868ED-B185-B578-6718-880DF4D74B7D}"/>
              </a:ext>
            </a:extLst>
          </p:cNvPr>
          <p:cNvSpPr txBox="1"/>
          <p:nvPr/>
        </p:nvSpPr>
        <p:spPr>
          <a:xfrm>
            <a:off x="2375263" y="2474716"/>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err="1">
                <a:solidFill>
                  <a:srgbClr val="1A1A1A"/>
                </a:solidFill>
                <a:latin typeface="Plus Jakarta Sans"/>
                <a:ea typeface="Plus Jakarta Sans"/>
                <a:cs typeface="Plus Jakarta Sans"/>
                <a:sym typeface="Plus Jakarta Sans"/>
              </a:rPr>
              <a:t>ChatGPT</a:t>
            </a:r>
            <a:endParaRPr lang="en-US" sz="1600" b="1" i="0" u="none" strike="noStrike" cap="none" dirty="0">
              <a:solidFill>
                <a:srgbClr val="1A1A1A"/>
              </a:solidFill>
              <a:latin typeface="Plus Jakarta Sans"/>
              <a:ea typeface="Plus Jakarta Sans"/>
              <a:cs typeface="Plus Jakarta Sans"/>
              <a:sym typeface="Plus Jakarta Sans"/>
            </a:endParaRPr>
          </a:p>
        </p:txBody>
      </p:sp>
      <p:sp>
        <p:nvSpPr>
          <p:cNvPr id="7" name="Google Shape;179;p18">
            <a:extLst>
              <a:ext uri="{FF2B5EF4-FFF2-40B4-BE49-F238E27FC236}">
                <a16:creationId xmlns:a16="http://schemas.microsoft.com/office/drawing/2014/main" id="{A076AF81-9E53-5662-03DF-18E26C99BFE8}"/>
              </a:ext>
            </a:extLst>
          </p:cNvPr>
          <p:cNvSpPr txBox="1"/>
          <p:nvPr/>
        </p:nvSpPr>
        <p:spPr>
          <a:xfrm>
            <a:off x="2375263" y="4070470"/>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a:solidFill>
                  <a:srgbClr val="1A1A1A"/>
                </a:solidFill>
                <a:latin typeface="Plus Jakarta Sans"/>
                <a:ea typeface="Plus Jakarta Sans"/>
                <a:cs typeface="Plus Jakarta Sans"/>
                <a:sym typeface="Plus Jakarta Sans"/>
              </a:rPr>
              <a:t> Git y GitHub</a:t>
            </a:r>
          </a:p>
        </p:txBody>
      </p:sp>
      <p:sp>
        <p:nvSpPr>
          <p:cNvPr id="8" name="Google Shape;179;p18">
            <a:extLst>
              <a:ext uri="{FF2B5EF4-FFF2-40B4-BE49-F238E27FC236}">
                <a16:creationId xmlns:a16="http://schemas.microsoft.com/office/drawing/2014/main" id="{39D5DA72-687D-461D-DD58-E006EF909C07}"/>
              </a:ext>
            </a:extLst>
          </p:cNvPr>
          <p:cNvSpPr txBox="1"/>
          <p:nvPr/>
        </p:nvSpPr>
        <p:spPr>
          <a:xfrm>
            <a:off x="2375263" y="5681158"/>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a:solidFill>
                  <a:srgbClr val="1A1A1A"/>
                </a:solidFill>
                <a:latin typeface="Plus Jakarta Sans"/>
                <a:ea typeface="Plus Jakarta Sans"/>
                <a:cs typeface="Plus Jakarta Sans"/>
                <a:sym typeface="Plus Jakarta Sans"/>
              </a:rPr>
              <a:t> </a:t>
            </a:r>
            <a:r>
              <a:rPr lang="en-US" sz="1600" b="1" dirty="0" err="1">
                <a:solidFill>
                  <a:srgbClr val="1A1A1A"/>
                </a:solidFill>
                <a:latin typeface="Plus Jakarta Sans"/>
                <a:ea typeface="Plus Jakarta Sans"/>
                <a:cs typeface="Plus Jakarta Sans"/>
                <a:sym typeface="Plus Jakarta Sans"/>
              </a:rPr>
              <a:t>P</a:t>
            </a:r>
            <a:r>
              <a:rPr lang="en-US" sz="1600" b="1" i="0" u="none" strike="noStrike" cap="none" dirty="0" err="1">
                <a:solidFill>
                  <a:srgbClr val="1A1A1A"/>
                </a:solidFill>
                <a:latin typeface="Plus Jakarta Sans"/>
                <a:ea typeface="Plus Jakarta Sans"/>
                <a:cs typeface="Plus Jakarta Sans"/>
                <a:sym typeface="Plus Jakarta Sans"/>
              </a:rPr>
              <a:t>ytest</a:t>
            </a:r>
            <a:endParaRPr lang="en-US" sz="1600" b="1" i="0" u="none" strike="noStrike" cap="none" dirty="0">
              <a:solidFill>
                <a:srgbClr val="1A1A1A"/>
              </a:solidFill>
              <a:latin typeface="Plus Jakarta Sans"/>
              <a:ea typeface="Plus Jakarta Sans"/>
              <a:cs typeface="Plus Jakarta Sans"/>
              <a:sym typeface="Plus Jakarta Sans"/>
            </a:endParaRPr>
          </a:p>
        </p:txBody>
      </p:sp>
      <p:pic>
        <p:nvPicPr>
          <p:cNvPr id="3074" name="Picture 2" descr="abierto, chatgpt logo icono 24558807 PNG">
            <a:extLst>
              <a:ext uri="{FF2B5EF4-FFF2-40B4-BE49-F238E27FC236}">
                <a16:creationId xmlns:a16="http://schemas.microsoft.com/office/drawing/2014/main" id="{CA69991F-B3EF-DCB8-3983-42447558D6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1053" y="2212033"/>
            <a:ext cx="857251" cy="8572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07614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3" name="Google Shape;390;p36">
            <a:extLst>
              <a:ext uri="{FF2B5EF4-FFF2-40B4-BE49-F238E27FC236}">
                <a16:creationId xmlns:a16="http://schemas.microsoft.com/office/drawing/2014/main" id="{71AE5CF3-DBC4-BAE8-C6EE-F8876AFE298A}"/>
              </a:ext>
            </a:extLst>
          </p:cNvPr>
          <p:cNvSpPr txBox="1"/>
          <p:nvPr/>
        </p:nvSpPr>
        <p:spPr>
          <a:xfrm>
            <a:off x="1914676" y="3034882"/>
            <a:ext cx="8362648" cy="7882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dirty="0">
                <a:solidFill>
                  <a:schemeClr val="lt1"/>
                </a:solidFill>
                <a:latin typeface="Arial"/>
                <a:ea typeface="Arial"/>
                <a:cs typeface="Arial"/>
                <a:sym typeface="Arial"/>
              </a:rPr>
              <a:t>V. IMPLEMENTACIÓN</a:t>
            </a:r>
            <a:endParaRPr sz="4800" b="1"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22165886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B6CCC5A5-4DB2-FC14-B379-DB735B3B5E46}"/>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Pruebas del Sistema</a:t>
            </a:r>
            <a:endParaRPr sz="2700" dirty="0">
              <a:solidFill>
                <a:schemeClr val="bg2"/>
              </a:solidFill>
              <a:latin typeface="Plus Jakarta Sans ExtraBold"/>
              <a:cs typeface="Plus Jakarta Sans ExtraBold"/>
            </a:endParaRPr>
          </a:p>
        </p:txBody>
      </p:sp>
      <p:sp>
        <p:nvSpPr>
          <p:cNvPr id="24" name="TextBox 23"/>
          <p:cNvSpPr txBox="1"/>
          <p:nvPr/>
        </p:nvSpPr>
        <p:spPr>
          <a:xfrm>
            <a:off x="792480" y="1631683"/>
            <a:ext cx="10607040" cy="731520"/>
          </a:xfrm>
          <a:prstGeom prst="rect">
            <a:avLst/>
          </a:prstGeom>
          <a:noFill/>
        </p:spPr>
        <p:txBody>
          <a:bodyPr wrap="square">
            <a:spAutoFit/>
          </a:bodyPr>
          <a:lstStyle/>
          <a:p>
            <a:pPr algn="l"/>
            <a:r>
              <a:rPr sz="2000" b="1" dirty="0">
                <a:solidFill>
                  <a:schemeClr val="bg2"/>
                </a:solidFill>
                <a:latin typeface="Arial"/>
              </a:rPr>
              <a:t>91 </a:t>
            </a:r>
            <a:r>
              <a:rPr sz="2000" b="1" dirty="0" err="1">
                <a:solidFill>
                  <a:schemeClr val="bg2"/>
                </a:solidFill>
                <a:latin typeface="Arial"/>
              </a:rPr>
              <a:t>pruebas</a:t>
            </a:r>
            <a:r>
              <a:rPr sz="2000" b="1" dirty="0">
                <a:solidFill>
                  <a:schemeClr val="bg2"/>
                </a:solidFill>
                <a:latin typeface="Arial"/>
              </a:rPr>
              <a:t> </a:t>
            </a:r>
            <a:r>
              <a:rPr sz="2000" b="1" dirty="0" err="1">
                <a:solidFill>
                  <a:schemeClr val="bg2"/>
                </a:solidFill>
                <a:latin typeface="Arial"/>
              </a:rPr>
              <a:t>automatizadas</a:t>
            </a:r>
            <a:r>
              <a:rPr sz="2000" b="1" dirty="0">
                <a:solidFill>
                  <a:schemeClr val="bg2"/>
                </a:solidFill>
                <a:latin typeface="Arial"/>
              </a:rPr>
              <a:t> </a:t>
            </a:r>
            <a:r>
              <a:rPr sz="2000" b="1" dirty="0" err="1">
                <a:solidFill>
                  <a:schemeClr val="bg2"/>
                </a:solidFill>
                <a:latin typeface="Arial"/>
              </a:rPr>
              <a:t>en</a:t>
            </a:r>
            <a:r>
              <a:rPr sz="2000" b="1" dirty="0">
                <a:solidFill>
                  <a:schemeClr val="bg2"/>
                </a:solidFill>
                <a:latin typeface="Arial"/>
              </a:rPr>
              <a:t> 6,9 </a:t>
            </a:r>
            <a:r>
              <a:rPr sz="2000" b="1" dirty="0" err="1">
                <a:solidFill>
                  <a:schemeClr val="bg2"/>
                </a:solidFill>
                <a:latin typeface="Arial"/>
              </a:rPr>
              <a:t>segundos</a:t>
            </a:r>
            <a:r>
              <a:rPr sz="2000" b="1" dirty="0">
                <a:solidFill>
                  <a:schemeClr val="bg2"/>
                </a:solidFill>
                <a:latin typeface="Arial"/>
              </a:rPr>
              <a:t>, </a:t>
            </a:r>
            <a:r>
              <a:rPr sz="2000" b="1" dirty="0" err="1">
                <a:solidFill>
                  <a:schemeClr val="bg2"/>
                </a:solidFill>
                <a:latin typeface="Arial"/>
              </a:rPr>
              <a:t>más</a:t>
            </a:r>
            <a:r>
              <a:rPr sz="2000" b="1" dirty="0">
                <a:solidFill>
                  <a:schemeClr val="bg2"/>
                </a:solidFill>
                <a:latin typeface="Arial"/>
              </a:rPr>
              <a:t> </a:t>
            </a:r>
            <a:r>
              <a:rPr sz="2000" b="1" dirty="0" err="1">
                <a:solidFill>
                  <a:schemeClr val="bg2"/>
                </a:solidFill>
                <a:latin typeface="Arial"/>
              </a:rPr>
              <a:t>pruebas</a:t>
            </a:r>
            <a:r>
              <a:rPr sz="2000" b="1" dirty="0">
                <a:solidFill>
                  <a:schemeClr val="bg2"/>
                </a:solidFill>
                <a:latin typeface="Arial"/>
              </a:rPr>
              <a:t> </a:t>
            </a:r>
            <a:r>
              <a:rPr sz="2000" b="1" dirty="0" err="1">
                <a:solidFill>
                  <a:schemeClr val="bg2"/>
                </a:solidFill>
                <a:latin typeface="Arial"/>
              </a:rPr>
              <a:t>funcionales</a:t>
            </a:r>
            <a:r>
              <a:rPr sz="2000" b="1" dirty="0">
                <a:solidFill>
                  <a:schemeClr val="bg2"/>
                </a:solidFill>
                <a:latin typeface="Arial"/>
              </a:rPr>
              <a:t> </a:t>
            </a:r>
            <a:r>
              <a:rPr sz="2000" b="1" dirty="0" err="1">
                <a:solidFill>
                  <a:schemeClr val="bg2"/>
                </a:solidFill>
                <a:latin typeface="Arial"/>
              </a:rPr>
              <a:t>sobre</a:t>
            </a:r>
            <a:r>
              <a:rPr sz="2000" b="1" dirty="0">
                <a:solidFill>
                  <a:schemeClr val="bg2"/>
                </a:solidFill>
                <a:latin typeface="Arial"/>
              </a:rPr>
              <a:t> la </a:t>
            </a:r>
            <a:r>
              <a:rPr sz="2000" b="1" dirty="0" err="1">
                <a:solidFill>
                  <a:schemeClr val="bg2"/>
                </a:solidFill>
                <a:latin typeface="Arial"/>
              </a:rPr>
              <a:t>interfaz</a:t>
            </a:r>
            <a:r>
              <a:rPr sz="2000" b="1" dirty="0">
                <a:solidFill>
                  <a:schemeClr val="bg2"/>
                </a:solidFill>
                <a:latin typeface="Arial"/>
              </a:rPr>
              <a:t>.</a:t>
            </a:r>
          </a:p>
        </p:txBody>
      </p:sp>
      <p:sp>
        <p:nvSpPr>
          <p:cNvPr id="25" name="TextBox 24"/>
          <p:cNvSpPr txBox="1"/>
          <p:nvPr/>
        </p:nvSpPr>
        <p:spPr>
          <a:xfrm>
            <a:off x="838200" y="2546083"/>
            <a:ext cx="4937760" cy="400110"/>
          </a:xfrm>
          <a:prstGeom prst="rect">
            <a:avLst/>
          </a:prstGeom>
          <a:noFill/>
        </p:spPr>
        <p:txBody>
          <a:bodyPr wrap="square">
            <a:spAutoFit/>
          </a:bodyPr>
          <a:lstStyle/>
          <a:p>
            <a:pPr algn="l"/>
            <a:r>
              <a:rPr sz="2000" b="1" dirty="0" err="1">
                <a:solidFill>
                  <a:schemeClr val="bg2"/>
                </a:solidFill>
                <a:latin typeface="Arial"/>
              </a:rPr>
              <a:t>Qué</a:t>
            </a:r>
            <a:r>
              <a:rPr sz="2000" b="1" dirty="0">
                <a:solidFill>
                  <a:schemeClr val="bg2"/>
                </a:solidFill>
                <a:latin typeface="Arial"/>
              </a:rPr>
              <a:t> se </a:t>
            </a:r>
            <a:r>
              <a:rPr sz="2000" b="1" dirty="0" err="1">
                <a:solidFill>
                  <a:schemeClr val="bg2"/>
                </a:solidFill>
                <a:latin typeface="Arial"/>
              </a:rPr>
              <a:t>comprueba</a:t>
            </a:r>
            <a:endParaRPr sz="2000" b="1" dirty="0">
              <a:solidFill>
                <a:schemeClr val="bg2"/>
              </a:solidFill>
              <a:latin typeface="Arial"/>
            </a:endParaRPr>
          </a:p>
        </p:txBody>
      </p:sp>
      <p:sp>
        <p:nvSpPr>
          <p:cNvPr id="26" name="TextBox 25"/>
          <p:cNvSpPr txBox="1"/>
          <p:nvPr/>
        </p:nvSpPr>
        <p:spPr>
          <a:xfrm>
            <a:off x="838200" y="3094723"/>
            <a:ext cx="4937760" cy="749808"/>
          </a:xfrm>
          <a:prstGeom prst="rect">
            <a:avLst/>
          </a:prstGeom>
          <a:noFill/>
        </p:spPr>
        <p:txBody>
          <a:bodyPr wrap="square">
            <a:spAutoFit/>
          </a:bodyPr>
          <a:lstStyle/>
          <a:p>
            <a:r>
              <a:rPr sz="1600">
                <a:solidFill>
                  <a:srgbClr val="1A1A1A"/>
                </a:solidFill>
                <a:latin typeface="Arial"/>
              </a:rPr>
              <a:t>Que la separación mínima de treinta minutos se aplique en el servidor y no solo en el calendario.</a:t>
            </a:r>
          </a:p>
        </p:txBody>
      </p:sp>
      <p:sp>
        <p:nvSpPr>
          <p:cNvPr id="27" name="TextBox 26"/>
          <p:cNvSpPr txBox="1"/>
          <p:nvPr/>
        </p:nvSpPr>
        <p:spPr>
          <a:xfrm>
            <a:off x="838200" y="3844531"/>
            <a:ext cx="4937760" cy="749808"/>
          </a:xfrm>
          <a:prstGeom prst="rect">
            <a:avLst/>
          </a:prstGeom>
          <a:noFill/>
        </p:spPr>
        <p:txBody>
          <a:bodyPr wrap="square">
            <a:spAutoFit/>
          </a:bodyPr>
          <a:lstStyle/>
          <a:p>
            <a:r>
              <a:rPr sz="1600">
                <a:solidFill>
                  <a:srgbClr val="1A1A1A"/>
                </a:solidFill>
                <a:latin typeface="Arial"/>
              </a:rPr>
              <a:t>Que de dos reservas simultáneas del mismo turno quede una sola cita en firme.</a:t>
            </a:r>
          </a:p>
        </p:txBody>
      </p:sp>
      <p:sp>
        <p:nvSpPr>
          <p:cNvPr id="28" name="TextBox 27"/>
          <p:cNvSpPr txBox="1"/>
          <p:nvPr/>
        </p:nvSpPr>
        <p:spPr>
          <a:xfrm>
            <a:off x="838200" y="4594339"/>
            <a:ext cx="4937760" cy="749808"/>
          </a:xfrm>
          <a:prstGeom prst="rect">
            <a:avLst/>
          </a:prstGeom>
          <a:noFill/>
        </p:spPr>
        <p:txBody>
          <a:bodyPr wrap="square">
            <a:spAutoFit/>
          </a:bodyPr>
          <a:lstStyle/>
          <a:p>
            <a:r>
              <a:rPr sz="1600">
                <a:solidFill>
                  <a:srgbClr val="1A1A1A"/>
                </a:solidFill>
                <a:latin typeface="Arial"/>
              </a:rPr>
              <a:t>Que la autoría de un registro clínico salga de la sesión y nunca del formulario.</a:t>
            </a:r>
          </a:p>
        </p:txBody>
      </p:sp>
      <p:sp>
        <p:nvSpPr>
          <p:cNvPr id="29" name="TextBox 28"/>
          <p:cNvSpPr txBox="1"/>
          <p:nvPr/>
        </p:nvSpPr>
        <p:spPr>
          <a:xfrm>
            <a:off x="838200" y="5344147"/>
            <a:ext cx="4937760" cy="749808"/>
          </a:xfrm>
          <a:prstGeom prst="rect">
            <a:avLst/>
          </a:prstGeom>
          <a:noFill/>
        </p:spPr>
        <p:txBody>
          <a:bodyPr wrap="square">
            <a:spAutoFit/>
          </a:bodyPr>
          <a:lstStyle/>
          <a:p>
            <a:r>
              <a:rPr sz="1600">
                <a:solidFill>
                  <a:srgbClr val="1A1A1A"/>
                </a:solidFill>
                <a:latin typeface="Arial"/>
              </a:rPr>
              <a:t>Que el control de acceso impida a cada rol lo que no le corresponde.</a:t>
            </a:r>
          </a:p>
        </p:txBody>
      </p:sp>
      <p:sp>
        <p:nvSpPr>
          <p:cNvPr id="30" name="TextBox 29"/>
          <p:cNvSpPr txBox="1"/>
          <p:nvPr/>
        </p:nvSpPr>
        <p:spPr>
          <a:xfrm>
            <a:off x="6324600" y="2546083"/>
            <a:ext cx="5029200" cy="400110"/>
          </a:xfrm>
          <a:prstGeom prst="rect">
            <a:avLst/>
          </a:prstGeom>
          <a:noFill/>
        </p:spPr>
        <p:txBody>
          <a:bodyPr wrap="square">
            <a:spAutoFit/>
          </a:bodyPr>
          <a:lstStyle/>
          <a:p>
            <a:pPr algn="l"/>
            <a:r>
              <a:rPr sz="2000" b="1" dirty="0" err="1">
                <a:solidFill>
                  <a:schemeClr val="bg2"/>
                </a:solidFill>
                <a:latin typeface="Arial"/>
              </a:rPr>
              <a:t>Qué</a:t>
            </a:r>
            <a:r>
              <a:rPr sz="2000" b="1" dirty="0">
                <a:solidFill>
                  <a:schemeClr val="bg2"/>
                </a:solidFill>
                <a:latin typeface="Arial"/>
              </a:rPr>
              <a:t> </a:t>
            </a:r>
            <a:r>
              <a:rPr sz="2000" b="1" dirty="0" err="1">
                <a:solidFill>
                  <a:schemeClr val="bg2"/>
                </a:solidFill>
                <a:latin typeface="Arial"/>
              </a:rPr>
              <a:t>quedó</a:t>
            </a:r>
            <a:r>
              <a:rPr sz="2000" b="1" dirty="0">
                <a:solidFill>
                  <a:schemeClr val="bg2"/>
                </a:solidFill>
                <a:latin typeface="Arial"/>
              </a:rPr>
              <a:t> </a:t>
            </a:r>
            <a:r>
              <a:rPr sz="2000" b="1" dirty="0" err="1">
                <a:solidFill>
                  <a:schemeClr val="bg2"/>
                </a:solidFill>
                <a:latin typeface="Arial"/>
              </a:rPr>
              <a:t>fuera</a:t>
            </a:r>
            <a:endParaRPr sz="2000" b="1" dirty="0">
              <a:solidFill>
                <a:schemeClr val="bg2"/>
              </a:solidFill>
              <a:latin typeface="Arial"/>
            </a:endParaRPr>
          </a:p>
        </p:txBody>
      </p:sp>
      <p:sp>
        <p:nvSpPr>
          <p:cNvPr id="31" name="TextBox 30"/>
          <p:cNvSpPr txBox="1"/>
          <p:nvPr/>
        </p:nvSpPr>
        <p:spPr>
          <a:xfrm>
            <a:off x="6324600" y="3094723"/>
            <a:ext cx="5029200" cy="1188720"/>
          </a:xfrm>
          <a:prstGeom prst="rect">
            <a:avLst/>
          </a:prstGeom>
          <a:noFill/>
        </p:spPr>
        <p:txBody>
          <a:bodyPr wrap="square">
            <a:spAutoFit/>
          </a:bodyPr>
          <a:lstStyle/>
          <a:p>
            <a:r>
              <a:rPr sz="1600" dirty="0">
                <a:solidFill>
                  <a:srgbClr val="1A1A1A"/>
                </a:solidFill>
                <a:latin typeface="Arial"/>
              </a:rPr>
              <a:t>La carga </a:t>
            </a:r>
            <a:r>
              <a:rPr sz="1600" dirty="0" err="1">
                <a:solidFill>
                  <a:srgbClr val="1A1A1A"/>
                </a:solidFill>
                <a:latin typeface="Arial"/>
              </a:rPr>
              <a:t>sostenida</a:t>
            </a:r>
            <a:r>
              <a:rPr sz="1600" dirty="0">
                <a:solidFill>
                  <a:srgbClr val="1A1A1A"/>
                </a:solidFill>
                <a:latin typeface="Arial"/>
              </a:rPr>
              <a:t>, que </a:t>
            </a:r>
            <a:r>
              <a:rPr sz="1600" dirty="0" err="1">
                <a:solidFill>
                  <a:srgbClr val="1A1A1A"/>
                </a:solidFill>
                <a:latin typeface="Arial"/>
              </a:rPr>
              <a:t>exige</a:t>
            </a:r>
            <a:r>
              <a:rPr sz="1600" dirty="0">
                <a:solidFill>
                  <a:srgbClr val="1A1A1A"/>
                </a:solidFill>
                <a:latin typeface="Arial"/>
              </a:rPr>
              <a:t> </a:t>
            </a:r>
            <a:r>
              <a:rPr sz="1600" dirty="0" err="1">
                <a:solidFill>
                  <a:srgbClr val="1A1A1A"/>
                </a:solidFill>
                <a:latin typeface="Arial"/>
              </a:rPr>
              <a:t>una</a:t>
            </a:r>
            <a:r>
              <a:rPr sz="1600" dirty="0">
                <a:solidFill>
                  <a:srgbClr val="1A1A1A"/>
                </a:solidFill>
                <a:latin typeface="Arial"/>
              </a:rPr>
              <a:t> </a:t>
            </a:r>
            <a:r>
              <a:rPr sz="1600" dirty="0" err="1">
                <a:solidFill>
                  <a:srgbClr val="1A1A1A"/>
                </a:solidFill>
                <a:latin typeface="Arial"/>
              </a:rPr>
              <a:t>infraestructura</a:t>
            </a:r>
            <a:r>
              <a:rPr sz="1600" dirty="0">
                <a:solidFill>
                  <a:srgbClr val="1A1A1A"/>
                </a:solidFill>
                <a:latin typeface="Arial"/>
              </a:rPr>
              <a:t> de </a:t>
            </a:r>
            <a:r>
              <a:rPr sz="1600" dirty="0" err="1">
                <a:solidFill>
                  <a:srgbClr val="1A1A1A"/>
                </a:solidFill>
                <a:latin typeface="Arial"/>
              </a:rPr>
              <a:t>producción</a:t>
            </a:r>
            <a:r>
              <a:rPr sz="1600" dirty="0">
                <a:solidFill>
                  <a:srgbClr val="1A1A1A"/>
                </a:solidFill>
                <a:latin typeface="Arial"/>
              </a:rPr>
              <a:t>.</a:t>
            </a:r>
          </a:p>
        </p:txBody>
      </p:sp>
      <p:sp>
        <p:nvSpPr>
          <p:cNvPr id="32" name="TextBox 31"/>
          <p:cNvSpPr txBox="1"/>
          <p:nvPr/>
        </p:nvSpPr>
        <p:spPr>
          <a:xfrm>
            <a:off x="6324600" y="4283443"/>
            <a:ext cx="5029200" cy="1188720"/>
          </a:xfrm>
          <a:prstGeom prst="rect">
            <a:avLst/>
          </a:prstGeom>
          <a:noFill/>
        </p:spPr>
        <p:txBody>
          <a:bodyPr wrap="square">
            <a:spAutoFit/>
          </a:bodyPr>
          <a:lstStyle/>
          <a:p>
            <a:r>
              <a:rPr sz="1600">
                <a:solidFill>
                  <a:srgbClr val="1A1A1A"/>
                </a:solidFill>
                <a:latin typeface="Arial"/>
              </a:rPr>
              <a:t>El cifrado en tránsito, que depende del despliegue y no del programa.</a:t>
            </a:r>
          </a:p>
        </p:txBody>
      </p:sp>
    </p:spTree>
    <p:extLst>
      <p:ext uri="{BB962C8B-B14F-4D97-AF65-F5344CB8AC3E}">
        <p14:creationId xmlns:p14="http://schemas.microsoft.com/office/powerpoint/2010/main" val="20496877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Evidencia de Pruebas</a:t>
            </a:r>
            <a:endParaRPr sz="2700" dirty="0">
              <a:solidFill>
                <a:schemeClr val="bg2"/>
              </a:solidFill>
              <a:latin typeface="Plus Jakarta Sans ExtraBold"/>
              <a:cs typeface="Plus Jakarta Sans ExtraBold"/>
            </a:endParaRPr>
          </a:p>
        </p:txBody>
      </p:sp>
      <p:sp>
        <p:nvSpPr>
          <p:cNvPr id="24" name="TextBox 23"/>
          <p:cNvSpPr txBox="1"/>
          <p:nvPr/>
        </p:nvSpPr>
        <p:spPr>
          <a:xfrm>
            <a:off x="777240" y="1234440"/>
            <a:ext cx="10607040" cy="384721"/>
          </a:xfrm>
          <a:prstGeom prst="rect">
            <a:avLst/>
          </a:prstGeom>
          <a:noFill/>
        </p:spPr>
        <p:txBody>
          <a:bodyPr wrap="square">
            <a:spAutoFit/>
          </a:bodyPr>
          <a:lstStyle/>
          <a:p>
            <a:pPr algn="l"/>
            <a:r>
              <a:rPr sz="1900" b="1" dirty="0">
                <a:solidFill>
                  <a:schemeClr val="bg2"/>
                </a:solidFill>
                <a:latin typeface="Arial"/>
              </a:rPr>
              <a:t>RF 6.1. </a:t>
            </a:r>
            <a:r>
              <a:rPr sz="1900" b="1" dirty="0" err="1">
                <a:solidFill>
                  <a:schemeClr val="bg2"/>
                </a:solidFill>
                <a:latin typeface="Arial"/>
              </a:rPr>
              <a:t>Creación</a:t>
            </a:r>
            <a:r>
              <a:rPr sz="1900" b="1" dirty="0">
                <a:solidFill>
                  <a:schemeClr val="bg2"/>
                </a:solidFill>
                <a:latin typeface="Arial"/>
              </a:rPr>
              <a:t> del </a:t>
            </a:r>
            <a:r>
              <a:rPr sz="1900" b="1" dirty="0" err="1">
                <a:solidFill>
                  <a:schemeClr val="bg2"/>
                </a:solidFill>
                <a:latin typeface="Arial"/>
              </a:rPr>
              <a:t>registro</a:t>
            </a:r>
            <a:r>
              <a:rPr sz="1900" b="1" dirty="0">
                <a:solidFill>
                  <a:schemeClr val="bg2"/>
                </a:solidFill>
                <a:latin typeface="Arial"/>
              </a:rPr>
              <a:t> de </a:t>
            </a:r>
            <a:r>
              <a:rPr sz="1900" b="1" dirty="0" err="1">
                <a:solidFill>
                  <a:schemeClr val="bg2"/>
                </a:solidFill>
                <a:latin typeface="Arial"/>
              </a:rPr>
              <a:t>historia</a:t>
            </a:r>
            <a:r>
              <a:rPr sz="1900" b="1" dirty="0">
                <a:solidFill>
                  <a:schemeClr val="bg2"/>
                </a:solidFill>
                <a:latin typeface="Arial"/>
              </a:rPr>
              <a:t> </a:t>
            </a:r>
            <a:r>
              <a:rPr sz="1900" b="1" dirty="0" err="1">
                <a:solidFill>
                  <a:schemeClr val="bg2"/>
                </a:solidFill>
                <a:latin typeface="Arial"/>
              </a:rPr>
              <a:t>clínica</a:t>
            </a:r>
            <a:endParaRPr sz="1900" b="1" dirty="0">
              <a:solidFill>
                <a:schemeClr val="bg2"/>
              </a:solidFill>
              <a:latin typeface="Arial"/>
            </a:endParaRPr>
          </a:p>
        </p:txBody>
      </p:sp>
      <p:sp>
        <p:nvSpPr>
          <p:cNvPr id="25" name="TextBox 24"/>
          <p:cNvSpPr txBox="1"/>
          <p:nvPr/>
        </p:nvSpPr>
        <p:spPr>
          <a:xfrm>
            <a:off x="822960" y="1867369"/>
            <a:ext cx="4937760" cy="274320"/>
          </a:xfrm>
          <a:prstGeom prst="rect">
            <a:avLst/>
          </a:prstGeom>
          <a:noFill/>
        </p:spPr>
        <p:txBody>
          <a:bodyPr wrap="square">
            <a:spAutoFit/>
          </a:bodyPr>
          <a:lstStyle/>
          <a:p>
            <a:pPr algn="l"/>
            <a:r>
              <a:rPr sz="1500" b="0" dirty="0" err="1">
                <a:solidFill>
                  <a:srgbClr val="6B7280"/>
                </a:solidFill>
                <a:latin typeface="Arial"/>
              </a:rPr>
              <a:t>Formulario</a:t>
            </a:r>
            <a:r>
              <a:rPr sz="1500" b="0" dirty="0">
                <a:solidFill>
                  <a:srgbClr val="6B7280"/>
                </a:solidFill>
                <a:latin typeface="Arial"/>
              </a:rPr>
              <a:t> </a:t>
            </a:r>
            <a:r>
              <a:rPr sz="1500" b="0" dirty="0" err="1">
                <a:solidFill>
                  <a:srgbClr val="6B7280"/>
                </a:solidFill>
                <a:latin typeface="Arial"/>
              </a:rPr>
              <a:t>diligenciado</a:t>
            </a:r>
            <a:endParaRPr sz="1500" b="0" dirty="0">
              <a:solidFill>
                <a:srgbClr val="6B7280"/>
              </a:solidFill>
              <a:latin typeface="Arial"/>
            </a:endParaRPr>
          </a:p>
        </p:txBody>
      </p:sp>
      <p:pic>
        <p:nvPicPr>
          <p:cNvPr id="26" name="Picture 25" descr="registro de nuevo cliente.png"/>
          <p:cNvPicPr>
            <a:picLocks noChangeAspect="1"/>
          </p:cNvPicPr>
          <p:nvPr/>
        </p:nvPicPr>
        <p:blipFill>
          <a:blip r:embed="rId5"/>
          <a:stretch>
            <a:fillRect/>
          </a:stretch>
        </p:blipFill>
        <p:spPr>
          <a:xfrm>
            <a:off x="822960" y="2576787"/>
            <a:ext cx="5029200" cy="2238763"/>
          </a:xfrm>
          <a:prstGeom prst="rect">
            <a:avLst/>
          </a:prstGeom>
          <a:ln>
            <a:noFill/>
          </a:ln>
        </p:spPr>
      </p:pic>
      <p:sp>
        <p:nvSpPr>
          <p:cNvPr id="27" name="TextBox 26"/>
          <p:cNvSpPr txBox="1"/>
          <p:nvPr/>
        </p:nvSpPr>
        <p:spPr>
          <a:xfrm>
            <a:off x="6309360" y="1867369"/>
            <a:ext cx="4937760" cy="274320"/>
          </a:xfrm>
          <a:prstGeom prst="rect">
            <a:avLst/>
          </a:prstGeom>
          <a:noFill/>
        </p:spPr>
        <p:txBody>
          <a:bodyPr wrap="square">
            <a:spAutoFit/>
          </a:bodyPr>
          <a:lstStyle/>
          <a:p>
            <a:pPr algn="l"/>
            <a:r>
              <a:rPr sz="1500" b="0">
                <a:solidFill>
                  <a:srgbClr val="6B7280"/>
                </a:solidFill>
                <a:latin typeface="Arial"/>
              </a:rPr>
              <a:t>Resultado obtenido</a:t>
            </a:r>
          </a:p>
        </p:txBody>
      </p:sp>
      <p:pic>
        <p:nvPicPr>
          <p:cNvPr id="28" name="Picture 27" descr="registro de nuevo cliente emitido.png"/>
          <p:cNvPicPr>
            <a:picLocks noChangeAspect="1"/>
          </p:cNvPicPr>
          <p:nvPr/>
        </p:nvPicPr>
        <p:blipFill>
          <a:blip r:embed="rId6"/>
          <a:stretch>
            <a:fillRect/>
          </a:stretch>
        </p:blipFill>
        <p:spPr>
          <a:xfrm>
            <a:off x="6309360" y="2576788"/>
            <a:ext cx="5029200" cy="2238763"/>
          </a:xfrm>
          <a:prstGeom prst="rect">
            <a:avLst/>
          </a:prstGeom>
          <a:ln>
            <a:noFill/>
          </a:ln>
        </p:spPr>
      </p:pic>
      <p:sp>
        <p:nvSpPr>
          <p:cNvPr id="29" name="TextBox 28"/>
          <p:cNvSpPr txBox="1"/>
          <p:nvPr/>
        </p:nvSpPr>
        <p:spPr>
          <a:xfrm>
            <a:off x="777240" y="5479249"/>
            <a:ext cx="10607040" cy="640080"/>
          </a:xfrm>
          <a:prstGeom prst="rect">
            <a:avLst/>
          </a:prstGeom>
          <a:noFill/>
        </p:spPr>
        <p:txBody>
          <a:bodyPr wrap="square">
            <a:spAutoFit/>
          </a:bodyPr>
          <a:lstStyle/>
          <a:p>
            <a:pPr algn="l"/>
            <a:r>
              <a:rPr sz="1800" b="0">
                <a:solidFill>
                  <a:srgbClr val="1A1A1A"/>
                </a:solidFill>
                <a:latin typeface="Arial"/>
              </a:rPr>
              <a:t>La historia quedó registrada a nombre del médico que la escribió, y el administrador solo puede consultarla.</a:t>
            </a:r>
          </a:p>
        </p:txBody>
      </p:sp>
    </p:spTree>
    <p:extLst>
      <p:ext uri="{BB962C8B-B14F-4D97-AF65-F5344CB8AC3E}">
        <p14:creationId xmlns:p14="http://schemas.microsoft.com/office/powerpoint/2010/main" val="6497439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2"/>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Evidencia de Pruebas</a:t>
            </a:r>
            <a:endParaRPr sz="2700" dirty="0">
              <a:solidFill>
                <a:schemeClr val="bg2"/>
              </a:solidFill>
              <a:latin typeface="Plus Jakarta Sans ExtraBold"/>
              <a:cs typeface="Plus Jakarta Sans ExtraBold"/>
            </a:endParaRPr>
          </a:p>
        </p:txBody>
      </p:sp>
      <p:sp>
        <p:nvSpPr>
          <p:cNvPr id="24" name="TextBox 23"/>
          <p:cNvSpPr txBox="1"/>
          <p:nvPr/>
        </p:nvSpPr>
        <p:spPr>
          <a:xfrm>
            <a:off x="777240" y="1234440"/>
            <a:ext cx="10607040" cy="384721"/>
          </a:xfrm>
          <a:prstGeom prst="rect">
            <a:avLst/>
          </a:prstGeom>
          <a:noFill/>
        </p:spPr>
        <p:txBody>
          <a:bodyPr wrap="square">
            <a:spAutoFit/>
          </a:bodyPr>
          <a:lstStyle/>
          <a:p>
            <a:pPr algn="l"/>
            <a:r>
              <a:rPr sz="1900" b="1" dirty="0">
                <a:solidFill>
                  <a:schemeClr val="bg2"/>
                </a:solidFill>
                <a:latin typeface="Arial"/>
              </a:rPr>
              <a:t>RF 5.4. </a:t>
            </a:r>
            <a:r>
              <a:rPr sz="1900" b="1" dirty="0" err="1">
                <a:solidFill>
                  <a:schemeClr val="bg2"/>
                </a:solidFill>
                <a:latin typeface="Arial"/>
              </a:rPr>
              <a:t>Separación</a:t>
            </a:r>
            <a:r>
              <a:rPr sz="1900" b="1" dirty="0">
                <a:solidFill>
                  <a:schemeClr val="bg2"/>
                </a:solidFill>
                <a:latin typeface="Arial"/>
              </a:rPr>
              <a:t> </a:t>
            </a:r>
            <a:r>
              <a:rPr sz="1900" b="1" dirty="0" err="1">
                <a:solidFill>
                  <a:schemeClr val="bg2"/>
                </a:solidFill>
                <a:latin typeface="Arial"/>
              </a:rPr>
              <a:t>mínima</a:t>
            </a:r>
            <a:r>
              <a:rPr sz="1900" b="1" dirty="0">
                <a:solidFill>
                  <a:schemeClr val="bg2"/>
                </a:solidFill>
                <a:latin typeface="Arial"/>
              </a:rPr>
              <a:t> entre </a:t>
            </a:r>
            <a:r>
              <a:rPr sz="1900" b="1" dirty="0" err="1">
                <a:solidFill>
                  <a:schemeClr val="bg2"/>
                </a:solidFill>
                <a:latin typeface="Arial"/>
              </a:rPr>
              <a:t>citas</a:t>
            </a:r>
            <a:r>
              <a:rPr sz="1900" b="1" dirty="0">
                <a:solidFill>
                  <a:schemeClr val="bg2"/>
                </a:solidFill>
                <a:latin typeface="Arial"/>
              </a:rPr>
              <a:t> del </a:t>
            </a:r>
            <a:r>
              <a:rPr sz="1900" b="1" dirty="0" err="1">
                <a:solidFill>
                  <a:schemeClr val="bg2"/>
                </a:solidFill>
                <a:latin typeface="Arial"/>
              </a:rPr>
              <a:t>mismo</a:t>
            </a:r>
            <a:r>
              <a:rPr sz="1900" b="1" dirty="0">
                <a:solidFill>
                  <a:schemeClr val="bg2"/>
                </a:solidFill>
                <a:latin typeface="Arial"/>
              </a:rPr>
              <a:t> </a:t>
            </a:r>
            <a:r>
              <a:rPr sz="1900" b="1" dirty="0" err="1">
                <a:solidFill>
                  <a:schemeClr val="bg2"/>
                </a:solidFill>
                <a:latin typeface="Arial"/>
              </a:rPr>
              <a:t>médico</a:t>
            </a:r>
            <a:endParaRPr sz="1900" b="1" dirty="0">
              <a:solidFill>
                <a:schemeClr val="bg2"/>
              </a:solidFill>
              <a:latin typeface="Arial"/>
            </a:endParaRPr>
          </a:p>
        </p:txBody>
      </p:sp>
      <p:sp>
        <p:nvSpPr>
          <p:cNvPr id="25" name="TextBox 24"/>
          <p:cNvSpPr txBox="1"/>
          <p:nvPr/>
        </p:nvSpPr>
        <p:spPr>
          <a:xfrm>
            <a:off x="822960" y="1867369"/>
            <a:ext cx="4937760" cy="274320"/>
          </a:xfrm>
          <a:prstGeom prst="rect">
            <a:avLst/>
          </a:prstGeom>
          <a:noFill/>
        </p:spPr>
        <p:txBody>
          <a:bodyPr wrap="square">
            <a:spAutoFit/>
          </a:bodyPr>
          <a:lstStyle/>
          <a:p>
            <a:pPr algn="l"/>
            <a:r>
              <a:rPr sz="1500" b="0" dirty="0" err="1">
                <a:solidFill>
                  <a:srgbClr val="6B7280"/>
                </a:solidFill>
                <a:latin typeface="Arial"/>
              </a:rPr>
              <a:t>Formulario</a:t>
            </a:r>
            <a:r>
              <a:rPr sz="1500" b="0" dirty="0">
                <a:solidFill>
                  <a:srgbClr val="6B7280"/>
                </a:solidFill>
                <a:latin typeface="Arial"/>
              </a:rPr>
              <a:t> </a:t>
            </a:r>
            <a:r>
              <a:rPr sz="1500" b="0" dirty="0" err="1">
                <a:solidFill>
                  <a:srgbClr val="6B7280"/>
                </a:solidFill>
                <a:latin typeface="Arial"/>
              </a:rPr>
              <a:t>diligenciado</a:t>
            </a:r>
            <a:endParaRPr sz="1500" b="0" dirty="0">
              <a:solidFill>
                <a:srgbClr val="6B7280"/>
              </a:solidFill>
              <a:latin typeface="Arial"/>
            </a:endParaRPr>
          </a:p>
        </p:txBody>
      </p:sp>
      <p:pic>
        <p:nvPicPr>
          <p:cNvPr id="26" name="Picture 25" descr="registro de nueva factura.png"/>
          <p:cNvPicPr>
            <a:picLocks noChangeAspect="1"/>
          </p:cNvPicPr>
          <p:nvPr/>
        </p:nvPicPr>
        <p:blipFill>
          <a:blip r:embed="rId3"/>
          <a:stretch>
            <a:fillRect/>
          </a:stretch>
        </p:blipFill>
        <p:spPr>
          <a:xfrm>
            <a:off x="822960" y="2576787"/>
            <a:ext cx="5029200" cy="2238763"/>
          </a:xfrm>
          <a:prstGeom prst="rect">
            <a:avLst/>
          </a:prstGeom>
          <a:ln>
            <a:noFill/>
          </a:ln>
        </p:spPr>
      </p:pic>
      <p:sp>
        <p:nvSpPr>
          <p:cNvPr id="27" name="TextBox 26"/>
          <p:cNvSpPr txBox="1"/>
          <p:nvPr/>
        </p:nvSpPr>
        <p:spPr>
          <a:xfrm>
            <a:off x="6309360" y="1867369"/>
            <a:ext cx="4937760" cy="274320"/>
          </a:xfrm>
          <a:prstGeom prst="rect">
            <a:avLst/>
          </a:prstGeom>
          <a:noFill/>
        </p:spPr>
        <p:txBody>
          <a:bodyPr wrap="square">
            <a:spAutoFit/>
          </a:bodyPr>
          <a:lstStyle/>
          <a:p>
            <a:pPr algn="l"/>
            <a:r>
              <a:rPr sz="1500" b="0">
                <a:solidFill>
                  <a:srgbClr val="6B7280"/>
                </a:solidFill>
                <a:latin typeface="Arial"/>
              </a:rPr>
              <a:t>Resultado obtenido</a:t>
            </a:r>
          </a:p>
        </p:txBody>
      </p:sp>
      <p:pic>
        <p:nvPicPr>
          <p:cNvPr id="28" name="Picture 27" descr="registro de nueva factura emitida.png"/>
          <p:cNvPicPr>
            <a:picLocks noChangeAspect="1"/>
          </p:cNvPicPr>
          <p:nvPr/>
        </p:nvPicPr>
        <p:blipFill>
          <a:blip r:embed="rId4"/>
          <a:stretch>
            <a:fillRect/>
          </a:stretch>
        </p:blipFill>
        <p:spPr>
          <a:xfrm>
            <a:off x="6507241" y="2664875"/>
            <a:ext cx="4633436" cy="2062588"/>
          </a:xfrm>
          <a:prstGeom prst="rect">
            <a:avLst/>
          </a:prstGeom>
          <a:ln>
            <a:noFill/>
          </a:ln>
        </p:spPr>
      </p:pic>
      <p:sp>
        <p:nvSpPr>
          <p:cNvPr id="29" name="TextBox 28"/>
          <p:cNvSpPr txBox="1"/>
          <p:nvPr/>
        </p:nvSpPr>
        <p:spPr>
          <a:xfrm>
            <a:off x="777240" y="5479249"/>
            <a:ext cx="10607040" cy="640080"/>
          </a:xfrm>
          <a:prstGeom prst="rect">
            <a:avLst/>
          </a:prstGeom>
          <a:noFill/>
        </p:spPr>
        <p:txBody>
          <a:bodyPr wrap="square">
            <a:spAutoFit/>
          </a:bodyPr>
          <a:lstStyle/>
          <a:p>
            <a:pPr algn="l"/>
            <a:r>
              <a:rPr sz="1800" b="0">
                <a:solidFill>
                  <a:srgbClr val="1A1A1A"/>
                </a:solidFill>
                <a:latin typeface="Arial"/>
              </a:rPr>
              <a:t>La cita a quince minutos de otra del mismo médico fue rechazada por el servidor antes de guardarse.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2"/>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Resultado Obtenido de la Reserva</a:t>
            </a:r>
            <a:endParaRPr sz="2700" dirty="0">
              <a:solidFill>
                <a:schemeClr val="bg2"/>
              </a:solidFill>
              <a:latin typeface="Plus Jakarta Sans ExtraBold"/>
              <a:cs typeface="Plus Jakarta Sans ExtraBold"/>
            </a:endParaRPr>
          </a:p>
        </p:txBody>
      </p:sp>
      <p:sp>
        <p:nvSpPr>
          <p:cNvPr id="24" name="TextBox 23"/>
          <p:cNvSpPr txBox="1"/>
          <p:nvPr/>
        </p:nvSpPr>
        <p:spPr>
          <a:xfrm>
            <a:off x="777240" y="1352879"/>
            <a:ext cx="10607040" cy="415498"/>
          </a:xfrm>
          <a:prstGeom prst="rect">
            <a:avLst/>
          </a:prstGeom>
          <a:noFill/>
        </p:spPr>
        <p:txBody>
          <a:bodyPr wrap="square">
            <a:spAutoFit/>
          </a:bodyPr>
          <a:lstStyle/>
          <a:p>
            <a:pPr algn="l"/>
            <a:r>
              <a:rPr sz="2100" b="1" dirty="0">
                <a:solidFill>
                  <a:schemeClr val="bg2"/>
                </a:solidFill>
                <a:latin typeface="Arial"/>
              </a:rPr>
              <a:t>La prueba fue satisfactoria, la cita quedó agendada a nombre de quien la pidió.</a:t>
            </a:r>
          </a:p>
        </p:txBody>
      </p:sp>
      <p:graphicFrame>
        <p:nvGraphicFramePr>
          <p:cNvPr id="25" name="Table 24"/>
          <p:cNvGraphicFramePr>
            <a:graphicFrameLocks noGrp="1"/>
          </p:cNvGraphicFramePr>
          <p:nvPr>
            <p:extLst>
              <p:ext uri="{D42A27DB-BD31-4B8C-83A1-F6EECF244321}">
                <p14:modId xmlns:p14="http://schemas.microsoft.com/office/powerpoint/2010/main" val="3030015183"/>
              </p:ext>
            </p:extLst>
          </p:nvPr>
        </p:nvGraphicFramePr>
        <p:xfrm>
          <a:off x="822960" y="2589693"/>
          <a:ext cx="10515600" cy="2926080"/>
        </p:xfrm>
        <a:graphic>
          <a:graphicData uri="http://schemas.openxmlformats.org/drawingml/2006/table">
            <a:tbl>
              <a:tblPr firstRow="1" bandRow="1">
                <a:tableStyleId>{21E4AEA4-8DFA-4A89-87EB-49C32662AFE0}</a:tableStyleId>
              </a:tblPr>
              <a:tblGrid>
                <a:gridCol w="2834640">
                  <a:extLst>
                    <a:ext uri="{9D8B030D-6E8A-4147-A177-3AD203B41FA5}">
                      <a16:colId xmlns:a16="http://schemas.microsoft.com/office/drawing/2014/main" val="20000"/>
                    </a:ext>
                  </a:extLst>
                </a:gridCol>
                <a:gridCol w="7680960">
                  <a:extLst>
                    <a:ext uri="{9D8B030D-6E8A-4147-A177-3AD203B41FA5}">
                      <a16:colId xmlns:a16="http://schemas.microsoft.com/office/drawing/2014/main" val="20001"/>
                    </a:ext>
                  </a:extLst>
                </a:gridCol>
              </a:tblGrid>
              <a:tr h="487680">
                <a:tc>
                  <a:txBody>
                    <a:bodyPr/>
                    <a:lstStyle/>
                    <a:p>
                      <a:pPr algn="ctr"/>
                      <a:r>
                        <a:rPr sz="1400" b="1" dirty="0">
                          <a:solidFill>
                            <a:srgbClr val="FFFFFF"/>
                          </a:solidFill>
                        </a:rPr>
                        <a:t>Lo que se comprobó</a:t>
                      </a:r>
                      <a:endParaRPr sz="1400" b="1" dirty="0">
                        <a:solidFill>
                          <a:srgbClr val="FFFFFF"/>
                        </a:solidFill>
                        <a:latin typeface="Arial"/>
                      </a:endParaRPr>
                    </a:p>
                  </a:txBody>
                  <a:tcPr marL="73152" marR="73152" marT="27432" marB="27432"/>
                </a:tc>
                <a:tc>
                  <a:txBody>
                    <a:bodyPr/>
                    <a:lstStyle/>
                    <a:p>
                      <a:pPr algn="ctr"/>
                      <a:r>
                        <a:rPr sz="1400" b="1" dirty="0" err="1">
                          <a:solidFill>
                            <a:srgbClr val="FFFFFF"/>
                          </a:solidFill>
                        </a:rPr>
                        <a:t>Resultado</a:t>
                      </a:r>
                      <a:endParaRPr sz="14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487680">
                <a:tc>
                  <a:txBody>
                    <a:bodyPr/>
                    <a:lstStyle/>
                    <a:p>
                      <a:pPr algn="ctr"/>
                      <a:r>
                        <a:rPr sz="1400" b="1" dirty="0" err="1">
                          <a:solidFill>
                            <a:srgbClr val="1A1A1A"/>
                          </a:solidFill>
                        </a:rPr>
                        <a:t>Identidad</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El identificador del paciente se tomó de la sesión y se ignoró el enviado en el formulario</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1"/>
                  </a:ext>
                </a:extLst>
              </a:tr>
              <a:tr h="487680">
                <a:tc>
                  <a:txBody>
                    <a:bodyPr/>
                    <a:lstStyle/>
                    <a:p>
                      <a:pPr algn="ctr"/>
                      <a:r>
                        <a:rPr sz="1400" b="1" dirty="0" err="1">
                          <a:solidFill>
                            <a:srgbClr val="1A1A1A"/>
                          </a:solidFill>
                        </a:rPr>
                        <a:t>Separación</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El turno a menos de treinta minutos de otra cita del mismo médico fue rechazado</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2"/>
                  </a:ext>
                </a:extLst>
              </a:tr>
              <a:tr h="487680">
                <a:tc>
                  <a:txBody>
                    <a:bodyPr/>
                    <a:lstStyle/>
                    <a:p>
                      <a:pPr algn="ctr"/>
                      <a:r>
                        <a:rPr sz="1400" b="1" dirty="0">
                          <a:solidFill>
                            <a:srgbClr val="1A1A1A"/>
                          </a:solidFill>
                        </a:rPr>
                        <a:t>Límite diario</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Un segundo intento del mismo paciente para el mismo día no prosperó</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3"/>
                  </a:ext>
                </a:extLst>
              </a:tr>
              <a:tr h="487680">
                <a:tc>
                  <a:txBody>
                    <a:bodyPr/>
                    <a:lstStyle/>
                    <a:p>
                      <a:pPr algn="ctr"/>
                      <a:r>
                        <a:rPr sz="1400" b="1" dirty="0" err="1">
                          <a:solidFill>
                            <a:srgbClr val="1A1A1A"/>
                          </a:solidFill>
                        </a:rPr>
                        <a:t>Concurrencia</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De dos reservas simultáneas del mismo turno solo una quedó en firme</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4"/>
                  </a:ext>
                </a:extLst>
              </a:tr>
              <a:tr h="487680">
                <a:tc>
                  <a:txBody>
                    <a:bodyPr/>
                    <a:lstStyle/>
                    <a:p>
                      <a:pPr algn="ctr"/>
                      <a:r>
                        <a:rPr sz="1400" b="1">
                          <a:solidFill>
                            <a:srgbClr val="1A1A1A"/>
                          </a:solidFill>
                        </a:rPr>
                        <a:t>Estado</a:t>
                      </a:r>
                      <a:endParaRPr sz="1400" b="1">
                        <a:solidFill>
                          <a:srgbClr val="1A1A1A"/>
                        </a:solidFill>
                        <a:latin typeface="Arial"/>
                      </a:endParaRPr>
                    </a:p>
                  </a:txBody>
                  <a:tcPr marL="73152" marR="73152" marT="27432" marB="27432"/>
                </a:tc>
                <a:tc>
                  <a:txBody>
                    <a:bodyPr/>
                    <a:lstStyle/>
                    <a:p>
                      <a:pPr algn="ctr"/>
                      <a:r>
                        <a:rPr sz="1400" b="1" dirty="0">
                          <a:solidFill>
                            <a:srgbClr val="1A1A1A"/>
                          </a:solidFill>
                        </a:rPr>
                        <a:t>La cita quedó en estado agendada y el turno dejó de ofrecerse en el calendario</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2"/>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Resultados Obtenidos</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1913849779"/>
              </p:ext>
            </p:extLst>
          </p:nvPr>
        </p:nvGraphicFramePr>
        <p:xfrm>
          <a:off x="678179" y="1831275"/>
          <a:ext cx="10835640" cy="4097819"/>
        </p:xfrm>
        <a:graphic>
          <a:graphicData uri="http://schemas.openxmlformats.org/drawingml/2006/table">
            <a:tbl>
              <a:tblPr firstRow="1" bandRow="1">
                <a:tableStyleId>{21E4AEA4-8DFA-4A89-87EB-49C32662AFE0}</a:tableStyleId>
              </a:tblPr>
              <a:tblGrid>
                <a:gridCol w="274320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574765">
                <a:tc>
                  <a:txBody>
                    <a:bodyPr/>
                    <a:lstStyle/>
                    <a:p>
                      <a:pPr algn="ctr"/>
                      <a:r>
                        <a:rPr sz="1300" b="1" dirty="0" err="1">
                          <a:solidFill>
                            <a:srgbClr val="FFFFFF"/>
                          </a:solidFill>
                        </a:rPr>
                        <a:t>Objetivo</a:t>
                      </a:r>
                      <a:endParaRPr sz="1300" b="1" dirty="0">
                        <a:solidFill>
                          <a:srgbClr val="FFFFFF"/>
                        </a:solidFill>
                        <a:latin typeface="Arial"/>
                      </a:endParaRPr>
                    </a:p>
                  </a:txBody>
                  <a:tcPr marL="73152" marR="73152" marT="27432" marB="27432"/>
                </a:tc>
                <a:tc>
                  <a:txBody>
                    <a:bodyPr/>
                    <a:lstStyle/>
                    <a:p>
                      <a:pPr algn="ctr"/>
                      <a:r>
                        <a:rPr sz="1300" b="1" dirty="0" err="1">
                          <a:solidFill>
                            <a:srgbClr val="FFFFFF"/>
                          </a:solidFill>
                        </a:rPr>
                        <a:t>Resultado</a:t>
                      </a:r>
                      <a:endParaRPr sz="1300" b="1" dirty="0">
                        <a:solidFill>
                          <a:srgbClr val="FFFFFF"/>
                        </a:solidFill>
                        <a:latin typeface="Arial"/>
                      </a:endParaRPr>
                    </a:p>
                  </a:txBody>
                  <a:tcPr marL="73152" marR="73152" marT="27432" marB="27432"/>
                </a:tc>
                <a:tc>
                  <a:txBody>
                    <a:bodyPr/>
                    <a:lstStyle/>
                    <a:p>
                      <a:pPr algn="ctr"/>
                      <a:r>
                        <a:rPr sz="1300" b="1">
                          <a:solidFill>
                            <a:srgbClr val="FFFFFF"/>
                          </a:solidFill>
                        </a:rPr>
                        <a:t>Estado</a:t>
                      </a:r>
                      <a:endParaRPr sz="13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574765">
                <a:tc>
                  <a:txBody>
                    <a:bodyPr/>
                    <a:lstStyle/>
                    <a:p>
                      <a:pPr algn="ctr"/>
                      <a:r>
                        <a:rPr sz="1300" b="1">
                          <a:solidFill>
                            <a:srgbClr val="1A1A1A"/>
                          </a:solidFill>
                        </a:rPr>
                        <a:t>Programación de la atención médica</a:t>
                      </a:r>
                      <a:endParaRPr sz="1300" b="1">
                        <a:solidFill>
                          <a:srgbClr val="1A1A1A"/>
                        </a:solidFill>
                        <a:latin typeface="Arial"/>
                      </a:endParaRPr>
                    </a:p>
                  </a:txBody>
                  <a:tcPr marL="73152" marR="73152" marT="27432" marB="27432"/>
                </a:tc>
                <a:tc>
                  <a:txBody>
                    <a:bodyPr/>
                    <a:lstStyle/>
                    <a:p>
                      <a:pPr algn="ctr"/>
                      <a:r>
                        <a:rPr sz="1300" b="1" dirty="0">
                          <a:solidFill>
                            <a:srgbClr val="1A1A1A"/>
                          </a:solidFill>
                        </a:rPr>
                        <a:t>Calendario de disponibilidad con turnos de treinta minutos desde el que agendan tanto el administrador como el propio paciente, con la reserva en firme al momento.</a:t>
                      </a:r>
                      <a:endParaRPr sz="1300" b="1" dirty="0">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1"/>
                  </a:ext>
                </a:extLst>
              </a:tr>
              <a:tr h="574765">
                <a:tc>
                  <a:txBody>
                    <a:bodyPr/>
                    <a:lstStyle/>
                    <a:p>
                      <a:pPr algn="ctr"/>
                      <a:r>
                        <a:rPr sz="1300" b="1">
                          <a:solidFill>
                            <a:srgbClr val="1A1A1A"/>
                          </a:solidFill>
                        </a:rPr>
                        <a:t>Acto clínico exclusivo del médico</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Historia clínica, diagnóstico y prescripción creados únicamente por el médico tratante, con la autoría tomada de la sesión y no del formulario.</a:t>
                      </a:r>
                      <a:endParaRPr sz="1300" b="1" dirty="0" err="1">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2"/>
                  </a:ext>
                </a:extLst>
              </a:tr>
              <a:tr h="574765">
                <a:tc>
                  <a:txBody>
                    <a:bodyPr/>
                    <a:lstStyle/>
                    <a:p>
                      <a:pPr algn="ctr"/>
                      <a:r>
                        <a:rPr sz="1300" b="1">
                          <a:solidFill>
                            <a:srgbClr val="1A1A1A"/>
                          </a:solidFill>
                        </a:rPr>
                        <a:t>Confidencialidad por control de acceso</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Tres roles comprobados en el servidor por ruta y por propiedad del registro, con las contraseñas derivadas mediante scrypt.</a:t>
                      </a:r>
                      <a:endParaRPr sz="1300" b="1" dirty="0" err="1">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3"/>
                  </a:ext>
                </a:extLst>
              </a:tr>
              <a:tr h="574765">
                <a:tc>
                  <a:txBody>
                    <a:bodyPr/>
                    <a:lstStyle/>
                    <a:p>
                      <a:pPr algn="ctr"/>
                      <a:r>
                        <a:rPr sz="1300" b="1">
                          <a:solidFill>
                            <a:srgbClr val="1A1A1A"/>
                          </a:solidFill>
                        </a:rPr>
                        <a:t>Reglas de negocio de la agenda</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Separación mínima de treinta minutos y máximo de una cita por paciente al día, resueltas en el servidor dentro de la misma operación que escribe.</a:t>
                      </a:r>
                      <a:endParaRPr sz="1300" b="1" dirty="0" err="1">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4"/>
                  </a:ext>
                </a:extLst>
              </a:tr>
              <a:tr h="574765">
                <a:tc>
                  <a:txBody>
                    <a:bodyPr/>
                    <a:lstStyle/>
                    <a:p>
                      <a:pPr algn="ctr"/>
                      <a:r>
                        <a:rPr sz="1300" b="1">
                          <a:solidFill>
                            <a:srgbClr val="1A1A1A"/>
                          </a:solidFill>
                        </a:rPr>
                        <a:t>Verificación automatizada</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91 pruebas sobre autenticación, permisos, agenda, concurrencia y datos, todas pasando en 6,9 segundos.</a:t>
                      </a:r>
                      <a:endParaRPr sz="1300" b="1" dirty="0" err="1">
                        <a:solidFill>
                          <a:srgbClr val="1A1A1A"/>
                        </a:solidFill>
                        <a:latin typeface="Arial"/>
                      </a:endParaRPr>
                    </a:p>
                  </a:txBody>
                  <a:tcPr marL="73152" marR="73152" marT="27432" marB="27432"/>
                </a:tc>
                <a:tc>
                  <a:txBody>
                    <a:bodyPr/>
                    <a:lstStyle/>
                    <a:p>
                      <a:pPr algn="ctr"/>
                      <a:r>
                        <a:rPr sz="1300" b="1" dirty="0" err="1">
                          <a:solidFill>
                            <a:srgbClr val="1A1A1A"/>
                          </a:solidFill>
                        </a:rPr>
                        <a:t>Cumplido</a:t>
                      </a:r>
                      <a:endParaRPr sz="1300" b="1" dirty="0">
                        <a:solidFill>
                          <a:srgbClr val="33373D"/>
                        </a:solidFill>
                        <a:latin typeface="Arial"/>
                      </a:endParaRPr>
                    </a:p>
                  </a:txBody>
                  <a:tcPr marL="73152" marR="73152" marT="27432" marB="27432"/>
                </a:tc>
                <a:extLst>
                  <a:ext uri="{0D108BD9-81ED-4DB2-BD59-A6C34878D82A}">
                    <a16:rowId xmlns:a16="http://schemas.microsoft.com/office/drawing/2014/main" val="10005"/>
                  </a:ext>
                </a:extLst>
              </a:tr>
              <a:tr h="574770">
                <a:tc>
                  <a:txBody>
                    <a:bodyPr/>
                    <a:lstStyle/>
                    <a:p>
                      <a:pPr algn="ctr"/>
                      <a:r>
                        <a:rPr sz="1300" b="1">
                          <a:solidFill>
                            <a:srgbClr val="1A1A1A"/>
                          </a:solidFill>
                        </a:rPr>
                        <a:t>Cifrado de la información en reposo</a:t>
                      </a:r>
                      <a:endParaRPr sz="1300" b="1">
                        <a:solidFill>
                          <a:srgbClr val="1A1A1A"/>
                        </a:solidFill>
                        <a:latin typeface="Arial"/>
                      </a:endParaRPr>
                    </a:p>
                  </a:txBody>
                  <a:tcPr marL="73152" marR="73152" marT="27432" marB="27432"/>
                </a:tc>
                <a:tc>
                  <a:txBody>
                    <a:bodyPr/>
                    <a:lstStyle/>
                    <a:p>
                      <a:pPr algn="ctr"/>
                      <a:r>
                        <a:rPr sz="1300" b="1" dirty="0">
                          <a:solidFill>
                            <a:srgbClr val="1A1A1A"/>
                          </a:solidFill>
                        </a:rPr>
                        <a:t>Depende de la infraestructura de despliegue, razón por la cual el tercer objetivo se acotó de forma expresa al control de acceso por roles.</a:t>
                      </a:r>
                      <a:endParaRPr sz="1300" b="1" dirty="0">
                        <a:solidFill>
                          <a:srgbClr val="1A1A1A"/>
                        </a:solidFill>
                        <a:latin typeface="Arial"/>
                      </a:endParaRPr>
                    </a:p>
                  </a:txBody>
                  <a:tcPr marL="73152" marR="73152" marT="27432" marB="27432"/>
                </a:tc>
                <a:tc>
                  <a:txBody>
                    <a:bodyPr/>
                    <a:lstStyle/>
                    <a:p>
                      <a:pPr algn="ctr"/>
                      <a:r>
                        <a:rPr sz="1300" b="1" dirty="0" err="1">
                          <a:solidFill>
                            <a:srgbClr val="1A1A1A"/>
                          </a:solidFill>
                        </a:rPr>
                        <a:t>Fuera de alcance</a:t>
                      </a:r>
                      <a:endParaRPr sz="1300" b="1" dirty="0">
                        <a:solidFill>
                          <a:srgbClr val="33373D"/>
                        </a:solidFill>
                        <a:latin typeface="Arial"/>
                      </a:endParaRPr>
                    </a:p>
                  </a:txBody>
                  <a:tcPr marL="73152" marR="73152" marT="27432" marB="27432"/>
                </a:tc>
                <a:extLst>
                  <a:ext uri="{0D108BD9-81ED-4DB2-BD59-A6C34878D82A}">
                    <a16:rowId xmlns:a16="http://schemas.microsoft.com/office/drawing/2014/main" val="10006"/>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4"/>
        <p:cNvGrpSpPr/>
        <p:nvPr/>
      </p:nvGrpSpPr>
      <p:grpSpPr>
        <a:xfrm>
          <a:off x="0" y="0"/>
          <a:ext cx="0" cy="0"/>
          <a:chOff x="0" y="0"/>
          <a:chExt cx="0" cy="0"/>
        </a:xfrm>
      </p:grpSpPr>
      <p:sp>
        <p:nvSpPr>
          <p:cNvPr id="20" name="AutoShape 4" descr="Correo y sitio web en línea">
            <a:extLst>
              <a:ext uri="{FF2B5EF4-FFF2-40B4-BE49-F238E27FC236}">
                <a16:creationId xmlns:a16="http://schemas.microsoft.com/office/drawing/2014/main" id="{EAD54A52-3378-3CC3-29EF-E9E8EE665DE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Tree>
  </p:cSld>
  <p:clrMapOvr>
    <a:masterClrMapping/>
  </p:clrMapOvr>
</p:sld>
</file>

<file path=ppt/theme/theme1.xml><?xml version="1.0" encoding="utf-8"?>
<a:theme xmlns:a="http://schemas.openxmlformats.org/drawingml/2006/main" name="Office 2013 - Tema de 2022">
  <a:themeElements>
    <a:clrScheme name="Personalizado 1">
      <a:dk1>
        <a:srgbClr val="39A900"/>
      </a:dk1>
      <a:lt1>
        <a:srgbClr val="FFFFFF"/>
      </a:lt1>
      <a:dk2>
        <a:srgbClr val="00304D"/>
      </a:dk2>
      <a:lt2>
        <a:srgbClr val="F6F6F6"/>
      </a:lt2>
      <a:accent1>
        <a:srgbClr val="007832"/>
      </a:accent1>
      <a:accent2>
        <a:srgbClr val="71127A"/>
      </a:accent2>
      <a:accent3>
        <a:srgbClr val="50E5F9"/>
      </a:accent3>
      <a:accent4>
        <a:srgbClr val="FDC300"/>
      </a:accent4>
      <a:accent5>
        <a:srgbClr val="000000"/>
      </a:accent5>
      <a:accent6>
        <a:srgbClr val="70AD47"/>
      </a:accent6>
      <a:hlink>
        <a:srgbClr val="0563C1"/>
      </a:hlink>
      <a:folHlink>
        <a:srgbClr val="71127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3468</TotalTime>
  <Words>2214</Words>
  <Application>Microsoft Office PowerPoint</Application>
  <PresentationFormat>Widescreen</PresentationFormat>
  <Paragraphs>363</Paragraphs>
  <Slides>38</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Plus Jakarta Sans ExtraBold</vt:lpstr>
      <vt:lpstr>Arial</vt:lpstr>
      <vt:lpstr>Inter</vt:lpstr>
      <vt:lpstr>Calibri</vt:lpstr>
      <vt:lpstr>Plus Jakarta Sans</vt:lpstr>
      <vt:lpstr>Office 2013 - Tema de 2022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Jorge Enrique Pedraza Sanchez</dc:creator>
  <cp:lastModifiedBy>Brandon Restrepo</cp:lastModifiedBy>
  <cp:revision>77</cp:revision>
  <dcterms:created xsi:type="dcterms:W3CDTF">2020-10-01T23:51:28Z</dcterms:created>
  <dcterms:modified xsi:type="dcterms:W3CDTF">2026-09-07T22:06:12Z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c111285-cafa-4fc9-8a9a-bd902089b24f_Enabled">
    <vt:lpwstr>true</vt:lpwstr>
  </property>
  <property fmtid="{D5CDD505-2E9C-101B-9397-08002B2CF9AE}" pid="3" name="MSIP_Label_fc111285-cafa-4fc9-8a9a-bd902089b24f_SetDate">
    <vt:lpwstr>2025-07-11T16:31:34Z</vt:lpwstr>
  </property>
  <property fmtid="{D5CDD505-2E9C-101B-9397-08002B2CF9AE}" pid="4" name="MSIP_Label_fc111285-cafa-4fc9-8a9a-bd902089b24f_Method">
    <vt:lpwstr>Privileged</vt:lpwstr>
  </property>
  <property fmtid="{D5CDD505-2E9C-101B-9397-08002B2CF9AE}" pid="5" name="MSIP_Label_fc111285-cafa-4fc9-8a9a-bd902089b24f_Name">
    <vt:lpwstr>Public</vt:lpwstr>
  </property>
  <property fmtid="{D5CDD505-2E9C-101B-9397-08002B2CF9AE}" pid="6" name="MSIP_Label_fc111285-cafa-4fc9-8a9a-bd902089b24f_SiteId">
    <vt:lpwstr>cbc2c381-2f2e-4d93-91d1-506c9316ace7</vt:lpwstr>
  </property>
  <property fmtid="{D5CDD505-2E9C-101B-9397-08002B2CF9AE}" pid="7" name="MSIP_Label_fc111285-cafa-4fc9-8a9a-bd902089b24f_ActionId">
    <vt:lpwstr>c6329c04-9ceb-4fca-88c8-0029777b3481</vt:lpwstr>
  </property>
  <property fmtid="{D5CDD505-2E9C-101B-9397-08002B2CF9AE}" pid="8" name="MSIP_Label_fc111285-cafa-4fc9-8a9a-bd902089b24f_ContentBits">
    <vt:lpwstr>0</vt:lpwstr>
  </property>
  <property fmtid="{D5CDD505-2E9C-101B-9397-08002B2CF9AE}" pid="9" name="MSIP_Label_fc111285-cafa-4fc9-8a9a-bd902089b24f_Tag">
    <vt:lpwstr>10, 0, 1, 1</vt:lpwstr>
  </property>
  <property fmtid="{D5CDD505-2E9C-101B-9397-08002B2CF9AE}" pid="10" name="ContentTypeId">
    <vt:lpwstr>0x010100BAA091B23A43D34AA14462823DC894E8</vt:lpwstr>
  </property>
  <property fmtid="{D5CDD505-2E9C-101B-9397-08002B2CF9AE}" pid="11" name="MediaServiceImageTags">
    <vt:lpwstr/>
  </property>
  <property fmtid="{D5CDD505-2E9C-101B-9397-08002B2CF9AE}" pid="12" name="Order">
    <vt:r8>194900</vt:r8>
  </property>
  <property fmtid="{D5CDD505-2E9C-101B-9397-08002B2CF9AE}" pid="13" name="xd_Signature">
    <vt:bool>false</vt:bool>
  </property>
  <property fmtid="{D5CDD505-2E9C-101B-9397-08002B2CF9AE}" pid="14" name="xd_ProgID">
    <vt:lpwstr/>
  </property>
  <property fmtid="{D5CDD505-2E9C-101B-9397-08002B2CF9AE}" pid="15" name="_SourceUrl">
    <vt:lpwstr/>
  </property>
  <property fmtid="{D5CDD505-2E9C-101B-9397-08002B2CF9AE}" pid="16" name="_SharedFileIndex">
    <vt:lpwstr/>
  </property>
  <property fmtid="{D5CDD505-2E9C-101B-9397-08002B2CF9AE}" pid="17" name="ComplianceAssetId">
    <vt:lpwstr/>
  </property>
  <property fmtid="{D5CDD505-2E9C-101B-9397-08002B2CF9AE}" pid="18" name="TemplateUrl">
    <vt:lpwstr/>
  </property>
  <property fmtid="{D5CDD505-2E9C-101B-9397-08002B2CF9AE}" pid="19" name="_ExtendedDescription">
    <vt:lpwstr/>
  </property>
  <property fmtid="{D5CDD505-2E9C-101B-9397-08002B2CF9AE}" pid="20" name="TriggerFlowInfo">
    <vt:lpwstr/>
  </property>
</Properties>
</file>