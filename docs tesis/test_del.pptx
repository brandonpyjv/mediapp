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89" r:id="rId7"/>
    <p:sldId id="312" r:id="rId8"/>
    <p:sldId id="313" r:id="rId9"/>
    <p:sldId id="314" r:id="rId10"/>
    <p:sldId id="315" r:id="rId11"/>
    <p:sldId id="294" r:id="rId12"/>
    <p:sldId id="316" r:id="rId13"/>
    <p:sldId id="317" r:id="rId14"/>
    <p:sldId id="318" r:id="rId15"/>
    <p:sldId id="322" r:id="rId16"/>
    <p:sldId id="323" r:id="rId17"/>
    <p:sldId id="324" r:id="rId18"/>
    <p:sldId id="325" r:id="rId19"/>
    <p:sldId id="326" r:id="rId20"/>
    <p:sldId id="295" r:id="rId21"/>
    <p:sldId id="306" r:id="rId22"/>
    <p:sldId id="307" r:id="rId23"/>
    <p:sldId id="331" r:id="rId24"/>
    <p:sldId id="337" r:id="rId25"/>
    <p:sldId id="332" r:id="rId26"/>
    <p:sldId id="327" r:id="rId27"/>
    <p:sldId id="328" r:id="rId28"/>
    <p:sldId id="300" r:id="rId29"/>
    <p:sldId id="296" r:id="rId30"/>
    <p:sldId id="311" r:id="rId31"/>
    <p:sldId id="308" r:id="rId32"/>
    <p:sldId id="297" r:id="rId33"/>
    <p:sldId id="329" r:id="rId34"/>
    <p:sldId id="330" r:id="rId35"/>
    <p:sldId id="333" r:id="rId36"/>
    <p:sldId id="334" r:id="rId37"/>
    <p:sldId id="335" r:id="rId38"/>
    <p:sldId id="287" r:id="rId39"/>
  </p:sldIdLst>
  <p:sldSz cx="12192000" cy="6858000"/>
  <p:notesSz cx="6858000" cy="9144000"/>
  <p:embeddedFontLst>
    <p:embeddedFont>
      <p:font typeface="Inter" panose="020B0604020202020204" charset="0"/>
      <p:regular r:id="rId41"/>
      <p:bold r:id="rId42"/>
      <p:italic r:id="rId43"/>
      <p:boldItalic r:id="rId44"/>
    </p:embeddedFont>
    <p:embeddedFont>
      <p:font typeface="Plus Jakarta Sans" panose="020B0604020202020204" charset="0"/>
      <p:regular r:id="rId45"/>
      <p:bold r:id="rId46"/>
      <p:italic r:id="rId47"/>
      <p:boldItalic r:id="rId48"/>
    </p:embeddedFont>
    <p:embeddedFont>
      <p:font typeface="Plus Jakarta Sans ExtraBold" panose="020B0604020202020204" charset="0"/>
      <p:bold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iuq0NguNk5LHHA5FwT6FGEpdE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BCAD3-15E7-4015-9B5F-DF1D467188F8}">
  <a:tblStyle styleId="{457BCAD3-15E7-4015-9B5F-DF1D467188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E7"/>
          </a:solidFill>
        </a:fill>
      </a:tcStyle>
    </a:wholeTbl>
    <a:band1H>
      <a:tcTxStyle/>
      <a:tcStyle>
        <a:tcBdr/>
        <a:fill>
          <a:solidFill>
            <a:srgbClr val="CAD5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5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96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font" Target="fonts/font3.fntdata"/><Relationship Id="rId44" Type="http://schemas.openxmlformats.org/officeDocument/2006/relationships/font" Target="fonts/font4.fntdata"/><Relationship Id="rId45" Type="http://schemas.openxmlformats.org/officeDocument/2006/relationships/font" Target="fonts/font5.fntdata"/><Relationship Id="rId46" Type="http://schemas.openxmlformats.org/officeDocument/2006/relationships/font" Target="fonts/font6.fntdata"/><Relationship Id="rId47" Type="http://schemas.openxmlformats.org/officeDocument/2006/relationships/font" Target="fonts/font7.fntdata"/><Relationship Id="rId48" Type="http://schemas.openxmlformats.org/officeDocument/2006/relationships/font" Target="fonts/font8.fntdata"/><Relationship Id="rId49" Type="http://schemas.openxmlformats.org/officeDocument/2006/relationships/font" Target="fonts/font9.fntdata"/><Relationship Id="rId50" Type="http://schemas.openxmlformats.org/officeDocument/2006/relationships/font" Target="fonts/font10.fntdata"/><Relationship Id="rId58" Type="http://customschemas.google.com/relationships/presentationmetadata" Target="metadata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5599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86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867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43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933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1473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7023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75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814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4534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5723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259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330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708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608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1390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402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713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635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627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05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273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7743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69908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9948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9337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309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0065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7158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7444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6108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4433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424123" y="870486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0D27D3C6-3047-48C6-E08D-1D2554CFC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443" y="3996267"/>
            <a:ext cx="3579112" cy="1915365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sz="1600" b="1" dirty="0">
                <a:solidFill>
                  <a:srgbClr val="1F3B73"/>
                </a:solidFill>
                <a:latin typeface="Arial"/>
              </a:rPr>
              <a:t>INTEGRANTES:</a:t>
            </a:r>
            <a:endParaRPr lang="es-CO" sz="1600" b="1" dirty="0">
              <a:solidFill>
                <a:srgbClr val="334155"/>
              </a:solidFill>
              <a:latin typeface="Inter"/>
              <a:cs typeface="Inter"/>
              <a:sym typeface="Arial"/>
            </a:endParaRPr>
          </a:p>
          <a:p>
            <a:pPr algn="ctr"/>
            <a:endParaRPr lang="es-CO" sz="1600" b="1" dirty="0">
              <a:solidFill>
                <a:srgbClr val="334155"/>
              </a:solidFill>
              <a:latin typeface="Inter"/>
              <a:cs typeface="Inter"/>
              <a:sym typeface="Arial"/>
            </a:endParaRP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BRANDON ARLEY RESTREPO G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E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LVEZ</a:t>
            </a: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JOHAN SEBASTI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N ACOSTA S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NCHEZ</a:t>
            </a:r>
          </a:p>
          <a:p>
            <a:pPr algn="ctr"/>
            <a:r>
              <a:rPr sz="1600" b="1" dirty="0">
                <a:solidFill>
                  <a:srgbClr val="33373D"/>
                </a:solidFill>
                <a:latin typeface="Arial"/>
              </a:rPr>
              <a:t>WILMER JES</a:t>
            </a:r>
            <a:r>
              <a:rPr lang="es-CO" sz="1600" b="1" dirty="0">
                <a:solidFill>
                  <a:srgbClr val="33373D"/>
                </a:solidFill>
                <a:latin typeface="Arial"/>
              </a:rPr>
              <a:t>U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S CONTRERAS RANGEL</a:t>
            </a:r>
          </a:p>
          <a:p>
            <a:pPr algn="ctr"/>
            <a:endParaRPr sz="1600" b="1" dirty="0">
              <a:solidFill>
                <a:srgbClr val="33373D"/>
              </a:solidFill>
              <a:latin typeface="Arial"/>
            </a:endParaRPr>
          </a:p>
          <a:p>
            <a:pPr algn="ctr"/>
            <a:r>
              <a:rPr sz="1600" b="1" dirty="0" err="1">
                <a:solidFill>
                  <a:srgbClr val="33373D"/>
                </a:solidFill>
                <a:latin typeface="Arial"/>
              </a:rPr>
              <a:t>Ficha</a:t>
            </a:r>
            <a:r>
              <a:rPr sz="1600" b="1" dirty="0">
                <a:solidFill>
                  <a:srgbClr val="33373D"/>
                </a:solidFill>
                <a:latin typeface="Arial"/>
              </a:rPr>
              <a:t> 3115426</a:t>
            </a:r>
          </a:p>
        </p:txBody>
      </p:sp>
      <p:pic>
        <p:nvPicPr>
          <p:cNvPr id="3" name="Google Shape;90;p13" descr="image.png">
            <a:extLst>
              <a:ext uri="{FF2B5EF4-FFF2-40B4-BE49-F238E27FC236}">
                <a16:creationId xmlns:a16="http://schemas.microsoft.com/office/drawing/2014/main" id="{24B006EC-E35D-15B6-DB4E-F558902378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1999" y="618067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085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1D120AAC-3F32-0221-6CDC-92BF2903B2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6F82DF70-D1DF-BB77-7DA3-E4B341DD60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8022" y="1430934"/>
            <a:ext cx="4715581" cy="3996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;p13" descr="image.png">
            <a:extLst>
              <a:ext uri="{FF2B5EF4-FFF2-40B4-BE49-F238E27FC236}">
                <a16:creationId xmlns:a16="http://schemas.microsoft.com/office/drawing/2014/main" id="{8FC35288-A11A-A47A-B1D2-293289B98EA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053" y="4713643"/>
            <a:ext cx="23622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;p13" descr="image.png">
            <a:extLst>
              <a:ext uri="{FF2B5EF4-FFF2-40B4-BE49-F238E27FC236}">
                <a16:creationId xmlns:a16="http://schemas.microsoft.com/office/drawing/2014/main" id="{1413AA8C-5895-3BE3-7C09-659710DFA8A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053" y="1154709"/>
            <a:ext cx="20574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06A82DE9-312C-9BF6-8485-7633EE9826C0}"/>
              </a:ext>
            </a:extLst>
          </p:cNvPr>
          <p:cNvSpPr txBox="1"/>
          <p:nvPr/>
        </p:nvSpPr>
        <p:spPr>
          <a:xfrm>
            <a:off x="1100667" y="1796641"/>
            <a:ext cx="2555522" cy="69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FactuGest</a:t>
            </a:r>
            <a:endParaRPr dirty="0"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C69884FC-0D06-AD26-4B09-9A0E6F0199C6}"/>
              </a:ext>
            </a:extLst>
          </p:cNvPr>
          <p:cNvSpPr txBox="1"/>
          <p:nvPr/>
        </p:nvSpPr>
        <p:spPr>
          <a:xfrm>
            <a:off x="1033639" y="3013774"/>
            <a:ext cx="479989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33373D"/>
                </a:solidFill>
                <a:latin typeface="Arial"/>
              </a:rPr>
              <a:t>Plataforma web de facturación electrónica que emite por cuenta de terceros mediante una API de integración.</a:t>
            </a:r>
            <a:endParaRPr sz="1600" dirty="0"/>
          </a:p>
        </p:txBody>
      </p:sp>
      <p:pic>
        <p:nvPicPr>
          <p:cNvPr id="9" name="Google Shape;90;p13" descr="image.png">
            <a:extLst>
              <a:ext uri="{FF2B5EF4-FFF2-40B4-BE49-F238E27FC236}">
                <a16:creationId xmlns:a16="http://schemas.microsoft.com/office/drawing/2014/main" id="{180BC0BB-653F-7D4E-99DB-6BE23B7299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21597"/>
          <a:stretch/>
        </p:blipFill>
        <p:spPr>
          <a:xfrm>
            <a:off x="7011812" y="2084565"/>
            <a:ext cx="3048000" cy="249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1;p13" descr="image.png">
            <a:extLst>
              <a:ext uri="{FF2B5EF4-FFF2-40B4-BE49-F238E27FC236}">
                <a16:creationId xmlns:a16="http://schemas.microsoft.com/office/drawing/2014/main" id="{B074B4B6-84CD-D85F-C918-B84500ED341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9242" y="4823180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98E55B9-4796-1AD4-FD91-7F8439DF9EDA}"/>
              </a:ext>
            </a:extLst>
          </p:cNvPr>
          <p:cNvSpPr txBox="1"/>
          <p:nvPr/>
        </p:nvSpPr>
        <p:spPr>
          <a:xfrm>
            <a:off x="7703256" y="4892245"/>
            <a:ext cx="3836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/>
              <a:t> </a:t>
            </a:r>
            <a:endParaRPr lang="es-CO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C3D3D267-D1DB-7794-090F-4F88F9C7C45B}"/>
              </a:ext>
            </a:extLst>
          </p:cNvPr>
          <p:cNvSpPr txBox="1"/>
          <p:nvPr/>
        </p:nvSpPr>
        <p:spPr>
          <a:xfrm>
            <a:off x="2100942" y="2640764"/>
            <a:ext cx="7990115" cy="157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I. FORMULACIÓN DEL PROYECTO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8DFFA8D-D658-9F01-0D10-9353E89340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DF402D3-A560-9210-3DEA-358303C1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6D8587E6-BFC7-BE58-BA04-C802D8D4E3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7;p14">
            <a:extLst>
              <a:ext uri="{FF2B5EF4-FFF2-40B4-BE49-F238E27FC236}">
                <a16:creationId xmlns:a16="http://schemas.microsoft.com/office/drawing/2014/main" id="{EEE9E0F4-D1BB-7771-0302-5F992181AFCD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06;p14">
            <a:extLst>
              <a:ext uri="{FF2B5EF4-FFF2-40B4-BE49-F238E27FC236}">
                <a16:creationId xmlns:a16="http://schemas.microsoft.com/office/drawing/2014/main" id="{72A46E4C-75C3-B387-4882-65CAAFC1DC0B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Planteamiento del Problema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B73"/>
                </a:solidFill>
                <a:latin typeface="Arial"/>
              </a:rPr>
              <a:t>La facturación electrónica es obligatoria en Colombia, pero la mayoría de las mipymes todavía no la ha adoptado.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73D"/>
                </a:solidFill>
                <a:latin typeface="Arial"/>
              </a:rPr>
              <a:t>La mayoría de estas empresas ya opera con un software propio, sea un punto de venta, un sistema contable o una aplicación hecha a la medida años atrás.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73D"/>
                </a:solidFill>
                <a:latin typeface="Arial"/>
              </a:rPr>
              <a:t>La oferta habitual del mercado exige reemplazar esa herramienta, migrar la información, capacitar de nuevo al personal e interrumpir la operación mientras dura el cambio.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73D"/>
                </a:solidFill>
                <a:latin typeface="Arial"/>
              </a:rPr>
              <a:t>El problema no es tecnológico sino de reemplazo, porque estas empresas no rechazan facturar electrónicamente sino abandonar el sistema con el que ya trabajan.</a:t>
            </a:r>
          </a:p>
        </p:txBody>
      </p:sp>
    </p:spTree>
    <p:extLst>
      <p:ext uri="{BB962C8B-B14F-4D97-AF65-F5344CB8AC3E}">
        <p14:creationId xmlns:p14="http://schemas.microsoft.com/office/powerpoint/2010/main" val="415022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13495FBF-C467-5FBA-8029-DB074EC69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8;p16" descr="image.png">
            <a:extLst>
              <a:ext uri="{FF2B5EF4-FFF2-40B4-BE49-F238E27FC236}">
                <a16:creationId xmlns:a16="http://schemas.microsoft.com/office/drawing/2014/main" id="{6E2E430C-E153-EE1C-9507-83BAA4900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24" y="4722657"/>
            <a:ext cx="11049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16" descr="image.png">
            <a:extLst>
              <a:ext uri="{FF2B5EF4-FFF2-40B4-BE49-F238E27FC236}">
                <a16:creationId xmlns:a16="http://schemas.microsoft.com/office/drawing/2014/main" id="{468D5443-582F-1671-D734-A0438BEAA99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0;p16" descr="image.png">
            <a:extLst>
              <a:ext uri="{FF2B5EF4-FFF2-40B4-BE49-F238E27FC236}">
                <a16:creationId xmlns:a16="http://schemas.microsoft.com/office/drawing/2014/main" id="{FC5C9815-BADF-30F6-D886-CBF83C550DC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0600" y="2143125"/>
            <a:ext cx="3530649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1;p16" descr="image.png">
            <a:extLst>
              <a:ext uri="{FF2B5EF4-FFF2-40B4-BE49-F238E27FC236}">
                <a16:creationId xmlns:a16="http://schemas.microsoft.com/office/drawing/2014/main" id="{DB18B452-3E7B-2BAD-B2A3-F989A189E07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8985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54;p16">
            <a:extLst>
              <a:ext uri="{FF2B5EF4-FFF2-40B4-BE49-F238E27FC236}">
                <a16:creationId xmlns:a16="http://schemas.microsoft.com/office/drawing/2014/main" id="{4CF8287F-6AA8-24B0-6B72-8A0480EFA084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53;p16">
            <a:extLst>
              <a:ext uri="{FF2B5EF4-FFF2-40B4-BE49-F238E27FC236}">
                <a16:creationId xmlns:a16="http://schemas.microsoft.com/office/drawing/2014/main" id="{3A3C55D1-1764-1508-0286-5FAFD912FB5C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Justificación del Proyecto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68096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ESTÁN OBLIGADAS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de las empresas consultadas debe facturar electrónicamente ante la DIAN.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CAMBIAR DE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señaló el reemplazo de su herramienta como la principal barrera para adoptarla.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331720"/>
            <a:ext cx="31272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73"/>
                </a:solidFill>
                <a:latin typeface="Arial"/>
              </a:rPr>
              <a:t>84%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035808"/>
            <a:ext cx="3127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SÍ LO HARÍAN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36499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73D"/>
                </a:solidFill>
                <a:latin typeface="Arial"/>
              </a:rPr>
              <a:t>facturaría electrónicamente si no tuviera que cambiar de software.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90118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B73"/>
                </a:solidFill>
                <a:latin typeface="Arial"/>
              </a:rPr>
              <a:t>FactuGest permite cumplir la obligación sin reemplazar el software con el que la empresa ya trabaja.</a:t>
            </a:r>
          </a:p>
        </p:txBody>
      </p:sp>
    </p:spTree>
    <p:extLst>
      <p:ext uri="{BB962C8B-B14F-4D97-AF65-F5344CB8AC3E}">
        <p14:creationId xmlns:p14="http://schemas.microsoft.com/office/powerpoint/2010/main" val="155684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72611BD-5090-88E2-8DB2-78DB7477A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 General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249679" y="2603680"/>
            <a:ext cx="96926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600" b="1" dirty="0">
                <a:solidFill>
                  <a:srgbClr val="1F3B73"/>
                </a:solidFill>
              </a:rPr>
              <a:t>Desarrollar </a:t>
            </a:r>
            <a:r>
              <a:rPr lang="es-MX" sz="2600" b="1" dirty="0" err="1">
                <a:solidFill>
                  <a:srgbClr val="1F3B73"/>
                </a:solidFill>
              </a:rPr>
              <a:t>FactuGest</a:t>
            </a:r>
            <a:r>
              <a:rPr lang="es-MX" sz="2600" b="1" dirty="0">
                <a:solidFill>
                  <a:srgbClr val="1F3B73"/>
                </a:solidFill>
              </a:rPr>
              <a:t>, plataforma web que actúe como proveedor tecnológico y emita facturas, notas crédito y notas débito ante la DIAN por cuenta de </a:t>
            </a:r>
            <a:r>
              <a:rPr lang="es-MX" sz="2600" b="1" dirty="0" err="1">
                <a:solidFill>
                  <a:srgbClr val="1F3B73"/>
                </a:solidFill>
              </a:rPr>
              <a:t>mipymes</a:t>
            </a:r>
            <a:r>
              <a:rPr lang="es-MX" sz="2600" b="1" dirty="0">
                <a:solidFill>
                  <a:srgbClr val="1F3B73"/>
                </a:solidFill>
              </a:rPr>
              <a:t> colombianas, mediante una API integrada a su propio software.</a:t>
            </a:r>
            <a:endParaRPr sz="2600" b="1" dirty="0">
              <a:solidFill>
                <a:srgbClr val="1F3B7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51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B0AA0B5-E4A9-52D1-B9C7-4150FF220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Objetivos Específicos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83920" y="1587148"/>
            <a:ext cx="10424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1. </a:t>
            </a:r>
            <a:r>
              <a:rPr lang="es-MX" sz="1800" dirty="0">
                <a:solidFill>
                  <a:srgbClr val="33373D"/>
                </a:solidFill>
              </a:rPr>
              <a:t>Automatizar la emisión electrónica de facturas, notas crédito y notas débito, asegurando su validez tributaria y su conformidad con el estándar UBL 2.1 exigido por la DIAN.</a:t>
            </a:r>
            <a:endParaRPr sz="2000" dirty="0">
              <a:solidFill>
                <a:srgbClr val="33373D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3920" y="2547268"/>
            <a:ext cx="104241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2. </a:t>
            </a:r>
            <a:r>
              <a:rPr lang="es-MX" sz="1800" dirty="0">
                <a:solidFill>
                  <a:srgbClr val="33373D"/>
                </a:solidFill>
              </a:rPr>
              <a:t>Habilitar la integración de sistemas externos con la plataforma mediante una API REST segura, que permita a terceros emitir documentos electrónicos sin modificar su propio software.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920" y="3507388"/>
            <a:ext cx="104241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3. </a:t>
            </a:r>
            <a:r>
              <a:rPr lang="es-MX" sz="1800" dirty="0">
                <a:solidFill>
                  <a:srgbClr val="33373D"/>
                </a:solidFill>
              </a:rPr>
              <a:t>Administrar el ciclo de vida de los clientes integrados y sus planes de suscripción, controlando su acceso, su consumo y su facturación dentro del modelo de proveedor tecnológico.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3920" y="4467508"/>
            <a:ext cx="1042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4. </a:t>
            </a:r>
            <a:r>
              <a:rPr lang="es-MX" sz="1800" dirty="0">
                <a:solidFill>
                  <a:srgbClr val="33373D"/>
                </a:solidFill>
              </a:rPr>
              <a:t>Proveer visibilidad sobre la operación del servicio y su desempeño financiero mediante un panel de control y reportes exportables. 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920" y="5427628"/>
            <a:ext cx="1042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33373D"/>
                </a:solidFill>
                <a:latin typeface="Arial"/>
              </a:rPr>
              <a:t>5. </a:t>
            </a:r>
            <a:r>
              <a:rPr lang="es-MX" sz="1800" dirty="0">
                <a:solidFill>
                  <a:srgbClr val="33373D"/>
                </a:solidFill>
              </a:rPr>
              <a:t>Garantizar la seguridad de la plataforma mediante control de acceso por roles y trazabilidad de las operaciones realizadas por los usuarios.</a:t>
            </a:r>
            <a:endParaRPr lang="es-CO" sz="1800" dirty="0">
              <a:solidFill>
                <a:srgbClr val="33373D"/>
              </a:solidFill>
            </a:endParaRPr>
          </a:p>
          <a:p>
            <a:endParaRPr sz="2000" dirty="0">
              <a:solidFill>
                <a:srgbClr val="33373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482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E379AC-14BA-0D80-78A8-2080EA36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Alcance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B73"/>
                </a:solidFill>
                <a:latin typeface="Arial"/>
              </a:rPr>
              <a:t>Lo que el sistema hace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011680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Emite facturas de venta, notas crédito y notas débito por cuenta de terceros.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98064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Expone una API que el software del cliente consume para emitir sus documentos.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584448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Administra los clientes integrados, sus llaves y sus planes.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70832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Controla el consumo mensual y factura la mensualidad del servicio.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57216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Consolida la operación en un tablero y siete reportes exportables.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B73"/>
                </a:solidFill>
                <a:latin typeface="Arial"/>
              </a:rPr>
              <a:t>Lo que queda fuera de esta versión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0116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La transmisión a los servicios de producción de la DIAN, pendiente de la habilitación del proveedor.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97180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La integración con pasarelas de pago, porque el recaudo se registra a mano.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319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73D"/>
                </a:solidFill>
                <a:latin typeface="Arial"/>
              </a:rPr>
              <a:t>El cliente móvil, que quedó fuera de esta versión.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393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33373D"/>
                </a:solidFill>
                <a:latin typeface="Arial"/>
              </a:rPr>
              <a:t>La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prueba</a:t>
            </a:r>
            <a:r>
              <a:rPr sz="1700" dirty="0">
                <a:solidFill>
                  <a:srgbClr val="33373D"/>
                </a:solidFill>
                <a:latin typeface="Arial"/>
              </a:rPr>
              <a:t> de carga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sostenida</a:t>
            </a:r>
            <a:r>
              <a:rPr sz="1700" dirty="0">
                <a:solidFill>
                  <a:srgbClr val="33373D"/>
                </a:solidFill>
                <a:latin typeface="Arial"/>
              </a:rPr>
              <a:t>, que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exige</a:t>
            </a:r>
            <a:r>
              <a:rPr sz="1700" dirty="0">
                <a:solidFill>
                  <a:srgbClr val="33373D"/>
                </a:solidFill>
                <a:latin typeface="Arial"/>
              </a:rPr>
              <a:t>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infraestructura</a:t>
            </a:r>
            <a:r>
              <a:rPr sz="17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700" dirty="0" err="1">
                <a:solidFill>
                  <a:srgbClr val="33373D"/>
                </a:solidFill>
                <a:latin typeface="Arial"/>
              </a:rPr>
              <a:t>producción</a:t>
            </a:r>
            <a:r>
              <a:rPr sz="17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62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135A98-CE2B-358F-3B61-F64EC0070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30108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Riesgos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66794" y="1379055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empresa</a:t>
            </a:r>
            <a:r>
              <a:rPr sz="1800" dirty="0">
                <a:solidFill>
                  <a:srgbClr val="33373D"/>
                </a:solidFill>
                <a:latin typeface="Arial"/>
              </a:rPr>
              <a:t>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cuente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con personal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técnico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capaz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consumir</a:t>
            </a:r>
            <a:r>
              <a:rPr sz="1800" dirty="0">
                <a:solidFill>
                  <a:srgbClr val="33373D"/>
                </a:solidFill>
                <a:latin typeface="Arial"/>
              </a:rPr>
              <a:t>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interfaz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integración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94" y="2060756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servicio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externo</a:t>
            </a:r>
            <a:r>
              <a:rPr sz="1800" dirty="0">
                <a:solidFill>
                  <a:srgbClr val="33373D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como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correo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comprador,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esté</a:t>
            </a:r>
            <a:r>
              <a:rPr sz="1800" dirty="0">
                <a:solidFill>
                  <a:srgbClr val="33373D"/>
                </a:solidFill>
                <a:latin typeface="Arial"/>
              </a:rPr>
              <a:t> disponible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momento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emitir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94" y="2658758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Que 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empresa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desconfíe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delegar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facturación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tercero</a:t>
            </a:r>
            <a:r>
              <a:rPr sz="1800" dirty="0">
                <a:solidFill>
                  <a:srgbClr val="33373D"/>
                </a:solidFill>
                <a:latin typeface="Arial"/>
              </a:rPr>
              <a:t>, que es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decisión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excede</a:t>
            </a:r>
            <a:r>
              <a:rPr sz="1800" dirty="0">
                <a:solidFill>
                  <a:srgbClr val="33373D"/>
                </a:solidFill>
                <a:latin typeface="Arial"/>
              </a:rPr>
              <a:t> lo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técnico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99" y="3630135"/>
            <a:ext cx="29346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700">
                <a:solidFill>
                  <a:srgbClr val="003366"/>
                </a:solidFill>
                <a:latin typeface="Plus Jakarta Sans ExtraBold"/>
                <a:cs typeface="Plus Jakarta Sans ExtraBold"/>
              </a:defRPr>
            </a:lvl1pPr>
          </a:lstStyle>
          <a:p>
            <a:r>
              <a:rPr dirty="0" err="1"/>
              <a:t>Restricciones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66794" y="4488771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habilitación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como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proveedor</a:t>
            </a:r>
            <a:r>
              <a:rPr sz="1800" dirty="0">
                <a:solidFill>
                  <a:srgbClr val="33373D"/>
                </a:solidFill>
                <a:latin typeface="Arial"/>
              </a:rPr>
              <a:t> ante la DIAN es un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trámite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que no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controla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equipo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794" y="5102366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 err="1">
                <a:solidFill>
                  <a:srgbClr val="33373D"/>
                </a:solidFill>
                <a:latin typeface="Arial"/>
              </a:rPr>
              <a:t>Cada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necesita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resolución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facturación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vigente</a:t>
            </a:r>
            <a:r>
              <a:rPr sz="1800" dirty="0">
                <a:solidFill>
                  <a:srgbClr val="33373D"/>
                </a:solidFill>
                <a:latin typeface="Arial"/>
              </a:rPr>
              <a:t> con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prefijo</a:t>
            </a:r>
            <a:r>
              <a:rPr sz="180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su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rango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autorizados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94" y="5920700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33373D"/>
                </a:solidFill>
                <a:latin typeface="Arial"/>
              </a:rPr>
              <a:t>La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operación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requiere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conexión</a:t>
            </a:r>
            <a:r>
              <a:rPr sz="1800" dirty="0">
                <a:solidFill>
                  <a:srgbClr val="33373D"/>
                </a:solidFill>
                <a:latin typeface="Arial"/>
              </a:rPr>
              <a:t> a internet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800" dirty="0">
                <a:solidFill>
                  <a:srgbClr val="33373D"/>
                </a:solidFill>
                <a:latin typeface="Arial"/>
              </a:rPr>
              <a:t> dos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extremos</a:t>
            </a:r>
            <a:r>
              <a:rPr sz="1800" dirty="0">
                <a:solidFill>
                  <a:srgbClr val="33373D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proveedor</a:t>
            </a:r>
            <a:r>
              <a:rPr sz="180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33373D"/>
                </a:solidFill>
                <a:latin typeface="Arial"/>
              </a:rPr>
              <a:t>integrado</a:t>
            </a:r>
            <a:r>
              <a:rPr sz="18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3" name="Google Shape;132;p15">
            <a:extLst>
              <a:ext uri="{FF2B5EF4-FFF2-40B4-BE49-F238E27FC236}">
                <a16:creationId xmlns:a16="http://schemas.microsoft.com/office/drawing/2014/main" id="{895647D8-DDEA-64DB-F361-80CB0A5C0069}"/>
              </a:ext>
            </a:extLst>
          </p:cNvPr>
          <p:cNvSpPr/>
          <p:nvPr/>
        </p:nvSpPr>
        <p:spPr>
          <a:xfrm>
            <a:off x="611840" y="405657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051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96BD96-8A3E-82A4-36C0-B5786AAAB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Cronograma de Actividades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B79987-214D-2C75-1C6F-01079C1BA8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15" y="1457033"/>
            <a:ext cx="11420967" cy="49181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45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11">
            <a:extLst>
              <a:ext uri="{FF2B5EF4-FFF2-40B4-BE49-F238E27FC236}">
                <a16:creationId xmlns:a16="http://schemas.microsoft.com/office/drawing/2014/main" id="{22E24F0A-EE5A-6939-818B-24451CD36525}"/>
              </a:ext>
            </a:extLst>
          </p:cNvPr>
          <p:cNvSpPr txBox="1"/>
          <p:nvPr/>
        </p:nvSpPr>
        <p:spPr>
          <a:xfrm>
            <a:off x="2761342" y="2920582"/>
            <a:ext cx="6669315" cy="101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II. ANÁLISIS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AF178EBC-A15A-FF95-0807-A3E2F4C0FD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40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922EC7-5F81-65CB-56EA-E37EF9E9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Herramientas para la Captura de Requisitos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B73"/>
                </a:solidFill>
                <a:latin typeface="Arial"/>
              </a:rPr>
              <a:t>Encuesta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Cuestionario de doce preguntas cerradas aplicado a 45 empresas de Cúcuta, agrupadas en cuatro bloques que indagaban su situación frente a la obligación, las herramientas que utilizan, las barreras percibidas y su disposición frente a una solución que se integre con el software existente.</a:t>
            </a:r>
          </a:p>
        </p:txBody>
      </p:sp>
      <p:pic>
        <p:nvPicPr>
          <p:cNvPr id="26" name="Picture 25" descr="FIG-encuesta-contra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823541"/>
            <a:ext cx="10835640" cy="2582517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1F3B73"/>
                </a:solidFill>
                <a:latin typeface="Arial"/>
              </a:rPr>
              <a:t>Rechazan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cambiar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de software, no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facturar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F3B73"/>
                </a:solidFill>
                <a:latin typeface="Arial"/>
              </a:rPr>
              <a:t>electrónicamente</a:t>
            </a:r>
            <a:r>
              <a:rPr sz="2200" b="1" dirty="0">
                <a:solidFill>
                  <a:srgbClr val="1F3B73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44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6FEE11-CC7D-21F9-56AC-C5FE0C483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Historias de Usuario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8095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Derivadas de la encuesta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16713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dirty="0">
                <a:solidFill>
                  <a:srgbClr val="33373D"/>
                </a:solidFill>
                <a:latin typeface="Arial"/>
              </a:rPr>
              <a:t>HU-03. Como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cliente</a:t>
            </a:r>
            <a:r>
              <a:rPr sz="1900" dirty="0">
                <a:solidFill>
                  <a:srgbClr val="33373D"/>
                </a:solidFill>
                <a:latin typeface="Arial"/>
              </a:rPr>
              <a:t>,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quiero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enviar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datos</a:t>
            </a:r>
            <a:r>
              <a:rPr sz="1900" dirty="0">
                <a:solidFill>
                  <a:srgbClr val="33373D"/>
                </a:solidFill>
                <a:latin typeface="Arial"/>
              </a:rPr>
              <a:t> de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una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venta</a:t>
            </a:r>
            <a:r>
              <a:rPr sz="1900" dirty="0">
                <a:solidFill>
                  <a:srgbClr val="33373D"/>
                </a:solidFill>
                <a:latin typeface="Arial"/>
              </a:rPr>
              <a:t> y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recibir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ya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emitido</a:t>
            </a:r>
            <a:r>
              <a:rPr sz="1900" dirty="0">
                <a:solidFill>
                  <a:srgbClr val="33373D"/>
                </a:solidFill>
                <a:latin typeface="Arial"/>
              </a:rPr>
              <a:t> para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cumplir</a:t>
            </a:r>
            <a:r>
              <a:rPr sz="1900" dirty="0">
                <a:solidFill>
                  <a:srgbClr val="33373D"/>
                </a:solidFill>
                <a:latin typeface="Arial"/>
              </a:rPr>
              <a:t> con la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obligación</a:t>
            </a:r>
            <a:r>
              <a:rPr sz="1900" dirty="0">
                <a:solidFill>
                  <a:srgbClr val="33373D"/>
                </a:solidFill>
                <a:latin typeface="Arial"/>
              </a:rPr>
              <a:t> sin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cambiar</a:t>
            </a:r>
            <a:r>
              <a:rPr sz="1900" dirty="0">
                <a:solidFill>
                  <a:srgbClr val="33373D"/>
                </a:solidFill>
                <a:latin typeface="Arial"/>
              </a:rPr>
              <a:t>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software con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900" dirty="0">
                <a:solidFill>
                  <a:srgbClr val="33373D"/>
                </a:solidFill>
                <a:latin typeface="Arial"/>
              </a:rPr>
              <a:t> que </a:t>
            </a:r>
            <a:r>
              <a:rPr sz="1900" dirty="0" err="1">
                <a:solidFill>
                  <a:srgbClr val="33373D"/>
                </a:solidFill>
                <a:latin typeface="Arial"/>
              </a:rPr>
              <a:t>opero</a:t>
            </a:r>
            <a:r>
              <a:rPr sz="190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4729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3373D"/>
                </a:solidFill>
                <a:latin typeface="Arial"/>
              </a:rPr>
              <a:t>HU-04. Como sistema cliente, quiero reenviar una emisión con la misma referencia y obtener el documento ya expedido para poder reintentar sin duplicar facturas.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27455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33373D"/>
                </a:solidFill>
                <a:latin typeface="Arial"/>
              </a:rPr>
              <a:t>HU-06. Como comprador, quiero recibir el PDF y el XML en mi correo para contar con el soporte de la compra sin tener que solicitarlo.</a:t>
            </a:r>
          </a:p>
        </p:txBody>
      </p:sp>
    </p:spTree>
    <p:extLst>
      <p:ext uri="{BB962C8B-B14F-4D97-AF65-F5344CB8AC3E}">
        <p14:creationId xmlns:p14="http://schemas.microsoft.com/office/powerpoint/2010/main" val="129043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281CAFD-4757-AFE4-44EC-53402AD8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Requisitos Funcionales Relacionados</a:t>
            </a:r>
            <a:endParaRPr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22467"/>
              </p:ext>
            </p:extLst>
          </p:nvPr>
        </p:nvGraphicFramePr>
        <p:xfrm>
          <a:off x="713385" y="2095640"/>
          <a:ext cx="10835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Requisito</a:t>
                      </a:r>
                      <a:endParaRPr sz="17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Qué resuelve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Emisión por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sistema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cliente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solicita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expedición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sin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cambiar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su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Idempotencia de la emisión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Reenviar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misma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referencia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devuelve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, no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crea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otro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8.10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Documentación automática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contrato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se publica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desde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, para que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integrarse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sea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barato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3373D"/>
                          </a:solidFill>
                          <a:latin typeface="Arial"/>
                        </a:rPr>
                        <a:t>RF 2.10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Envío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al comprador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El PDF y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XML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llegan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al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correo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sin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demorar</a:t>
                      </a:r>
                      <a:r>
                        <a:rPr sz="1700" b="0" dirty="0">
                          <a:solidFill>
                            <a:srgbClr val="33373D"/>
                          </a:solidFill>
                          <a:latin typeface="Arial"/>
                        </a:rPr>
                        <a:t> la </a:t>
                      </a:r>
                      <a:r>
                        <a:rPr sz="17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respuesta</a:t>
                      </a:r>
                      <a:endParaRPr sz="17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21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48A10F1-A0BD-565D-75D1-0D39B3DA3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Matriz de Stakeholders</a:t>
            </a:r>
            <a:endParaRPr dirty="0"/>
          </a:p>
        </p:txBody>
      </p:sp>
      <p:pic>
        <p:nvPicPr>
          <p:cNvPr id="24" name="Picture 23" descr="FIG-stakehol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96" y="1099713"/>
            <a:ext cx="8305606" cy="55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82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F0B7E5-E4D2-3B9D-C202-1E966766B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Técnica de Priorización de Requisitos</a:t>
            </a:r>
            <a:endParaRPr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66644"/>
              </p:ext>
            </p:extLst>
          </p:nvPr>
        </p:nvGraphicFramePr>
        <p:xfrm>
          <a:off x="678179" y="2285677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Valor de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negocio</a:t>
                      </a:r>
                      <a:r>
                        <a:rPr lang="es-CO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 (60%)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Urgencia</a:t>
                      </a:r>
                      <a:r>
                        <a:rPr lang="es-CO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 (40%)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Impacto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muy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bajo para la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No es urgente, puede esperar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bajo, aporta poca funcionalidad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Poco urgente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medio, mejora procesos importantes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Urgencia moderada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alto, necesario para operar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Muy urgente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Impacto crítico, indispensable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Debe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implementarse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inmediato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054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79895E9-6FD1-3551-585E-B6BA86028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Conclusión General de la Priorización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89765"/>
              </p:ext>
            </p:extLst>
          </p:nvPr>
        </p:nvGraphicFramePr>
        <p:xfrm>
          <a:off x="1463040" y="1554480"/>
          <a:ext cx="9235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  <a:endParaRPr sz="16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Gestión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documentos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electrónicos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clientes API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consumo y planes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Integración mediante API REST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facturación y cartera propias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reportes y tablero de control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RF 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Gestión de configuración y catálogos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33373D"/>
                </a:solidFill>
                <a:latin typeface="Arial"/>
              </a:rPr>
              <a:t>Encabeza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la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lista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gestión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electrónicos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del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depende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un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salga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correctamente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expedido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cierra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gestión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configuración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catálogos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que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agrupa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parámetros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se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ajustan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vez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cuando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318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4D8E1D-6EE8-ABF3-3FB0-CC387045F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Requisitos Funcionales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66793"/>
              </p:ext>
            </p:extLst>
          </p:nvPr>
        </p:nvGraphicFramePr>
        <p:xfrm>
          <a:off x="1249679" y="1896859"/>
          <a:ext cx="9692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Requisitos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Críticos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clientes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documentos electrónicos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consumo y planes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facturación y cartera propias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reportes y tablero de control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configuración y catálogos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Gestión de 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RF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Integración mediante API REST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ctr"/>
                      <a:endParaRPr b="1"/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73D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33373D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006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C78399-1E29-27CA-5313-4AC6DD3B1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Requisitos No Funcionales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064204"/>
              </p:ext>
            </p:extLst>
          </p:nvPr>
        </p:nvGraphicFramePr>
        <p:xfrm>
          <a:off x="685800" y="141732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N.º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Ejemplo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Rendimiento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La emisión responde en menos de tres segundos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Seguridad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Del secreto de las llaves solo se conserva su hash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Integridad de los datos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Dos documentos del mismo emisor no pueden compartir número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Trazabilidad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Toda escritura queda registrada y el rastro no se puede editar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Disponibilidad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Un servicio externo caído no impide emitir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Usabilidad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Cada destino tiene un solo lugar en la navegación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Compatibilidad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Funciona en los navegadores vigentes sin instalación local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Cumplimiento normativo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El documento se genera bajo el estándar UBL 2.1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Mantenibilidad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La aritmética tributaria está implementada una sola vez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Escalabilidad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Admite nuevas empresas emisoras sin cambios en el código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5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Portabilidad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Opera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desde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cualquier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sistema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operativo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con un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navegador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5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b="1" dirty="0"/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95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23">
            <a:extLst>
              <a:ext uri="{FF2B5EF4-FFF2-40B4-BE49-F238E27FC236}">
                <a16:creationId xmlns:a16="http://schemas.microsoft.com/office/drawing/2014/main" id="{A5A9BDB2-C597-8A4A-8476-8F00C90E6F0D}"/>
              </a:ext>
            </a:extLst>
          </p:cNvPr>
          <p:cNvSpPr txBox="1"/>
          <p:nvPr/>
        </p:nvSpPr>
        <p:spPr>
          <a:xfrm>
            <a:off x="3585431" y="2982671"/>
            <a:ext cx="5021137" cy="89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III. DISEÑO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BBC8D485-FC01-5E30-AE40-B0421AADFC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216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del Panel de Control</a:t>
            </a:r>
            <a:endParaRPr dirty="0"/>
          </a:p>
        </p:txBody>
      </p:sp>
      <p:pic>
        <p:nvPicPr>
          <p:cNvPr id="13" name="Picture 12" descr="Mockup panel de con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079" y="1126111"/>
            <a:ext cx="9281841" cy="547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03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 Crear Nueva Factura</a:t>
            </a:r>
            <a:endParaRPr dirty="0"/>
          </a:p>
        </p:txBody>
      </p:sp>
      <p:pic>
        <p:nvPicPr>
          <p:cNvPr id="13" name="Picture 12" descr="Mockup crear nueva fact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519" y="1209675"/>
            <a:ext cx="8964961" cy="53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77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Base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2ED12C-0B50-0A52-324E-6BFBAFF57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40" y="914397"/>
            <a:ext cx="10206318" cy="589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59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Base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6C59F0-388E-9C42-1BC6-5E8BC8B70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806" y="1556686"/>
            <a:ext cx="5920385" cy="469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38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Diccionario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43114"/>
              </p:ext>
            </p:extLst>
          </p:nvPr>
        </p:nvGraphicFramePr>
        <p:xfrm>
          <a:off x="678179" y="1817885"/>
          <a:ext cx="10835640" cy="4089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Campo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Clave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73152" marR="73152" marT="27432" marB="27432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cod_cliente_api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</a:t>
                      </a:r>
                      <a:r>
                        <a:rPr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(11)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PK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Identificador interno del cliente integrado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nombre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(150)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Nombre del negocio o del sistema que se integra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cod_cliente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FK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Cliente de la zona comercial a quien se le factura el plan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cod_empresa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FK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Empresa emisora con cuyo NIT y resolución numera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api_key_prefijo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Única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Parte visible de la llave; ubica la fila sin revelar el secreto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api_key_hash</a:t>
                      </a: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(255)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Hash del secreto; la llave se muestra una sola vez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plan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Plan contratado, que fija el cupo mensual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limite_mensual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Entero (11)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Documentos incluidos al mes; vacío significa sin límite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estado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Texto (20)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Activo, suspendido o revocado</a:t>
                      </a: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creado_en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Fecha y hora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Momento del alta del cliente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82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 err="1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ultimo_uso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Fecha y hora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No aplica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O" sz="1400" b="1" i="0" u="none" strike="noStrike" cap="none" dirty="0">
                          <a:solidFill>
                            <a:srgbClr val="33373D"/>
                          </a:solidFill>
                          <a:latin typeface="Arial"/>
                          <a:ea typeface="+mn-ea"/>
                          <a:cs typeface="+mn-cs"/>
                          <a:sym typeface="Arial"/>
                        </a:rPr>
                        <a:t>Última vez que la llave se usó contra la API </a:t>
                      </a:r>
                      <a:endParaRPr sz="1400" b="1" i="0" u="none" strike="noStrike" cap="none" dirty="0">
                        <a:solidFill>
                          <a:srgbClr val="33373D"/>
                        </a:solidFill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3152" marR="73152" marT="27432" marB="2743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691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714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7AA0D39-E2EC-02DC-5EF0-8FAFFA955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Casos de Uso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80160"/>
            <a:ext cx="10607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33373D"/>
                </a:solidFill>
                <a:latin typeface="Arial"/>
              </a:rPr>
              <a:t>El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análisis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identificó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5</a:t>
            </a:r>
            <a:r>
              <a:rPr lang="es-CO" sz="1800" dirty="0">
                <a:solidFill>
                  <a:srgbClr val="33373D"/>
                </a:solidFill>
              </a:rPr>
              <a:t>6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casos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uso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agrupados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ocho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módulos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del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, con seis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actores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 Dos de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ellos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no son personas,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ya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uno es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sistema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externo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que consume la API y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otro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es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quien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recibe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el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documento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33373D"/>
                </a:solidFill>
                <a:latin typeface="Arial"/>
              </a:rPr>
              <a:t>emitido</a:t>
            </a:r>
            <a:r>
              <a:rPr sz="1800" b="0" dirty="0">
                <a:solidFill>
                  <a:srgbClr val="33373D"/>
                </a:solidFill>
                <a:latin typeface="Arial"/>
              </a:rPr>
              <a:t>.</a:t>
            </a:r>
          </a:p>
        </p:txBody>
      </p:sp>
      <p:pic>
        <p:nvPicPr>
          <p:cNvPr id="25" name="Picture 24" descr="DCU-00 general.png"/>
          <p:cNvPicPr>
            <a:picLocks noChangeAspect="1"/>
          </p:cNvPicPr>
          <p:nvPr/>
        </p:nvPicPr>
        <p:blipFill>
          <a:blip r:embed="rId6"/>
          <a:srcRect t="1665"/>
          <a:stretch/>
        </p:blipFill>
        <p:spPr>
          <a:xfrm>
            <a:off x="3573763" y="2103119"/>
            <a:ext cx="5013994" cy="457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1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Documentación de Casos de Uso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78875"/>
              </p:ext>
            </p:extLst>
          </p:nvPr>
        </p:nvGraphicFramePr>
        <p:xfrm>
          <a:off x="678179" y="1896859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CU-08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Emitir factura de venta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Actores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Sistema cliente, Cajero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Precondición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El cliente tiene llave válida, resolución vigente y cupo disponible en el mes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Pasos 1 a 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Recibe los datos, valida la petición, comprueba el cupo y reserva el consecutivo autorizado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Pasos 5 a 8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Calcula los totales, guarda el documento, genera el CUFE, el PDF y el XML, y responde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Paso 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Agenda el envío al comprador, ya fuera de la transacción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Postcondición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Existe un documento con número único y CUFE, y el consumo del mes aumentó en uno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73D"/>
                          </a:solidFill>
                          <a:latin typeface="Arial"/>
                        </a:rPr>
                        <a:t>Excepción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Si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cupo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está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agotado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responde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403 antes de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reservar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6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endParaRPr sz="16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915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5E5D415-B509-BDF6-3699-3CAA5A9D8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Metodología de Desarrollo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Scrum, con ocho sprints de dos semanas entre noviembre de 2025 y marzo de 2026. Cada sprint cerró con un módulo utilizable y no con una parte de varios.</a:t>
            </a:r>
          </a:p>
        </p:txBody>
      </p:sp>
      <p:pic>
        <p:nvPicPr>
          <p:cNvPr id="15" name="Picture 14" descr="FIG-scr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166" y="1978921"/>
            <a:ext cx="8517667" cy="440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54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3;p33">
            <a:extLst>
              <a:ext uri="{FF2B5EF4-FFF2-40B4-BE49-F238E27FC236}">
                <a16:creationId xmlns:a16="http://schemas.microsoft.com/office/drawing/2014/main" id="{138F84EF-3724-48DD-F366-6C02647240C4}"/>
              </a:ext>
            </a:extLst>
          </p:cNvPr>
          <p:cNvSpPr txBox="1"/>
          <p:nvPr/>
        </p:nvSpPr>
        <p:spPr>
          <a:xfrm>
            <a:off x="2733120" y="3034882"/>
            <a:ext cx="6725759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IV. DESARROLLO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351DA7C-7126-24E6-81C6-B3EC476DDC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411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16066" y="846872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801657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Google Shape;192;p18">
            <a:extLst>
              <a:ext uri="{FF2B5EF4-FFF2-40B4-BE49-F238E27FC236}">
                <a16:creationId xmlns:a16="http://schemas.microsoft.com/office/drawing/2014/main" id="{D93CB84A-018B-D336-DE20-54CF3DE4976B}"/>
              </a:ext>
            </a:extLst>
          </p:cNvPr>
          <p:cNvSpPr txBox="1"/>
          <p:nvPr/>
        </p:nvSpPr>
        <p:spPr>
          <a:xfrm>
            <a:off x="375882" y="418247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 de Backend, Base de Datos y Web</a:t>
            </a:r>
            <a:endParaRPr dirty="0"/>
          </a:p>
        </p:txBody>
      </p:sp>
      <p:pic>
        <p:nvPicPr>
          <p:cNvPr id="4" name="Google Shape;187;p18" descr="image.png">
            <a:extLst>
              <a:ext uri="{FF2B5EF4-FFF2-40B4-BE49-F238E27FC236}">
                <a16:creationId xmlns:a16="http://schemas.microsoft.com/office/drawing/2014/main" id="{814C9B0C-1481-6A4D-7AE4-5A43EAC324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5851" y="1735462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4794E1-CF16-E507-6236-947F0502DFC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882" y="3001135"/>
            <a:ext cx="836219" cy="8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9;p18" descr="image.png">
            <a:extLst>
              <a:ext uri="{FF2B5EF4-FFF2-40B4-BE49-F238E27FC236}">
                <a16:creationId xmlns:a16="http://schemas.microsoft.com/office/drawing/2014/main" id="{4FEBBEC8-0141-3C90-2E15-08B2F7C13A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876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0;p18" descr="image.png">
            <a:extLst>
              <a:ext uri="{FF2B5EF4-FFF2-40B4-BE49-F238E27FC236}">
                <a16:creationId xmlns:a16="http://schemas.microsoft.com/office/drawing/2014/main" id="{CB7BA741-7142-72B7-51B6-CFA76538A06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3501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1;p18" descr="image.png">
            <a:extLst>
              <a:ext uri="{FF2B5EF4-FFF2-40B4-BE49-F238E27FC236}">
                <a16:creationId xmlns:a16="http://schemas.microsoft.com/office/drawing/2014/main" id="{18D8E3B5-0E01-F98D-D66D-0E43963D893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4806" y="4513521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4;p18">
            <a:extLst>
              <a:ext uri="{FF2B5EF4-FFF2-40B4-BE49-F238E27FC236}">
                <a16:creationId xmlns:a16="http://schemas.microsoft.com/office/drawing/2014/main" id="{7D86662D-56E2-D9D7-D15B-060FFB696D6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8416" y="5544320"/>
            <a:ext cx="933149" cy="933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9;p18">
            <a:extLst>
              <a:ext uri="{FF2B5EF4-FFF2-40B4-BE49-F238E27FC236}">
                <a16:creationId xmlns:a16="http://schemas.microsoft.com/office/drawing/2014/main" id="{7FA6E4FA-849F-7242-4DD4-B79BC9680F1C}"/>
              </a:ext>
            </a:extLst>
          </p:cNvPr>
          <p:cNvSpPr txBox="1"/>
          <p:nvPr/>
        </p:nvSpPr>
        <p:spPr>
          <a:xfrm>
            <a:off x="2411122" y="2063799"/>
            <a:ext cx="187523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3B73"/>
                </a:solidFill>
                <a:ea typeface="+mn-ea"/>
                <a:cs typeface="+mn-cs"/>
                <a:sym typeface="Plus Jakarta Sans"/>
              </a:rPr>
              <a:t>Python con </a:t>
            </a:r>
            <a:r>
              <a:rPr lang="en-US" sz="1500" b="1" dirty="0" err="1">
                <a:solidFill>
                  <a:srgbClr val="1F3B73"/>
                </a:solidFill>
                <a:ea typeface="+mn-ea"/>
                <a:cs typeface="+mn-cs"/>
                <a:sym typeface="Plus Jakarta Sans"/>
              </a:rPr>
              <a:t>FastAPI</a:t>
            </a:r>
            <a:endParaRPr sz="1500" b="1" dirty="0">
              <a:solidFill>
                <a:srgbClr val="1F3B73"/>
              </a:solidFill>
              <a:ea typeface="+mn-ea"/>
              <a:cs typeface="+mn-cs"/>
            </a:endParaRPr>
          </a:p>
        </p:txBody>
      </p:sp>
      <p:sp>
        <p:nvSpPr>
          <p:cNvPr id="11" name="Google Shape;181;p18">
            <a:extLst>
              <a:ext uri="{FF2B5EF4-FFF2-40B4-BE49-F238E27FC236}">
                <a16:creationId xmlns:a16="http://schemas.microsoft.com/office/drawing/2014/main" id="{D6966D3D-7FE9-763C-8FB5-72EA12BC27A2}"/>
              </a:ext>
            </a:extLst>
          </p:cNvPr>
          <p:cNvSpPr txBox="1"/>
          <p:nvPr/>
        </p:nvSpPr>
        <p:spPr>
          <a:xfrm>
            <a:off x="2808674" y="3325125"/>
            <a:ext cx="108013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</a:t>
            </a:r>
            <a:endParaRPr dirty="0"/>
          </a:p>
        </p:txBody>
      </p:sp>
      <p:sp>
        <p:nvSpPr>
          <p:cNvPr id="12" name="Google Shape;183;p18">
            <a:extLst>
              <a:ext uri="{FF2B5EF4-FFF2-40B4-BE49-F238E27FC236}">
                <a16:creationId xmlns:a16="http://schemas.microsoft.com/office/drawing/2014/main" id="{AE8E8D92-0E30-06D2-639B-4BEC87153D25}"/>
              </a:ext>
            </a:extLst>
          </p:cNvPr>
          <p:cNvSpPr txBox="1"/>
          <p:nvPr/>
        </p:nvSpPr>
        <p:spPr>
          <a:xfrm>
            <a:off x="2328613" y="4642108"/>
            <a:ext cx="20402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HTML, CSS y JavaScript</a:t>
            </a:r>
            <a:endParaRPr dirty="0"/>
          </a:p>
        </p:txBody>
      </p:sp>
      <p:sp>
        <p:nvSpPr>
          <p:cNvPr id="13" name="Google Shape;185;p18">
            <a:extLst>
              <a:ext uri="{FF2B5EF4-FFF2-40B4-BE49-F238E27FC236}">
                <a16:creationId xmlns:a16="http://schemas.microsoft.com/office/drawing/2014/main" id="{49BF5F14-A201-FA4C-9BEA-C612C4078AF5}"/>
              </a:ext>
            </a:extLst>
          </p:cNvPr>
          <p:cNvSpPr txBox="1"/>
          <p:nvPr/>
        </p:nvSpPr>
        <p:spPr>
          <a:xfrm>
            <a:off x="2938689" y="5901358"/>
            <a:ext cx="820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PyCharm</a:t>
            </a:r>
            <a:endParaRPr dirty="0"/>
          </a:p>
        </p:txBody>
      </p:sp>
      <p:sp>
        <p:nvSpPr>
          <p:cNvPr id="14" name="Google Shape;180;p18">
            <a:extLst>
              <a:ext uri="{FF2B5EF4-FFF2-40B4-BE49-F238E27FC236}">
                <a16:creationId xmlns:a16="http://schemas.microsoft.com/office/drawing/2014/main" id="{B06F346E-BCBE-44F9-D1D7-C4A1D8FBBB80}"/>
              </a:ext>
            </a:extLst>
          </p:cNvPr>
          <p:cNvSpPr txBox="1"/>
          <p:nvPr/>
        </p:nvSpPr>
        <p:spPr>
          <a:xfrm>
            <a:off x="5185480" y="1937869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Lenguaje y framework del servidor. Valida los datos de entrada desde los tipos declarados y publica el contrato de la API automáticamente.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6" name="Google Shape;182;p18">
            <a:extLst>
              <a:ext uri="{FF2B5EF4-FFF2-40B4-BE49-F238E27FC236}">
                <a16:creationId xmlns:a16="http://schemas.microsoft.com/office/drawing/2014/main" id="{E5F35F2E-E15D-32B4-EFE9-854E706A4D7C}"/>
              </a:ext>
            </a:extLst>
          </p:cNvPr>
          <p:cNvSpPr txBox="1"/>
          <p:nvPr/>
        </p:nvSpPr>
        <p:spPr>
          <a:xfrm>
            <a:off x="5264501" y="3214070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Gestor relacional con veintisiete tablas en dos zonas, con acceso mediante consultas SQL explícitas.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9" name="Google Shape;184;p18">
            <a:extLst>
              <a:ext uri="{FF2B5EF4-FFF2-40B4-BE49-F238E27FC236}">
                <a16:creationId xmlns:a16="http://schemas.microsoft.com/office/drawing/2014/main" id="{A0DC273B-02A0-08EC-448F-6B6D27AB28B5}"/>
              </a:ext>
            </a:extLst>
          </p:cNvPr>
          <p:cNvSpPr txBox="1"/>
          <p:nvPr/>
        </p:nvSpPr>
        <p:spPr>
          <a:xfrm>
            <a:off x="5724878" y="4490271"/>
            <a:ext cx="47085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Plantillas Jinja2 con Bootstrap y Chart.js para el panel y sus gráficas.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20" name="Google Shape;186;p18">
            <a:extLst>
              <a:ext uri="{FF2B5EF4-FFF2-40B4-BE49-F238E27FC236}">
                <a16:creationId xmlns:a16="http://schemas.microsoft.com/office/drawing/2014/main" id="{AF261DFC-D721-ED25-DE9B-C426812B8699}"/>
              </a:ext>
            </a:extLst>
          </p:cNvPr>
          <p:cNvSpPr txBox="1"/>
          <p:nvPr/>
        </p:nvSpPr>
        <p:spPr>
          <a:xfrm>
            <a:off x="5751496" y="5699271"/>
            <a:ext cx="4813331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sz="1500">
                <a:solidFill>
                  <a:srgbClr val="33373D"/>
                </a:solidFill>
                <a:latin typeface="Arial"/>
              </a:rPr>
              <a:t>Entorno de desarrollo usado para escribir, depurar y mantener el código.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786507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81189" y="83693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2;p19">
            <a:extLst>
              <a:ext uri="{FF2B5EF4-FFF2-40B4-BE49-F238E27FC236}">
                <a16:creationId xmlns:a16="http://schemas.microsoft.com/office/drawing/2014/main" id="{DA5B7F3C-C4E1-2C3C-A80A-D53E220848D0}"/>
              </a:ext>
            </a:extLst>
          </p:cNvPr>
          <p:cNvSpPr txBox="1"/>
          <p:nvPr/>
        </p:nvSpPr>
        <p:spPr>
          <a:xfrm>
            <a:off x="481189" y="408305"/>
            <a:ext cx="1042416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 de Apoyo, Pruebas y Control de Versiones</a:t>
            </a:r>
            <a:endParaRPr dirty="0"/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232546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Claude AI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Asistente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empleado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revisar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contrastar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decisiones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diseño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redactar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documentación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Postman</a:t>
                      </a: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Cliente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que se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probaron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las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nueve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 la API antes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integrarlas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dirty="0">
                          <a:solidFill>
                            <a:srgbClr val="1F3B73"/>
                          </a:solidFill>
                          <a:latin typeface="Arial"/>
                        </a:rPr>
                        <a:t>Git y GitHub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Control de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versiones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alojamiento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remoto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trabajo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colaborativo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equipo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 dirty="0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1">
                        <a:solidFill>
                          <a:srgbClr val="1F3B73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F3B73"/>
                          </a:solidFill>
                          <a:latin typeface="Arial"/>
                        </a:rPr>
                        <a:t>pytest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500" b="0" dirty="0">
                        <a:solidFill>
                          <a:srgbClr val="33373D"/>
                        </a:solidFill>
                        <a:latin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Ejecuta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las 190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pruebas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automatizadas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proyecto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 3,3 </a:t>
                      </a:r>
                      <a:r>
                        <a:rPr sz="1500" b="0" dirty="0" err="1">
                          <a:solidFill>
                            <a:srgbClr val="33373D"/>
                          </a:solidFill>
                          <a:latin typeface="Arial"/>
                        </a:rPr>
                        <a:t>segundos</a:t>
                      </a:r>
                      <a:r>
                        <a:rPr sz="1500" b="0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Google Shape;214;p19">
            <a:extLst>
              <a:ext uri="{FF2B5EF4-FFF2-40B4-BE49-F238E27FC236}">
                <a16:creationId xmlns:a16="http://schemas.microsoft.com/office/drawing/2014/main" id="{BB405D65-7548-5574-5245-4B8612EEC6C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719" y="1674675"/>
            <a:ext cx="966387" cy="96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9;p19" descr="image.png">
            <a:extLst>
              <a:ext uri="{FF2B5EF4-FFF2-40B4-BE49-F238E27FC236}">
                <a16:creationId xmlns:a16="http://schemas.microsoft.com/office/drawing/2014/main" id="{959B4F65-47E5-59BA-5C6E-F8E60E028A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287" y="3048760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0;p19" descr="image.png">
            <a:extLst>
              <a:ext uri="{FF2B5EF4-FFF2-40B4-BE49-F238E27FC236}">
                <a16:creationId xmlns:a16="http://schemas.microsoft.com/office/drawing/2014/main" id="{F5A32B8F-B913-5C82-028A-AF747D09BF8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7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11;p19" descr="image.png">
            <a:extLst>
              <a:ext uri="{FF2B5EF4-FFF2-40B4-BE49-F238E27FC236}">
                <a16:creationId xmlns:a16="http://schemas.microsoft.com/office/drawing/2014/main" id="{85243684-8CB1-3508-B1BA-C5247D4660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23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ytest IntelliSense - Visual Studio Marketplace">
            <a:extLst>
              <a:ext uri="{FF2B5EF4-FFF2-40B4-BE49-F238E27FC236}">
                <a16:creationId xmlns:a16="http://schemas.microsoft.com/office/drawing/2014/main" id="{A7E67D01-D353-132A-38B7-B5E0779F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53" y="5618763"/>
            <a:ext cx="857251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761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90;p36">
            <a:extLst>
              <a:ext uri="{FF2B5EF4-FFF2-40B4-BE49-F238E27FC236}">
                <a16:creationId xmlns:a16="http://schemas.microsoft.com/office/drawing/2014/main" id="{71AE5CF3-DBC4-BAE8-C6EE-F8876AFE298A}"/>
              </a:ext>
            </a:extLst>
          </p:cNvPr>
          <p:cNvSpPr txBox="1"/>
          <p:nvPr/>
        </p:nvSpPr>
        <p:spPr>
          <a:xfrm>
            <a:off x="1914676" y="3034882"/>
            <a:ext cx="8362648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V. IMPLEMENTACIÓN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9E110A48-56E6-3553-9070-E94091458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588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CCC5A5-4DB2-FC14-B379-DB735B3B5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Pruebas del Sistema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2480" y="1631683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190 pruebas automatizadas en 3,3 segundos, más pruebas funcionales sobre la interfaz.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54608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Qué se comprueba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94723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la aritmética tributaria arroje los mismos valores en la web y en la API.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844531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un fallo a mitad de una emisión no deje rastro ni gaste un consecutivo.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594339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los documentos lleven la identidad de la empresa emisora.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5344147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Que el control de acceso impida a cada rol lo que no le corresponde.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254608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B73"/>
                </a:solidFill>
                <a:latin typeface="Arial"/>
              </a:rPr>
              <a:t>Qué quedó fuera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094723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La carga sostenida, que exige una infraestructura de producción.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4283443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73D"/>
                </a:solidFill>
                <a:latin typeface="Arial"/>
              </a:rPr>
              <a:t>La validación contra los servicios en producción de la DIAN, que depende de la habilitación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2049687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Evidencia de Pruebas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B73"/>
                </a:solidFill>
                <a:latin typeface="Arial"/>
              </a:rPr>
              <a:t>RF 4.2. Registro de un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Formulario diligenciado</a:t>
            </a:r>
          </a:p>
        </p:txBody>
      </p:sp>
      <p:pic>
        <p:nvPicPr>
          <p:cNvPr id="26" name="Picture 25" descr="registro de nuevo clien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52714"/>
            <a:ext cx="5029200" cy="2486909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63093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Resultado obtenido</a:t>
            </a:r>
          </a:p>
        </p:txBody>
      </p:sp>
      <p:pic>
        <p:nvPicPr>
          <p:cNvPr id="28" name="Picture 27" descr="registro de nuevo cliente emiti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460000"/>
            <a:ext cx="5029200" cy="2472338"/>
          </a:xfrm>
          <a:prstGeom prst="rect">
            <a:avLst/>
          </a:prstGeom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777240" y="5479249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El cliente quedó registrado y disponible para facturarle, y la operación quedó anotada en el registro de auditoría.</a:t>
            </a:r>
          </a:p>
        </p:txBody>
      </p:sp>
    </p:spTree>
    <p:extLst>
      <p:ext uri="{BB962C8B-B14F-4D97-AF65-F5344CB8AC3E}">
        <p14:creationId xmlns:p14="http://schemas.microsoft.com/office/powerpoint/2010/main" val="649743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Evidencia de Pruebas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B73"/>
                </a:solidFill>
                <a:latin typeface="Arial"/>
              </a:rPr>
              <a:t>RF 4.1. Emisión de una factura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Formulario diligenciado</a:t>
            </a:r>
          </a:p>
        </p:txBody>
      </p:sp>
      <p:pic>
        <p:nvPicPr>
          <p:cNvPr id="26" name="Picture 25" descr="registro de nueva fac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42196"/>
            <a:ext cx="5029200" cy="2507944"/>
          </a:xfrm>
          <a:prstGeom prst="rect">
            <a:avLst/>
          </a:prstGeom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6309360" y="186736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Arial"/>
              </a:rPr>
              <a:t>Resultado obtenido</a:t>
            </a:r>
          </a:p>
        </p:txBody>
      </p:sp>
      <p:pic>
        <p:nvPicPr>
          <p:cNvPr id="28" name="Picture 27" descr="registro de nueva factura emit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241" y="2187409"/>
            <a:ext cx="4633436" cy="3017520"/>
          </a:xfrm>
          <a:prstGeom prst="rect">
            <a:avLst/>
          </a:prstGeom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777240" y="5479249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73D"/>
                </a:solidFill>
                <a:latin typeface="Arial"/>
              </a:rPr>
              <a:t>La factura quedó emitida con su número consecutivo, su código único y sus totales calculados.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Resultado Obtenido de la Emisión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1352879"/>
            <a:ext cx="10607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1F3B73"/>
                </a:solidFill>
                <a:latin typeface="Arial"/>
              </a:rPr>
              <a:t>La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prueba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fue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satisfactoria</a:t>
            </a:r>
            <a:r>
              <a:rPr lang="es-CO" sz="2100" b="1" dirty="0">
                <a:solidFill>
                  <a:srgbClr val="1F3B73"/>
                </a:solidFill>
              </a:rPr>
              <a:t>, l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a factura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quedó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emitida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y disponible para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su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F3B73"/>
                </a:solidFill>
                <a:latin typeface="Arial"/>
              </a:rPr>
              <a:t>descarga</a:t>
            </a:r>
            <a:r>
              <a:rPr sz="2100" b="1" dirty="0">
                <a:solidFill>
                  <a:srgbClr val="1F3B73"/>
                </a:solidFill>
                <a:latin typeface="Arial"/>
              </a:rPr>
              <a:t>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62884"/>
              </p:ext>
            </p:extLst>
          </p:nvPr>
        </p:nvGraphicFramePr>
        <p:xfrm>
          <a:off x="822960" y="2589693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Lo que se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comprobó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Numeración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tomó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siguiente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autorizado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resolución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emisor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Cálculo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Las bases,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descuentos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impuestos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coinciden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valores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esperados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Código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Se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generó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CUFE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asociado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al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Archivos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representación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gráfica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XML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quedaron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disponibles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para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descarga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73D"/>
                          </a:solidFill>
                          <a:latin typeface="Arial"/>
                        </a:rPr>
                        <a:t>Registro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La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operación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quedó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anotada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rastro</a:t>
                      </a:r>
                      <a:r>
                        <a:rPr sz="14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4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auditoría</a:t>
                      </a:r>
                      <a:endParaRPr sz="14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10424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Resultados Obtenidos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80681"/>
              </p:ext>
            </p:extLst>
          </p:nvPr>
        </p:nvGraphicFramePr>
        <p:xfrm>
          <a:off x="678179" y="1831275"/>
          <a:ext cx="10835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Objetivo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  <a:endParaRPr sz="13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marL="73152" marR="73152" marT="27432" marB="27432"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Emisión de documentos electrónicos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Facturas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venta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notas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crédito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notas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débito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consecutivo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autorizado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representación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gráfica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archivo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XML bajo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el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estándar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UBL 2.1.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Interfaz de integración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Nueve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disponibles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autenticadas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llave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individual, con forma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error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contrato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publicado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forma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automática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Control de cupo y suscripción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Consumo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calculado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sobre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los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documentos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emitidos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bloqueo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cupo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agotado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facturación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mensualidad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sus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excedentes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Tablero de control y reportes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Indicadores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servicio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venta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filtro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periodo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siete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reportes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exportables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a CSV y a PDF.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Seguridad y auditoría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Autenticación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con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contraseñas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cifradas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cuatro roles con control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acceso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ruta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cierre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sesión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inactividad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y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registro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las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operaciones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escritura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Cumplido</a:t>
                      </a:r>
                      <a:endParaRPr sz="13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73D"/>
                          </a:solidFill>
                          <a:latin typeface="Arial"/>
                        </a:rPr>
                        <a:t>Transmisión en producción ante la DIAN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código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único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se genera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modalidad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pruebas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, a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espera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 la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habilitación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 del </a:t>
                      </a:r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proveedor</a:t>
                      </a:r>
                      <a:r>
                        <a:rPr sz="1300" b="1" dirty="0">
                          <a:solidFill>
                            <a:srgbClr val="33373D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33373D"/>
                          </a:solidFill>
                          <a:latin typeface="Arial"/>
                        </a:rPr>
                        <a:t>Parcial</a:t>
                      </a:r>
                      <a:endParaRPr sz="1300" b="1" dirty="0">
                        <a:solidFill>
                          <a:srgbClr val="33373D"/>
                        </a:solidFill>
                        <a:latin typeface="Arial"/>
                      </a:endParaRPr>
                    </a:p>
                  </a:txBody>
                  <a:tcPr marL="73152" marR="73152" marT="27432" marB="27432">
                    <a:solidFill>
                      <a:srgbClr val="EF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4" descr="Correo y sitio web en línea">
            <a:extLst>
              <a:ext uri="{FF2B5EF4-FFF2-40B4-BE49-F238E27FC236}">
                <a16:creationId xmlns:a16="http://schemas.microsoft.com/office/drawing/2014/main" id="{EAD54A52-3378-3CC3-29EF-E9E8EE665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F281F11-A0F4-A0C6-E778-619B5F7C80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469" b="47778"/>
          <a:stretch/>
        </p:blipFill>
        <p:spPr>
          <a:xfrm>
            <a:off x="3349096" y="4392992"/>
            <a:ext cx="5189008" cy="380394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FBE692BC-B46C-755F-B649-B15BA25BC3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3380</TotalTime>
  <Words>2301</Words>
  <Application>Microsoft Office PowerPoint</Application>
  <PresentationFormat>Panorámica</PresentationFormat>
  <Paragraphs>379</Paragraphs>
  <Slides>38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4" baseType="lpstr">
      <vt:lpstr>Plus Jakarta Sans ExtraBold</vt:lpstr>
      <vt:lpstr>Plus Jakarta Sans</vt:lpstr>
      <vt:lpstr>Arial</vt:lpstr>
      <vt:lpstr>Inter</vt:lpstr>
      <vt:lpstr>Calibri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Johan Acosta</cp:lastModifiedBy>
  <cp:revision>59</cp:revision>
  <dcterms:created xsi:type="dcterms:W3CDTF">2020-10-01T23:51:28Z</dcterms:created>
  <dcterms:modified xsi:type="dcterms:W3CDTF">2026-08-26T05:36:05Z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0x010100BAA091B23A43D34AA14462823DC894E8</vt:lpwstr>
  </property>
  <property fmtid="{D5CDD505-2E9C-101B-9397-08002B2CF9AE}" pid="11" name="MediaServiceImageTags">
    <vt:lpwstr/>
  </property>
  <property fmtid="{D5CDD505-2E9C-101B-9397-08002B2CF9AE}" pid="12" name="Order">
    <vt:r8>194900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